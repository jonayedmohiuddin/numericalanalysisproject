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2" r:id="rId7"/>
    <p:sldId id="263" r:id="rId8"/>
    <p:sldId id="264" r:id="rId9"/>
    <p:sldId id="265" r:id="rId10"/>
    <p:sldId id="266" r:id="rId11"/>
    <p:sldId id="267"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6" d="100"/>
          <a:sy n="96" d="100"/>
        </p:scale>
        <p:origin x="149"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228155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implemented the paper from scratch in Python, reproduced its results, and then tested changes to the method. First the paper, then our implementation and reproduction, then the improvements.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Notes Placeholder"/>
          <p:cNvSpPr>
            <a:spLocks noGrp="1"/>
          </p:cNvSpPr>
          <p:nvPr>
            <p:ph type="body" idx="1"/>
          </p:nvPr>
        </p:nvSpPr>
        <p:spPr>
          <a:xfrm>
            <a:off x="685800" y="4400550"/>
            <a:ext cx="5486400" cy="3600450"/>
          </a:xfrm>
          <a:prstGeom prst="rect">
            <a:avLst/>
          </a:prstGeom>
        </p:spPr>
        <p:txBody>
          <a:bodyPr/>
          <a:lstStyle/>
          <a:p>
            <a:r>
              <a:t>I implemented the core of the paper, the dynamic homotopy, and the framework that lets every improvement be switched on and off.</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Notes Placeholder"/>
          <p:cNvSpPr>
            <a:spLocks noGrp="1"/>
          </p:cNvSpPr>
          <p:nvPr>
            <p:ph type="body" idx="1"/>
          </p:nvPr>
        </p:nvSpPr>
        <p:spPr>
          <a:xfrm>
            <a:off x="685800" y="4400550"/>
            <a:ext cx="5486400" cy="3600450"/>
          </a:xfrm>
          <a:prstGeom prst="rect">
            <a:avLst/>
          </a:prstGeom>
        </p:spPr>
        <p:txBody>
          <a:bodyPr/>
          <a:lstStyle/>
          <a:p>
            <a:r>
              <a:t>Section 3.1 of the paper, equations 15, 23 and 24. Differentiating G(x(t), t) = 0 with the chain rule gives the ODE. The integrators FE, BE and RK2 (equations 16, 19, 20-21) each take a few big steps along it, and NR or FDXB finishes from x(1).</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Notes Placeholder"/>
          <p:cNvSpPr>
            <a:spLocks noGrp="1"/>
          </p:cNvSpPr>
          <p:nvPr>
            <p:ph type="body" idx="1"/>
          </p:nvPr>
        </p:nvSpPr>
        <p:spPr>
          <a:xfrm>
            <a:off x="685800" y="4400550"/>
            <a:ext cx="5486400" cy="3600450"/>
          </a:xfrm>
          <a:prstGeom prst="rect">
            <a:avLst/>
          </a:prstGeom>
        </p:spPr>
        <p:txBody>
          <a:bodyPr/>
          <a:lstStyle/>
          <a:p>
            <a:r>
              <a:t>Divide the BE step by dt0 and it is exactly x0 - (J + (1 - dt0) K/dt0 I)^-1 g(x0). This is the key fact behind the whole method: on the ill-conditioned grids J is nearly singular, and delta keeps the Newton step from exploding.</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Notes Placeholder"/>
          <p:cNvSpPr>
            <a:spLocks noGrp="1"/>
          </p:cNvSpPr>
          <p:nvPr>
            <p:ph type="body" idx="1"/>
          </p:nvPr>
        </p:nvSpPr>
        <p:spPr>
          <a:xfrm>
            <a:off x="685800" y="4400550"/>
            <a:ext cx="5486400" cy="3600450"/>
          </a:xfrm>
          <a:prstGeom prst="rect">
            <a:avLst/>
          </a:prstGeom>
        </p:spPr>
        <p:txBody>
          <a:bodyPr/>
          <a:lstStyle/>
          <a:p>
            <a:r>
              <a:t>For every case of the paper, the flat-start mismatch next to the mismatch after one FE, RK2 or BE step to t1 = 0.005. Explicit steps blow up to about 1e12 on the large grids (9.7e12 on case18482); backward Euler brings it down to 65 and 25. This is why the paper always takes the first step with BE.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Notes Placeholder"/>
          <p:cNvSpPr>
            <a:spLocks noGrp="1"/>
          </p:cNvSpPr>
          <p:nvPr>
            <p:ph type="body" idx="1"/>
          </p:nvPr>
        </p:nvSpPr>
        <p:spPr>
          <a:xfrm>
            <a:off x="685800" y="4400550"/>
            <a:ext cx="5486400" cy="3600450"/>
          </a:xfrm>
          <a:prstGeom prst="rect">
            <a:avLst/>
          </a:prstGeom>
        </p:spPr>
        <p:txBody>
          <a:bodyPr/>
          <a:lstStyle/>
          <a:p>
            <a:r>
              <a:t>Voltages of buses 2 to 6 along the two-point BE path and then NR. The angles overshoot to about 60 degrees at t = 1, which is harmless: the point is already inside Newton's region of convergence. Mismatch 201, 25, 1.26 along the path, then 1.7, 1.7e-2, 7.3e-7, 8.8e-12.</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Notes Placeholder"/>
          <p:cNvSpPr>
            <a:spLocks noGrp="1"/>
          </p:cNvSpPr>
          <p:nvPr>
            <p:ph type="body" idx="1"/>
          </p:nvPr>
        </p:nvSpPr>
        <p:spPr>
          <a:xfrm>
            <a:off x="685800" y="4400550"/>
            <a:ext cx="5486400" cy="3600450"/>
          </a:xfrm>
          <a:prstGeom prst="rect">
            <a:avLst/>
          </a:prstGeom>
        </p:spPr>
        <p:txBody>
          <a:bodyPr/>
          <a:lstStyle/>
          <a:p>
            <a:r>
              <a:t>improvements/solve.py holds Options and solve(). Every team member's change plugs in as a switch, so they can be tested alone or combined in the study. With everything off it reproduces the paper's result exactly.</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Notes Placeholder"/>
          <p:cNvSpPr>
            <a:spLocks noGrp="1"/>
          </p:cNvSpPr>
          <p:nvPr>
            <p:ph type="body" idx="1"/>
          </p:nvPr>
        </p:nvSpPr>
        <p:spPr>
          <a:xfrm>
            <a:off x="685800" y="4400550"/>
            <a:ext cx="5486400" cy="3600450"/>
          </a:xfrm>
          <a:prstGeom prst="rect">
            <a:avLst/>
          </a:prstGeom>
        </p:spPr>
        <p:txBody>
          <a:bodyPr/>
          <a:lstStyle/>
          <a:p>
            <a:r>
              <a:t>The standard predictor-corrector of continuation methods, at a fixed new time. It is the most useful change of the whole study, and it makes the result almost independent of dt0.</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Notes Placeholder"/>
          <p:cNvSpPr>
            <a:spLocks noGrp="1"/>
          </p:cNvSpPr>
          <p:nvPr>
            <p:ph type="body" idx="1"/>
          </p:nvPr>
        </p:nvSpPr>
        <p:spPr>
          <a:xfrm>
            <a:off x="685800" y="4400550"/>
            <a:ext cx="5486400" cy="3600450"/>
          </a:xfrm>
          <a:prstGeom prst="rect">
            <a:avLst/>
          </a:prstGeom>
        </p:spPr>
        <p:txBody>
          <a:bodyPr/>
          <a:lstStyle/>
          <a:p>
            <a:r>
              <a:t>Every step the adaptive rule tries on case6748 at the paper's setting, accepted and rejected, next to the paper's fixed path. Rejected steps still cost LUs, so on its own it helps little.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Notes Placeholder"/>
          <p:cNvSpPr>
            <a:spLocks noGrp="1"/>
          </p:cNvSpPr>
          <p:nvPr>
            <p:ph type="body" idx="1"/>
          </p:nvPr>
        </p:nvSpPr>
        <p:spPr>
          <a:xfrm>
            <a:off x="685800" y="4400550"/>
            <a:ext cx="5486400" cy="3600450"/>
          </a:xfrm>
          <a:prstGeom prst="rect">
            <a:avLst/>
          </a:prstGeom>
        </p:spPr>
        <p:txBody>
          <a:bodyPr/>
          <a:lstStyle/>
          <a:p>
            <a:r>
              <a:t>Shifted inverse iteration gives the smallest eigenvalue of J + delta I, the matrix of the first step. The shift lowers the ratio on the ill-conditioned grids but hardly changes most limit cases, whose smallest eigenvalue is already larger than 0.02; there the method behaves like plain NR. The power method is up to 19% off on grids made of copies of one network, where the largest eigenvalues cluster.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BF9"/>
        </a:solidFill>
        <a:effectLst/>
      </p:bgPr>
    </p:bg>
    <p:spTree>
      <p:nvGrpSpPr>
        <p:cNvPr id="1" name=""/>
        <p:cNvGrpSpPr/>
        <p:nvPr/>
      </p:nvGrpSpPr>
      <p:grpSpPr>
        <a:xfrm>
          <a:off x="0" y="0"/>
          <a:ext cx="0" cy="0"/>
          <a:chOff x="0" y="0"/>
          <a:chExt cx="0" cy="0"/>
        </a:xfrm>
      </p:grpSpPr>
      <p:sp>
        <p:nvSpPr>
          <p:cNvPr id="2" name="Text 0"/>
          <p:cNvSpPr/>
          <p:nvPr/>
        </p:nvSpPr>
        <p:spPr>
          <a:xfrm>
            <a:off x="812800" y="1584960"/>
            <a:ext cx="10883392" cy="1778000"/>
          </a:xfrm>
          <a:prstGeom prst="rect">
            <a:avLst/>
          </a:prstGeom>
          <a:noFill/>
          <a:ln/>
        </p:spPr>
        <p:txBody>
          <a:bodyPr wrap="square" lIns="0" tIns="0" rIns="0" bIns="0" rtlCol="0" anchor="t">
            <a:normAutofit/>
          </a:bodyPr>
          <a:lstStyle/>
          <a:p>
            <a:pPr marL="0" indent="0" algn="l">
              <a:lnSpc>
                <a:spcPts val="4600"/>
              </a:lnSpc>
              <a:buNone/>
            </a:pPr>
            <a:r>
              <a:rPr lang="en-US" sz="4000" b="1" dirty="0">
                <a:solidFill>
                  <a:srgbClr val="1F3A5F"/>
                </a:solidFill>
                <a:latin typeface="IBM Plex Sans" pitchFamily="34" charset="0"/>
                <a:ea typeface="IBM Plex Sans" pitchFamily="34" charset="-122"/>
                <a:cs typeface="IBM Plex Sans" pitchFamily="34" charset="-120"/>
              </a:rPr>
              <a:t>The Dynamic Homotopy and</a:t>
            </a:r>
            <a:endParaRPr lang="en-US" sz="4000" dirty="0"/>
          </a:p>
          <a:p>
            <a:pPr marL="0" indent="0" algn="l">
              <a:lnSpc>
                <a:spcPts val="4600"/>
              </a:lnSpc>
              <a:buNone/>
            </a:pPr>
            <a:r>
              <a:rPr lang="en-US" sz="4000" b="1" dirty="0">
                <a:solidFill>
                  <a:srgbClr val="1F3A5F"/>
                </a:solidFill>
                <a:latin typeface="IBM Plex Sans" pitchFamily="34" charset="0"/>
                <a:ea typeface="IBM Plex Sans" pitchFamily="34" charset="-122"/>
                <a:cs typeface="IBM Plex Sans" pitchFamily="34" charset="-120"/>
              </a:rPr>
              <a:t>the Path Follower</a:t>
            </a:r>
            <a:endParaRPr lang="en-US" sz="4000" dirty="0"/>
          </a:p>
        </p:txBody>
      </p:sp>
      <p:pic>
        <p:nvPicPr>
          <p:cNvPr id="3" name="Image 0" descr="line"/>
          <p:cNvPicPr>
            <a:picLocks noChangeAspect="1"/>
          </p:cNvPicPr>
          <p:nvPr/>
        </p:nvPicPr>
        <p:blipFill>
          <a:blip r:embed="rId3"/>
          <a:srcRect l="-2083" r="-2083"/>
          <a:stretch/>
        </p:blipFill>
        <p:spPr>
          <a:xfrm>
            <a:off x="812800" y="3566160"/>
            <a:ext cx="10566400" cy="30480"/>
          </a:xfrm>
          <a:prstGeom prst="rect">
            <a:avLst/>
          </a:prstGeom>
        </p:spPr>
      </p:pic>
      <p:sp>
        <p:nvSpPr>
          <p:cNvPr id="4" name="Text 1"/>
          <p:cNvSpPr/>
          <p:nvPr/>
        </p:nvSpPr>
        <p:spPr>
          <a:xfrm>
            <a:off x="812800" y="3825240"/>
            <a:ext cx="10883392" cy="6350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333A48"/>
                </a:solidFill>
                <a:latin typeface="IBM Plex Sans" pitchFamily="34" charset="0"/>
                <a:ea typeface="IBM Plex Sans" pitchFamily="34" charset="-122"/>
                <a:cs typeface="IBM Plex Sans" pitchFamily="34" charset="-120"/>
              </a:rPr>
              <a:t>Based on A. Lima-Silva and F. D. Freitas, "Exploring a Dynamic Homotopy Technique to Enhance the Convergence of Classical Power Flow Iterative Solvers in Ill-Conditioned Power System Models", </a:t>
            </a:r>
            <a:r>
              <a:rPr lang="en-US" sz="1600" i="1" dirty="0">
                <a:solidFill>
                  <a:srgbClr val="333A48"/>
                </a:solidFill>
                <a:latin typeface="IBM Plex Sans" pitchFamily="34" charset="0"/>
                <a:ea typeface="IBM Plex Sans" pitchFamily="34" charset="-122"/>
                <a:cs typeface="IBM Plex Sans" pitchFamily="34" charset="-120"/>
              </a:rPr>
              <a:t>Energies</a:t>
            </a:r>
            <a:r>
              <a:rPr lang="en-US" sz="1600" dirty="0">
                <a:solidFill>
                  <a:srgbClr val="333A48"/>
                </a:solidFill>
                <a:latin typeface="IBM Plex Sans" pitchFamily="34" charset="0"/>
                <a:ea typeface="IBM Plex Sans" pitchFamily="34" charset="-122"/>
                <a:cs typeface="IBM Plex Sans" pitchFamily="34" charset="-120"/>
              </a:rPr>
              <a:t> 17(18):4642, 2024</a:t>
            </a:r>
            <a:endParaRPr lang="en-US" sz="1600" dirty="0"/>
          </a:p>
        </p:txBody>
      </p:sp>
      <p:sp>
        <p:nvSpPr>
          <p:cNvPr id="5" name="Text 2"/>
          <p:cNvSpPr/>
          <p:nvPr/>
        </p:nvSpPr>
        <p:spPr>
          <a:xfrm>
            <a:off x="812800" y="4663440"/>
            <a:ext cx="10883392" cy="635000"/>
          </a:xfrm>
          <a:prstGeom prst="rect">
            <a:avLst/>
          </a:prstGeom>
          <a:noFill/>
          <a:ln/>
        </p:spPr>
        <p:txBody>
          <a:bodyPr wrap="square" lIns="0" tIns="0" rIns="0" bIns="0" rtlCol="0" anchor="t">
            <a:normAutofit/>
          </a:bodyPr>
          <a:lstStyle/>
          <a:p>
            <a:pPr marL="0" indent="0" algn="l">
              <a:lnSpc>
                <a:spcPts val="2400"/>
              </a:lnSpc>
              <a:buNone/>
            </a:pPr>
            <a:r>
              <a:rPr lang="en-US" sz="1600" dirty="0">
                <a:solidFill>
                  <a:srgbClr val="333A48"/>
                </a:solidFill>
                <a:latin typeface="IBM Plex Sans" pitchFamily="34" charset="0"/>
                <a:ea typeface="IBM Plex Sans" pitchFamily="34" charset="-122"/>
                <a:cs typeface="IBM Plex Sans" pitchFamily="34" charset="-120"/>
              </a:rPr>
              <a:t>Presented by Apurbo   ·   Team: 2105039, 2105040, 2105057, 2105058, 2105060</a:t>
            </a:r>
            <a:endParaRPr lang="en-US" sz="1600" dirty="0"/>
          </a:p>
          <a:p>
            <a:pPr marL="0" indent="0" algn="l">
              <a:lnSpc>
                <a:spcPts val="2400"/>
              </a:lnSpc>
              <a:buNone/>
            </a:pPr>
            <a:r>
              <a:rPr lang="en-US" sz="1600" dirty="0">
                <a:solidFill>
                  <a:srgbClr val="333A48"/>
                </a:solidFill>
                <a:latin typeface="IBM Plex Sans" pitchFamily="34" charset="0"/>
                <a:ea typeface="IBM Plex Sans" pitchFamily="34" charset="-122"/>
                <a:cs typeface="IBM Plex Sans" pitchFamily="34" charset="-120"/>
              </a:rPr>
              <a:t>CSE 402 Numerical Analysis Sessional</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BF9"/>
        </a:solidFill>
        <a:effectLst/>
      </p:bgPr>
    </p:bg>
    <p:spTree>
      <p:nvGrpSpPr>
        <p:cNvPr id="1" name=""/>
        <p:cNvGrpSpPr/>
        <p:nvPr/>
      </p:nvGrpSpPr>
      <p:grpSpPr>
        <a:xfrm>
          <a:off x="0" y="0"/>
          <a:ext cx="0" cy="0"/>
          <a:chOff x="0" y="0"/>
          <a:chExt cx="0" cy="0"/>
        </a:xfrm>
      </p:grpSpPr>
      <p:sp>
        <p:nvSpPr>
          <p:cNvPr id="2" name="TextBox 1"/>
          <p:cNvSpPr txBox="1"/>
          <p:nvPr/>
        </p:nvSpPr>
        <p:spPr>
          <a:xfrm>
            <a:off x="813816" y="713232"/>
            <a:ext cx="10881360" cy="429768"/>
          </a:xfrm>
          <a:prstGeom prst="rect">
            <a:avLst/>
          </a:prstGeom>
          <a:noFill/>
        </p:spPr>
        <p:txBody>
          <a:bodyPr wrap="square" lIns="0" tIns="0" rIns="0" bIns="0" anchor="t">
            <a:spAutoFit/>
          </a:bodyPr>
          <a:lstStyle/>
          <a:p>
            <a:pPr algn="l">
              <a:spcAft>
                <a:spcPts val="800"/>
              </a:spcAft>
            </a:pPr>
            <a:r>
              <a:rPr sz="2800" b="1" i="0">
                <a:solidFill>
                  <a:srgbClr val="1F3A5F"/>
                </a:solidFill>
                <a:latin typeface="IBM Plex Sans"/>
                <a:ea typeface="IBM Plex Sans"/>
                <a:cs typeface="IBM Plex Sans"/>
              </a:rPr>
              <a:t>My part of the project</a:t>
            </a:r>
          </a:p>
        </p:txBody>
      </p:sp>
      <p:pic>
        <p:nvPicPr>
          <p:cNvPr id="3" name="Picture 2" descr="image.png"/>
          <p:cNvPicPr>
            <a:picLocks noChangeAspect="1"/>
          </p:cNvPicPr>
          <p:nvPr/>
        </p:nvPicPr>
        <p:blipFill>
          <a:blip r:embed="rId3"/>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tIns="0" rIns="0" bIns="0" anchor="t">
            <a:spAutoFit/>
          </a:bodyPr>
          <a:lstStyle/>
          <a:p>
            <a:pPr algn="l">
              <a:spcAft>
                <a:spcPts val="800"/>
              </a:spcAft>
            </a:pPr>
            <a:r>
              <a:rPr sz="1200" b="0" i="0">
                <a:solidFill>
                  <a:srgbClr val="6B7280"/>
                </a:solidFill>
                <a:latin typeface="IBM Plex Sans"/>
                <a:ea typeface="IBM Plex Sans"/>
                <a:cs typeface="IBM Plex Sans"/>
              </a:rPr>
              <a:t>Apurbo's part · 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tIns="0" rIns="0" bIns="0" anchor="t">
            <a:spAutoFit/>
          </a:bodyPr>
          <a:lstStyle/>
          <a:p>
            <a:pPr algn="r">
              <a:spcAft>
                <a:spcPts val="800"/>
              </a:spcAft>
            </a:pPr>
            <a:r>
              <a:rPr sz="1200" b="0" i="0">
                <a:solidFill>
                  <a:srgbClr val="6B7280"/>
                </a:solidFill>
                <a:latin typeface="IBM Plex Sans"/>
                <a:ea typeface="IBM Plex Sans"/>
                <a:cs typeface="IBM Plex Sans"/>
              </a:rPr>
              <a:t>2</a:t>
            </a:r>
          </a:p>
        </p:txBody>
      </p:sp>
      <p:sp>
        <p:nvSpPr>
          <p:cNvPr id="6" name="Rounded Rectangle 5"/>
          <p:cNvSpPr/>
          <p:nvPr/>
        </p:nvSpPr>
        <p:spPr>
          <a:xfrm>
            <a:off x="813816" y="1600200"/>
            <a:ext cx="5120640" cy="1737360"/>
          </a:xfrm>
          <a:prstGeom prst="roundRect">
            <a:avLst>
              <a:gd name="adj" fmla="val 8000"/>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88136" y="1874520"/>
            <a:ext cx="475488" cy="47548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IBM Plex Sans"/>
                <a:ea typeface="IBM Plex Sans"/>
                <a:cs typeface="IBM Plex Sans"/>
              </a:rPr>
              <a:t>1</a:t>
            </a:r>
          </a:p>
        </p:txBody>
      </p:sp>
      <p:sp>
        <p:nvSpPr>
          <p:cNvPr id="8" name="TextBox 7"/>
          <p:cNvSpPr txBox="1"/>
          <p:nvPr/>
        </p:nvSpPr>
        <p:spPr>
          <a:xfrm>
            <a:off x="1728216" y="1874520"/>
            <a:ext cx="3977640" cy="457200"/>
          </a:xfrm>
          <a:prstGeom prst="rect">
            <a:avLst/>
          </a:prstGeom>
          <a:noFill/>
        </p:spPr>
        <p:txBody>
          <a:bodyPr wrap="square" lIns="0" tIns="0" rIns="0" bIns="0" anchor="t">
            <a:spAutoFit/>
          </a:bodyPr>
          <a:lstStyle/>
          <a:p>
            <a:pPr algn="l">
              <a:spcAft>
                <a:spcPts val="800"/>
              </a:spcAft>
            </a:pPr>
            <a:r>
              <a:rPr sz="1900" b="1" i="0">
                <a:solidFill>
                  <a:srgbClr val="1F3A5F"/>
                </a:solidFill>
                <a:latin typeface="IBM Plex Sans"/>
                <a:ea typeface="IBM Plex Sans"/>
                <a:cs typeface="IBM Plex Sans"/>
              </a:rPr>
              <a:t>The homotopy</a:t>
            </a:r>
          </a:p>
        </p:txBody>
      </p:sp>
      <p:sp>
        <p:nvSpPr>
          <p:cNvPr id="9" name="TextBox 8"/>
          <p:cNvSpPr txBox="1"/>
          <p:nvPr/>
        </p:nvSpPr>
        <p:spPr>
          <a:xfrm>
            <a:off x="1728216" y="2377440"/>
            <a:ext cx="3977640" cy="822960"/>
          </a:xfrm>
          <a:prstGeom prst="rect">
            <a:avLst/>
          </a:prstGeom>
          <a:noFill/>
        </p:spPr>
        <p:txBody>
          <a:bodyPr wrap="square" lIns="0" tIns="0" rIns="0" bIns="0" anchor="t">
            <a:spAutoFit/>
          </a:bodyPr>
          <a:lstStyle/>
          <a:p>
            <a:pPr algn="l">
              <a:spcAft>
                <a:spcPts val="800"/>
              </a:spcAft>
            </a:pPr>
            <a:r>
              <a:rPr sz="1500" b="0" i="0">
                <a:solidFill>
                  <a:srgbClr val="333A48"/>
                </a:solidFill>
                <a:latin typeface="IBM Plex Sans"/>
                <a:ea typeface="IBM Plex Sans"/>
                <a:cs typeface="IBM Plex Sans"/>
              </a:rPr>
              <a:t>G(x, t), the ODE, and the FE, RK2 and BE integrators</a:t>
            </a:r>
          </a:p>
        </p:txBody>
      </p:sp>
      <p:sp>
        <p:nvSpPr>
          <p:cNvPr id="10" name="Rounded Rectangle 9"/>
          <p:cNvSpPr/>
          <p:nvPr/>
        </p:nvSpPr>
        <p:spPr>
          <a:xfrm>
            <a:off x="6254496" y="1600200"/>
            <a:ext cx="5120640" cy="1737360"/>
          </a:xfrm>
          <a:prstGeom prst="roundRect">
            <a:avLst>
              <a:gd name="adj" fmla="val 8000"/>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528816" y="1874520"/>
            <a:ext cx="475488" cy="47548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IBM Plex Sans"/>
                <a:ea typeface="IBM Plex Sans"/>
                <a:cs typeface="IBM Plex Sans"/>
              </a:rPr>
              <a:t>2</a:t>
            </a:r>
          </a:p>
        </p:txBody>
      </p:sp>
      <p:sp>
        <p:nvSpPr>
          <p:cNvPr id="12" name="TextBox 11"/>
          <p:cNvSpPr txBox="1"/>
          <p:nvPr/>
        </p:nvSpPr>
        <p:spPr>
          <a:xfrm>
            <a:off x="7168896" y="1874520"/>
            <a:ext cx="3977640" cy="457200"/>
          </a:xfrm>
          <a:prstGeom prst="rect">
            <a:avLst/>
          </a:prstGeom>
          <a:noFill/>
        </p:spPr>
        <p:txBody>
          <a:bodyPr wrap="square" lIns="0" tIns="0" rIns="0" bIns="0" anchor="t">
            <a:spAutoFit/>
          </a:bodyPr>
          <a:lstStyle/>
          <a:p>
            <a:pPr algn="l">
              <a:spcAft>
                <a:spcPts val="800"/>
              </a:spcAft>
            </a:pPr>
            <a:r>
              <a:rPr sz="1900" b="1" i="0">
                <a:solidFill>
                  <a:srgbClr val="1F3A5F"/>
                </a:solidFill>
                <a:latin typeface="IBM Plex Sans"/>
                <a:ea typeface="IBM Plex Sans"/>
                <a:cs typeface="IBM Plex Sans"/>
              </a:rPr>
              <a:t>Paper results</a:t>
            </a:r>
          </a:p>
        </p:txBody>
      </p:sp>
      <p:sp>
        <p:nvSpPr>
          <p:cNvPr id="13" name="TextBox 12"/>
          <p:cNvSpPr txBox="1"/>
          <p:nvPr/>
        </p:nvSpPr>
        <p:spPr>
          <a:xfrm>
            <a:off x="7168896" y="2377440"/>
            <a:ext cx="3977640" cy="822960"/>
          </a:xfrm>
          <a:prstGeom prst="rect">
            <a:avLst/>
          </a:prstGeom>
          <a:noFill/>
        </p:spPr>
        <p:txBody>
          <a:bodyPr wrap="square" lIns="0" tIns="0" rIns="0" bIns="0" anchor="t">
            <a:spAutoFit/>
          </a:bodyPr>
          <a:lstStyle/>
          <a:p>
            <a:pPr algn="l">
              <a:spcAft>
                <a:spcPts val="800"/>
              </a:spcAft>
            </a:pPr>
            <a:r>
              <a:rPr sz="1500" b="0" i="0">
                <a:solidFill>
                  <a:srgbClr val="333A48"/>
                </a:solidFill>
                <a:latin typeface="IBM Plex Sans"/>
                <a:ea typeface="IBM Plex Sans"/>
                <a:cs typeface="IBM Plex Sans"/>
              </a:rPr>
              <a:t>Figures 1, 2 and 4, and the first-step study of Section 4.2.1</a:t>
            </a:r>
          </a:p>
        </p:txBody>
      </p:sp>
      <p:sp>
        <p:nvSpPr>
          <p:cNvPr id="14" name="Rounded Rectangle 13"/>
          <p:cNvSpPr/>
          <p:nvPr/>
        </p:nvSpPr>
        <p:spPr>
          <a:xfrm>
            <a:off x="813816" y="3657600"/>
            <a:ext cx="5120640" cy="1737360"/>
          </a:xfrm>
          <a:prstGeom prst="roundRect">
            <a:avLst>
              <a:gd name="adj" fmla="val 8000"/>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088136" y="3931920"/>
            <a:ext cx="475488" cy="47548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IBM Plex Sans"/>
                <a:ea typeface="IBM Plex Sans"/>
                <a:cs typeface="IBM Plex Sans"/>
              </a:rPr>
              <a:t>3</a:t>
            </a:r>
          </a:p>
        </p:txBody>
      </p:sp>
      <p:sp>
        <p:nvSpPr>
          <p:cNvPr id="16" name="TextBox 15"/>
          <p:cNvSpPr txBox="1"/>
          <p:nvPr/>
        </p:nvSpPr>
        <p:spPr>
          <a:xfrm>
            <a:off x="1728216" y="3931920"/>
            <a:ext cx="3977640" cy="457200"/>
          </a:xfrm>
          <a:prstGeom prst="rect">
            <a:avLst/>
          </a:prstGeom>
          <a:noFill/>
        </p:spPr>
        <p:txBody>
          <a:bodyPr wrap="square" lIns="0" tIns="0" rIns="0" bIns="0" anchor="t">
            <a:spAutoFit/>
          </a:bodyPr>
          <a:lstStyle/>
          <a:p>
            <a:pPr algn="l">
              <a:spcAft>
                <a:spcPts val="800"/>
              </a:spcAft>
            </a:pPr>
            <a:r>
              <a:rPr sz="1900" b="1" i="0">
                <a:solidFill>
                  <a:srgbClr val="1F3A5F"/>
                </a:solidFill>
                <a:latin typeface="IBM Plex Sans"/>
                <a:ea typeface="IBM Plex Sans"/>
                <a:cs typeface="IBM Plex Sans"/>
              </a:rPr>
              <a:t>solve() and the corrector</a:t>
            </a:r>
          </a:p>
        </p:txBody>
      </p:sp>
      <p:sp>
        <p:nvSpPr>
          <p:cNvPr id="17" name="TextBox 16"/>
          <p:cNvSpPr txBox="1"/>
          <p:nvPr/>
        </p:nvSpPr>
        <p:spPr>
          <a:xfrm>
            <a:off x="1728216" y="4434840"/>
            <a:ext cx="3977640" cy="822960"/>
          </a:xfrm>
          <a:prstGeom prst="rect">
            <a:avLst/>
          </a:prstGeom>
          <a:noFill/>
        </p:spPr>
        <p:txBody>
          <a:bodyPr wrap="square" lIns="0" tIns="0" rIns="0" bIns="0" anchor="t">
            <a:spAutoFit/>
          </a:bodyPr>
          <a:lstStyle/>
          <a:p>
            <a:pPr algn="l">
              <a:spcAft>
                <a:spcPts val="800"/>
              </a:spcAft>
            </a:pPr>
            <a:r>
              <a:rPr sz="1500" b="0" i="0">
                <a:solidFill>
                  <a:srgbClr val="333A48"/>
                </a:solidFill>
                <a:latin typeface="IBM Plex Sans"/>
                <a:ea typeface="IBM Plex Sans"/>
                <a:cs typeface="IBM Plex Sans"/>
              </a:rPr>
              <a:t>one path follower with switches; a Newton corrector</a:t>
            </a:r>
          </a:p>
        </p:txBody>
      </p:sp>
      <p:sp>
        <p:nvSpPr>
          <p:cNvPr id="18" name="Rounded Rectangle 17"/>
          <p:cNvSpPr/>
          <p:nvPr/>
        </p:nvSpPr>
        <p:spPr>
          <a:xfrm>
            <a:off x="6254496" y="3657600"/>
            <a:ext cx="5120640" cy="1737360"/>
          </a:xfrm>
          <a:prstGeom prst="roundRect">
            <a:avLst>
              <a:gd name="adj" fmla="val 8000"/>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528816" y="3931920"/>
            <a:ext cx="475488" cy="47548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i="0">
                <a:solidFill>
                  <a:srgbClr val="FFFFFF"/>
                </a:solidFill>
                <a:latin typeface="IBM Plex Sans"/>
                <a:ea typeface="IBM Plex Sans"/>
                <a:cs typeface="IBM Plex Sans"/>
              </a:rPr>
              <a:t>4</a:t>
            </a:r>
          </a:p>
        </p:txBody>
      </p:sp>
      <p:sp>
        <p:nvSpPr>
          <p:cNvPr id="20" name="TextBox 19"/>
          <p:cNvSpPr txBox="1"/>
          <p:nvPr/>
        </p:nvSpPr>
        <p:spPr>
          <a:xfrm>
            <a:off x="7168896" y="3931920"/>
            <a:ext cx="3977640" cy="457200"/>
          </a:xfrm>
          <a:prstGeom prst="rect">
            <a:avLst/>
          </a:prstGeom>
          <a:noFill/>
        </p:spPr>
        <p:txBody>
          <a:bodyPr wrap="square" lIns="0" tIns="0" rIns="0" bIns="0" anchor="t">
            <a:spAutoFit/>
          </a:bodyPr>
          <a:lstStyle/>
          <a:p>
            <a:pPr algn="l">
              <a:spcAft>
                <a:spcPts val="800"/>
              </a:spcAft>
            </a:pPr>
            <a:r>
              <a:rPr sz="1900" b="1" i="0">
                <a:solidFill>
                  <a:srgbClr val="1F3A5F"/>
                </a:solidFill>
                <a:latin typeface="IBM Plex Sans"/>
                <a:ea typeface="IBM Plex Sans"/>
                <a:cs typeface="IBM Plex Sans"/>
              </a:rPr>
              <a:t>Spectrum of J</a:t>
            </a:r>
          </a:p>
        </p:txBody>
      </p:sp>
      <p:sp>
        <p:nvSpPr>
          <p:cNvPr id="21" name="TextBox 20"/>
          <p:cNvSpPr txBox="1"/>
          <p:nvPr/>
        </p:nvSpPr>
        <p:spPr>
          <a:xfrm>
            <a:off x="7168896" y="4434840"/>
            <a:ext cx="3977640" cy="822960"/>
          </a:xfrm>
          <a:prstGeom prst="rect">
            <a:avLst/>
          </a:prstGeom>
          <a:noFill/>
        </p:spPr>
        <p:txBody>
          <a:bodyPr wrap="square" lIns="0" tIns="0" rIns="0" bIns="0" anchor="t">
            <a:spAutoFit/>
          </a:bodyPr>
          <a:lstStyle/>
          <a:p>
            <a:pPr algn="l">
              <a:spcAft>
                <a:spcPts val="800"/>
              </a:spcAft>
            </a:pPr>
            <a:r>
              <a:rPr sz="1500" b="0" i="0">
                <a:solidFill>
                  <a:srgbClr val="333A48"/>
                </a:solidFill>
                <a:latin typeface="IBM Plex Sans"/>
                <a:ea typeface="IBM Plex Sans"/>
                <a:cs typeface="IBM Plex Sans"/>
              </a:rPr>
              <a:t>power method and inverse iteration: why the shift works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FBF9"/>
        </a:solidFill>
        <a:effectLst/>
      </p:bgPr>
    </p:bg>
    <p:spTree>
      <p:nvGrpSpPr>
        <p:cNvPr id="1" name=""/>
        <p:cNvGrpSpPr/>
        <p:nvPr/>
      </p:nvGrpSpPr>
      <p:grpSpPr>
        <a:xfrm>
          <a:off x="0" y="0"/>
          <a:ext cx="0" cy="0"/>
          <a:chOff x="0" y="0"/>
          <a:chExt cx="0" cy="0"/>
        </a:xfrm>
      </p:grpSpPr>
      <p:sp>
        <p:nvSpPr>
          <p:cNvPr id="2" name="TextBox 1"/>
          <p:cNvSpPr txBox="1"/>
          <p:nvPr/>
        </p:nvSpPr>
        <p:spPr>
          <a:xfrm>
            <a:off x="813816" y="713232"/>
            <a:ext cx="10881360" cy="429768"/>
          </a:xfrm>
          <a:prstGeom prst="rect">
            <a:avLst/>
          </a:prstGeom>
          <a:noFill/>
        </p:spPr>
        <p:txBody>
          <a:bodyPr wrap="square" lIns="0" tIns="0" rIns="0" bIns="0" anchor="t">
            <a:spAutoFit/>
          </a:bodyPr>
          <a:lstStyle/>
          <a:p>
            <a:pPr algn="l">
              <a:spcAft>
                <a:spcPts val="800"/>
              </a:spcAft>
            </a:pPr>
            <a:r>
              <a:rPr sz="2800" b="1" i="0">
                <a:solidFill>
                  <a:srgbClr val="1F3A5F"/>
                </a:solidFill>
                <a:latin typeface="IBM Plex Sans"/>
                <a:ea typeface="IBM Plex Sans"/>
                <a:cs typeface="IBM Plex Sans"/>
              </a:rPr>
              <a:t>The fixed-point homotopy</a:t>
            </a:r>
          </a:p>
        </p:txBody>
      </p:sp>
      <p:pic>
        <p:nvPicPr>
          <p:cNvPr id="3" name="Picture 2" descr="image.png"/>
          <p:cNvPicPr>
            <a:picLocks noChangeAspect="1"/>
          </p:cNvPicPr>
          <p:nvPr/>
        </p:nvPicPr>
        <p:blipFill>
          <a:blip r:embed="rId3"/>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tIns="0" rIns="0" bIns="0" anchor="t">
            <a:spAutoFit/>
          </a:bodyPr>
          <a:lstStyle/>
          <a:p>
            <a:pPr algn="l">
              <a:spcAft>
                <a:spcPts val="800"/>
              </a:spcAft>
            </a:pPr>
            <a:r>
              <a:rPr sz="1200" b="0" i="0">
                <a:solidFill>
                  <a:srgbClr val="6B7280"/>
                </a:solidFill>
                <a:latin typeface="IBM Plex Sans"/>
                <a:ea typeface="IBM Plex Sans"/>
                <a:cs typeface="IBM Plex Sans"/>
              </a:rPr>
              <a:t>Apurbo's part · 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tIns="0" rIns="0" bIns="0" anchor="t">
            <a:spAutoFit/>
          </a:bodyPr>
          <a:lstStyle/>
          <a:p>
            <a:pPr algn="r">
              <a:spcAft>
                <a:spcPts val="800"/>
              </a:spcAft>
            </a:pPr>
            <a:r>
              <a:rPr sz="1200" b="0" i="0">
                <a:solidFill>
                  <a:srgbClr val="6B7280"/>
                </a:solidFill>
                <a:latin typeface="IBM Plex Sans"/>
                <a:ea typeface="IBM Plex Sans"/>
                <a:cs typeface="IBM Plex Sans"/>
              </a:rPr>
              <a:t>3</a:t>
            </a:r>
          </a:p>
        </p:txBody>
      </p:sp>
      <p:pic>
        <p:nvPicPr>
          <p:cNvPr id="6" name="Picture 5" descr="a_G.png"/>
          <p:cNvPicPr>
            <a:picLocks noChangeAspect="1"/>
          </p:cNvPicPr>
          <p:nvPr/>
        </p:nvPicPr>
        <p:blipFill>
          <a:blip r:embed="rId4"/>
          <a:stretch>
            <a:fillRect/>
          </a:stretch>
        </p:blipFill>
        <p:spPr>
          <a:xfrm>
            <a:off x="813816" y="1508760"/>
            <a:ext cx="5471160" cy="432816"/>
          </a:xfrm>
          <a:prstGeom prst="rect">
            <a:avLst/>
          </a:prstGeom>
        </p:spPr>
      </p:pic>
      <p:sp>
        <p:nvSpPr>
          <p:cNvPr id="7" name="Rounded Rectangle 6"/>
          <p:cNvSpPr/>
          <p:nvPr/>
        </p:nvSpPr>
        <p:spPr>
          <a:xfrm>
            <a:off x="813816" y="2377440"/>
            <a:ext cx="2926080" cy="731520"/>
          </a:xfrm>
          <a:prstGeom prst="roundRect">
            <a:avLst>
              <a:gd name="adj" fmla="val 1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FFFFFF"/>
                </a:solidFill>
                <a:latin typeface="IBM Plex Sans"/>
                <a:ea typeface="IBM Plex Sans"/>
                <a:cs typeface="IBM Plex Sans"/>
              </a:rPr>
              <a:t>t = 0:  root is x₀</a:t>
            </a:r>
          </a:p>
        </p:txBody>
      </p:sp>
      <p:sp>
        <p:nvSpPr>
          <p:cNvPr id="8" name="Right Arrow 7"/>
          <p:cNvSpPr/>
          <p:nvPr/>
        </p:nvSpPr>
        <p:spPr>
          <a:xfrm>
            <a:off x="3803904" y="2606040"/>
            <a:ext cx="420623" cy="274320"/>
          </a:xfrm>
          <a:prstGeom prst="rightArrow">
            <a:avLst/>
          </a:prstGeom>
          <a:solidFill>
            <a:srgbClr val="A8B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288536" y="2377440"/>
            <a:ext cx="2926080" cy="731520"/>
          </a:xfrm>
          <a:prstGeom prst="roundRect">
            <a:avLst>
              <a:gd name="adj" fmla="val 18000"/>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1F3A5F"/>
                </a:solidFill>
                <a:latin typeface="IBM Plex Sans"/>
                <a:ea typeface="IBM Plex Sans"/>
                <a:cs typeface="IBM Plex Sans"/>
              </a:rPr>
              <a:t>smooth path x(t)</a:t>
            </a:r>
          </a:p>
        </p:txBody>
      </p:sp>
      <p:sp>
        <p:nvSpPr>
          <p:cNvPr id="10" name="Right Arrow 9"/>
          <p:cNvSpPr/>
          <p:nvPr/>
        </p:nvSpPr>
        <p:spPr>
          <a:xfrm>
            <a:off x="7278624" y="2606040"/>
            <a:ext cx="420623" cy="274320"/>
          </a:xfrm>
          <a:prstGeom prst="rightArrow">
            <a:avLst/>
          </a:prstGeom>
          <a:solidFill>
            <a:srgbClr val="A8B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7763256" y="2377440"/>
            <a:ext cx="2926080" cy="731520"/>
          </a:xfrm>
          <a:prstGeom prst="roundRect">
            <a:avLst>
              <a:gd name="adj" fmla="val 1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500" b="1" i="0">
                <a:solidFill>
                  <a:srgbClr val="FFFFFF"/>
                </a:solidFill>
                <a:latin typeface="IBM Plex Sans"/>
                <a:ea typeface="IBM Plex Sans"/>
                <a:cs typeface="IBM Plex Sans"/>
              </a:rPr>
              <a:t>t = 1:  g(x) = 0</a:t>
            </a:r>
          </a:p>
        </p:txBody>
      </p:sp>
      <p:pic>
        <p:nvPicPr>
          <p:cNvPr id="12" name="Picture 11" descr="a_ode.png"/>
          <p:cNvPicPr>
            <a:picLocks noChangeAspect="1"/>
          </p:cNvPicPr>
          <p:nvPr/>
        </p:nvPicPr>
        <p:blipFill>
          <a:blip r:embed="rId5"/>
          <a:stretch>
            <a:fillRect/>
          </a:stretch>
        </p:blipFill>
        <p:spPr>
          <a:xfrm>
            <a:off x="813816" y="3611880"/>
            <a:ext cx="8827008" cy="420624"/>
          </a:xfrm>
          <a:prstGeom prst="rect">
            <a:avLst/>
          </a:prstGeom>
        </p:spPr>
      </p:pic>
      <p:sp>
        <p:nvSpPr>
          <p:cNvPr id="13" name="TextBox 12"/>
          <p:cNvSpPr txBox="1"/>
          <p:nvPr/>
        </p:nvSpPr>
        <p:spPr>
          <a:xfrm>
            <a:off x="813816" y="4617720"/>
            <a:ext cx="10561320" cy="457200"/>
          </a:xfrm>
          <a:prstGeom prst="rect">
            <a:avLst/>
          </a:prstGeom>
          <a:noFill/>
        </p:spPr>
        <p:txBody>
          <a:bodyPr wrap="square" lIns="0" tIns="0" rIns="0" bIns="0" anchor="t">
            <a:spAutoFit/>
          </a:bodyPr>
          <a:lstStyle/>
          <a:p>
            <a:pPr algn="l">
              <a:spcAft>
                <a:spcPts val="800"/>
              </a:spcAft>
            </a:pPr>
            <a:r>
              <a:rPr sz="1600" b="0" i="0">
                <a:solidFill>
                  <a:srgbClr val="333A48"/>
                </a:solidFill>
                <a:latin typeface="IBM Plex Sans"/>
                <a:ea typeface="IBM Plex Sans"/>
                <a:cs typeface="IBM Plex Sans"/>
              </a:rPr>
              <a:t>Root finding becomes an initial value problem. Each slope costs one LU.</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BF9"/>
        </a:solidFill>
        <a:effectLst/>
      </p:bgPr>
    </p:bg>
    <p:spTree>
      <p:nvGrpSpPr>
        <p:cNvPr id="1" name=""/>
        <p:cNvGrpSpPr/>
        <p:nvPr/>
      </p:nvGrpSpPr>
      <p:grpSpPr>
        <a:xfrm>
          <a:off x="0" y="0"/>
          <a:ext cx="0" cy="0"/>
          <a:chOff x="0" y="0"/>
          <a:chExt cx="0" cy="0"/>
        </a:xfrm>
      </p:grpSpPr>
      <p:sp>
        <p:nvSpPr>
          <p:cNvPr id="2" name="TextBox 1"/>
          <p:cNvSpPr txBox="1"/>
          <p:nvPr/>
        </p:nvSpPr>
        <p:spPr>
          <a:xfrm>
            <a:off x="813816" y="713232"/>
            <a:ext cx="10881360" cy="429768"/>
          </a:xfrm>
          <a:prstGeom prst="rect">
            <a:avLst/>
          </a:prstGeom>
          <a:noFill/>
        </p:spPr>
        <p:txBody>
          <a:bodyPr wrap="square" lIns="0" tIns="0" rIns="0" bIns="0" anchor="t">
            <a:spAutoFit/>
          </a:bodyPr>
          <a:lstStyle/>
          <a:p>
            <a:pPr algn="l">
              <a:spcAft>
                <a:spcPts val="800"/>
              </a:spcAft>
            </a:pPr>
            <a:r>
              <a:rPr sz="2800" b="1" i="0">
                <a:solidFill>
                  <a:srgbClr val="1F3A5F"/>
                </a:solidFill>
                <a:latin typeface="IBM Plex Sans"/>
                <a:ea typeface="IBM Plex Sans"/>
                <a:cs typeface="IBM Plex Sans"/>
              </a:rPr>
              <a:t>The first step is a shifted Newton step</a:t>
            </a:r>
          </a:p>
        </p:txBody>
      </p:sp>
      <p:pic>
        <p:nvPicPr>
          <p:cNvPr id="3" name="Picture 2" descr="image.png"/>
          <p:cNvPicPr>
            <a:picLocks noChangeAspect="1"/>
          </p:cNvPicPr>
          <p:nvPr/>
        </p:nvPicPr>
        <p:blipFill>
          <a:blip r:embed="rId3"/>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tIns="0" rIns="0" bIns="0" anchor="t">
            <a:spAutoFit/>
          </a:bodyPr>
          <a:lstStyle/>
          <a:p>
            <a:pPr algn="l">
              <a:spcAft>
                <a:spcPts val="800"/>
              </a:spcAft>
            </a:pPr>
            <a:r>
              <a:rPr sz="1200" b="0" i="0">
                <a:solidFill>
                  <a:srgbClr val="6B7280"/>
                </a:solidFill>
                <a:latin typeface="IBM Plex Sans"/>
                <a:ea typeface="IBM Plex Sans"/>
                <a:cs typeface="IBM Plex Sans"/>
              </a:rPr>
              <a:t>Apurbo's part · 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tIns="0" rIns="0" bIns="0" anchor="t">
            <a:spAutoFit/>
          </a:bodyPr>
          <a:lstStyle/>
          <a:p>
            <a:pPr algn="r">
              <a:spcAft>
                <a:spcPts val="800"/>
              </a:spcAft>
            </a:pPr>
            <a:r>
              <a:rPr sz="1200" b="0" i="0">
                <a:solidFill>
                  <a:srgbClr val="6B7280"/>
                </a:solidFill>
                <a:latin typeface="IBM Plex Sans"/>
                <a:ea typeface="IBM Plex Sans"/>
                <a:cs typeface="IBM Plex Sans"/>
              </a:rPr>
              <a:t>4</a:t>
            </a:r>
          </a:p>
        </p:txBody>
      </p:sp>
      <p:pic>
        <p:nvPicPr>
          <p:cNvPr id="6" name="Picture 5" descr="a_first.png"/>
          <p:cNvPicPr>
            <a:picLocks noChangeAspect="1"/>
          </p:cNvPicPr>
          <p:nvPr/>
        </p:nvPicPr>
        <p:blipFill>
          <a:blip r:embed="rId4"/>
          <a:stretch>
            <a:fillRect/>
          </a:stretch>
        </p:blipFill>
        <p:spPr>
          <a:xfrm>
            <a:off x="813816" y="1554480"/>
            <a:ext cx="7562088" cy="451104"/>
          </a:xfrm>
          <a:prstGeom prst="rect">
            <a:avLst/>
          </a:prstGeom>
        </p:spPr>
      </p:pic>
      <p:sp>
        <p:nvSpPr>
          <p:cNvPr id="7" name="TextBox 6"/>
          <p:cNvSpPr txBox="1"/>
          <p:nvPr/>
        </p:nvSpPr>
        <p:spPr>
          <a:xfrm>
            <a:off x="813816" y="2560320"/>
            <a:ext cx="10561320" cy="2194560"/>
          </a:xfrm>
          <a:prstGeom prst="rect">
            <a:avLst/>
          </a:prstGeom>
          <a:noFill/>
        </p:spPr>
        <p:txBody>
          <a:bodyPr wrap="square" lIns="0" tIns="0" rIns="0" bIns="0" anchor="t">
            <a:spAutoFit/>
          </a:bodyPr>
          <a:lstStyle/>
          <a:p>
            <a:pPr marL="228600" indent="-228600" algn="l">
              <a:spcAft>
                <a:spcPts val="1200"/>
              </a:spcAft>
              <a:buFont typeface="Arial"/>
              <a:buChar char="•"/>
            </a:pPr>
            <a:r>
              <a:rPr sz="1700" b="0" i="0">
                <a:solidFill>
                  <a:srgbClr val="1B1F2A"/>
                </a:solidFill>
                <a:latin typeface="IBM Plex Sans"/>
                <a:ea typeface="IBM Plex Sans"/>
                <a:cs typeface="IBM Plex Sans"/>
              </a:rPr>
              <a:t>forward Euler at t = 0 inverts K·I: it steps by −50 g(x₀), blind to the network</a:t>
            </a:r>
          </a:p>
          <a:p>
            <a:pPr marL="228600" indent="-228600" algn="l">
              <a:spcAft>
                <a:spcPts val="1200"/>
              </a:spcAft>
              <a:buFont typeface="Arial"/>
              <a:buChar char="•"/>
            </a:pPr>
            <a:r>
              <a:rPr sz="1700" b="0" i="0">
                <a:solidFill>
                  <a:srgbClr val="1B1F2A"/>
                </a:solidFill>
                <a:latin typeface="IBM Plex Sans"/>
                <a:ea typeface="IBM Plex Sans"/>
                <a:cs typeface="IBM Plex Sans"/>
              </a:rPr>
              <a:t>backward Euler inverts Δt₀ J + (1 − Δt₀) K I: a Newton step with δ on the diagonal</a:t>
            </a:r>
          </a:p>
          <a:p>
            <a:pPr marL="228600" indent="-228600" algn="l">
              <a:spcAft>
                <a:spcPts val="1200"/>
              </a:spcAft>
              <a:buFont typeface="Arial"/>
              <a:buChar char="•"/>
            </a:pPr>
            <a:r>
              <a:rPr sz="1700" b="0" i="0">
                <a:solidFill>
                  <a:srgbClr val="1B1F2A"/>
                </a:solidFill>
                <a:latin typeface="IBM Plex Sans"/>
                <a:ea typeface="IBM Plex Sans"/>
                <a:cs typeface="IBM Plex Sans"/>
              </a:rPr>
              <a:t>BE and the linearised step (eqs. 26, 27) give the same point; a unit test checks this</a:t>
            </a:r>
          </a:p>
          <a:p>
            <a:pPr marL="228600" indent="-228600" algn="l">
              <a:spcAft>
                <a:spcPts val="1200"/>
              </a:spcAft>
              <a:buFont typeface="Arial"/>
              <a:buChar char="•"/>
            </a:pPr>
            <a:r>
              <a:rPr sz="1700" b="0" i="0">
                <a:solidFill>
                  <a:srgbClr val="1B1F2A"/>
                </a:solidFill>
                <a:latin typeface="IBM Plex Sans"/>
                <a:ea typeface="IBM Plex Sans"/>
                <a:cs typeface="IBM Plex Sans"/>
              </a:rPr>
              <a:t>the shift δ lifts the tiny eigenvalues of J</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FBF9"/>
        </a:solidFill>
        <a:effectLst/>
      </p:bgPr>
    </p:bg>
    <p:spTree>
      <p:nvGrpSpPr>
        <p:cNvPr id="1" name=""/>
        <p:cNvGrpSpPr/>
        <p:nvPr/>
      </p:nvGrpSpPr>
      <p:grpSpPr>
        <a:xfrm>
          <a:off x="0" y="0"/>
          <a:ext cx="0" cy="0"/>
          <a:chOff x="0" y="0"/>
          <a:chExt cx="0" cy="0"/>
        </a:xfrm>
      </p:grpSpPr>
      <p:sp>
        <p:nvSpPr>
          <p:cNvPr id="2" name="TextBox 1"/>
          <p:cNvSpPr txBox="1"/>
          <p:nvPr/>
        </p:nvSpPr>
        <p:spPr>
          <a:xfrm>
            <a:off x="813816" y="713232"/>
            <a:ext cx="10881360" cy="429768"/>
          </a:xfrm>
          <a:prstGeom prst="rect">
            <a:avLst/>
          </a:prstGeom>
          <a:noFill/>
        </p:spPr>
        <p:txBody>
          <a:bodyPr wrap="square" lIns="0" tIns="0" rIns="0" bIns="0" anchor="t">
            <a:spAutoFit/>
          </a:bodyPr>
          <a:lstStyle/>
          <a:p>
            <a:pPr algn="l">
              <a:spcAft>
                <a:spcPts val="800"/>
              </a:spcAft>
            </a:pPr>
            <a:r>
              <a:rPr sz="2800" b="1" i="0">
                <a:solidFill>
                  <a:srgbClr val="1F3A5F"/>
                </a:solidFill>
                <a:latin typeface="IBM Plex Sans"/>
                <a:ea typeface="IBM Plex Sans"/>
                <a:cs typeface="IBM Plex Sans"/>
              </a:rPr>
              <a:t>Section 4.2.1: the first step, reproduced</a:t>
            </a:r>
          </a:p>
        </p:txBody>
      </p:sp>
      <p:pic>
        <p:nvPicPr>
          <p:cNvPr id="3" name="Picture 2" descr="image.png"/>
          <p:cNvPicPr>
            <a:picLocks noChangeAspect="1"/>
          </p:cNvPicPr>
          <p:nvPr/>
        </p:nvPicPr>
        <p:blipFill>
          <a:blip r:embed="rId3"/>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tIns="0" rIns="0" bIns="0" anchor="t">
            <a:spAutoFit/>
          </a:bodyPr>
          <a:lstStyle/>
          <a:p>
            <a:pPr algn="l">
              <a:spcAft>
                <a:spcPts val="800"/>
              </a:spcAft>
            </a:pPr>
            <a:r>
              <a:rPr sz="1200" b="0" i="0">
                <a:solidFill>
                  <a:srgbClr val="6B7280"/>
                </a:solidFill>
                <a:latin typeface="IBM Plex Sans"/>
                <a:ea typeface="IBM Plex Sans"/>
                <a:cs typeface="IBM Plex Sans"/>
              </a:rPr>
              <a:t>Apurbo's part · 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tIns="0" rIns="0" bIns="0" anchor="t">
            <a:spAutoFit/>
          </a:bodyPr>
          <a:lstStyle/>
          <a:p>
            <a:pPr algn="r">
              <a:spcAft>
                <a:spcPts val="800"/>
              </a:spcAft>
            </a:pPr>
            <a:r>
              <a:rPr sz="1200" b="0" i="0">
                <a:solidFill>
                  <a:srgbClr val="6B7280"/>
                </a:solidFill>
                <a:latin typeface="IBM Plex Sans"/>
                <a:ea typeface="IBM Plex Sans"/>
                <a:cs typeface="IBM Plex Sans"/>
              </a:rPr>
              <a:t>5</a:t>
            </a:r>
          </a:p>
        </p:txBody>
      </p:sp>
      <p:pic>
        <p:nvPicPr>
          <p:cNvPr id="6" name="Picture 5" descr="first_step.png"/>
          <p:cNvPicPr>
            <a:picLocks noChangeAspect="1"/>
          </p:cNvPicPr>
          <p:nvPr/>
        </p:nvPicPr>
        <p:blipFill>
          <a:blip r:embed="rId4"/>
          <a:stretch>
            <a:fillRect/>
          </a:stretch>
        </p:blipFill>
        <p:spPr>
          <a:xfrm>
            <a:off x="722376" y="1397326"/>
            <a:ext cx="6766560" cy="3971907"/>
          </a:xfrm>
          <a:prstGeom prst="rect">
            <a:avLst/>
          </a:prstGeom>
        </p:spPr>
      </p:pic>
      <p:sp>
        <p:nvSpPr>
          <p:cNvPr id="7" name="TextBox 6"/>
          <p:cNvSpPr txBox="1"/>
          <p:nvPr/>
        </p:nvSpPr>
        <p:spPr>
          <a:xfrm>
            <a:off x="7772400" y="1463040"/>
            <a:ext cx="3657600" cy="457200"/>
          </a:xfrm>
          <a:prstGeom prst="rect">
            <a:avLst/>
          </a:prstGeom>
          <a:noFill/>
        </p:spPr>
        <p:txBody>
          <a:bodyPr wrap="square" lIns="0" tIns="0" rIns="0" bIns="0" anchor="t">
            <a:spAutoFit/>
          </a:bodyPr>
          <a:lstStyle/>
          <a:p>
            <a:pPr algn="l">
              <a:spcAft>
                <a:spcPts val="800"/>
              </a:spcAft>
            </a:pPr>
            <a:r>
              <a:rPr sz="1600" b="1" i="0">
                <a:solidFill>
                  <a:srgbClr val="1F3A5F"/>
                </a:solidFill>
                <a:latin typeface="IBM Plex Sans"/>
                <a:ea typeface="IBM Plex Sans"/>
                <a:cs typeface="IBM Plex Sans"/>
              </a:rPr>
              <a:t>case18482, ‖g‖ after one step</a:t>
            </a:r>
          </a:p>
        </p:txBody>
      </p:sp>
      <p:sp>
        <p:nvSpPr>
          <p:cNvPr id="8" name="TextBox 7"/>
          <p:cNvSpPr txBox="1"/>
          <p:nvPr/>
        </p:nvSpPr>
        <p:spPr>
          <a:xfrm>
            <a:off x="7772400" y="2011680"/>
            <a:ext cx="3657600" cy="822960"/>
          </a:xfrm>
          <a:prstGeom prst="rect">
            <a:avLst/>
          </a:prstGeom>
          <a:noFill/>
        </p:spPr>
        <p:txBody>
          <a:bodyPr wrap="square" lIns="0" tIns="0" rIns="0" bIns="0" anchor="t">
            <a:spAutoFit/>
          </a:bodyPr>
          <a:lstStyle/>
          <a:p>
            <a:pPr algn="l">
              <a:spcAft>
                <a:spcPts val="800"/>
              </a:spcAft>
            </a:pPr>
            <a:r>
              <a:rPr sz="3600" b="1" i="0">
                <a:solidFill>
                  <a:srgbClr val="B54A3F"/>
                </a:solidFill>
                <a:latin typeface="IBM Plex Sans"/>
                <a:ea typeface="IBM Plex Sans"/>
                <a:cs typeface="IBM Plex Sans"/>
              </a:rPr>
              <a:t>533 → 10¹³</a:t>
            </a:r>
          </a:p>
        </p:txBody>
      </p:sp>
      <p:sp>
        <p:nvSpPr>
          <p:cNvPr id="9" name="TextBox 8"/>
          <p:cNvSpPr txBox="1"/>
          <p:nvPr/>
        </p:nvSpPr>
        <p:spPr>
          <a:xfrm>
            <a:off x="7772400" y="2880360"/>
            <a:ext cx="3657600" cy="731520"/>
          </a:xfrm>
          <a:prstGeom prst="rect">
            <a:avLst/>
          </a:prstGeom>
          <a:noFill/>
        </p:spPr>
        <p:txBody>
          <a:bodyPr wrap="square" lIns="0" tIns="0" rIns="0" bIns="0" anchor="t">
            <a:spAutoFit/>
          </a:bodyPr>
          <a:lstStyle/>
          <a:p>
            <a:pPr algn="l">
              <a:spcAft>
                <a:spcPts val="800"/>
              </a:spcAft>
            </a:pPr>
            <a:r>
              <a:rPr sz="1500" b="0" i="0">
                <a:solidFill>
                  <a:srgbClr val="333A48"/>
                </a:solidFill>
                <a:latin typeface="IBM Plex Sans"/>
                <a:ea typeface="IBM Plex Sans"/>
                <a:cs typeface="IBM Plex Sans"/>
              </a:rPr>
              <a:t>forward Euler</a:t>
            </a:r>
          </a:p>
        </p:txBody>
      </p:sp>
      <p:sp>
        <p:nvSpPr>
          <p:cNvPr id="10" name="TextBox 9"/>
          <p:cNvSpPr txBox="1"/>
          <p:nvPr/>
        </p:nvSpPr>
        <p:spPr>
          <a:xfrm>
            <a:off x="7772400" y="3474720"/>
            <a:ext cx="3657600" cy="822960"/>
          </a:xfrm>
          <a:prstGeom prst="rect">
            <a:avLst/>
          </a:prstGeom>
          <a:noFill/>
        </p:spPr>
        <p:txBody>
          <a:bodyPr wrap="square" lIns="0" tIns="0" rIns="0" bIns="0" anchor="t">
            <a:spAutoFit/>
          </a:bodyPr>
          <a:lstStyle/>
          <a:p>
            <a:pPr algn="l">
              <a:spcAft>
                <a:spcPts val="800"/>
              </a:spcAft>
            </a:pPr>
            <a:r>
              <a:rPr sz="3600" b="1" i="0">
                <a:solidFill>
                  <a:srgbClr val="2F8F5B"/>
                </a:solidFill>
                <a:latin typeface="IBM Plex Sans"/>
                <a:ea typeface="IBM Plex Sans"/>
                <a:cs typeface="IBM Plex Sans"/>
              </a:rPr>
              <a:t>533 → 65</a:t>
            </a:r>
          </a:p>
        </p:txBody>
      </p:sp>
      <p:sp>
        <p:nvSpPr>
          <p:cNvPr id="11" name="TextBox 10"/>
          <p:cNvSpPr txBox="1"/>
          <p:nvPr/>
        </p:nvSpPr>
        <p:spPr>
          <a:xfrm>
            <a:off x="7772400" y="4343400"/>
            <a:ext cx="3657600" cy="731520"/>
          </a:xfrm>
          <a:prstGeom prst="rect">
            <a:avLst/>
          </a:prstGeom>
          <a:noFill/>
        </p:spPr>
        <p:txBody>
          <a:bodyPr wrap="square" lIns="0" tIns="0" rIns="0" bIns="0" anchor="t">
            <a:spAutoFit/>
          </a:bodyPr>
          <a:lstStyle/>
          <a:p>
            <a:pPr algn="l">
              <a:spcAft>
                <a:spcPts val="800"/>
              </a:spcAft>
            </a:pPr>
            <a:r>
              <a:rPr sz="1500" b="0" i="0">
                <a:solidFill>
                  <a:srgbClr val="333A48"/>
                </a:solidFill>
                <a:latin typeface="IBM Plex Sans"/>
                <a:ea typeface="IBM Plex Sans"/>
                <a:cs typeface="IBM Plex Sans"/>
              </a:rPr>
              <a:t>backward Euler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FBF9"/>
        </a:solidFill>
        <a:effectLst/>
      </p:bgPr>
    </p:bg>
    <p:spTree>
      <p:nvGrpSpPr>
        <p:cNvPr id="1" name=""/>
        <p:cNvGrpSpPr/>
        <p:nvPr/>
      </p:nvGrpSpPr>
      <p:grpSpPr>
        <a:xfrm>
          <a:off x="0" y="0"/>
          <a:ext cx="0" cy="0"/>
          <a:chOff x="0" y="0"/>
          <a:chExt cx="0" cy="0"/>
        </a:xfrm>
      </p:grpSpPr>
      <p:sp>
        <p:nvSpPr>
          <p:cNvPr id="2" name="TextBox 1"/>
          <p:cNvSpPr txBox="1"/>
          <p:nvPr/>
        </p:nvSpPr>
        <p:spPr>
          <a:xfrm>
            <a:off x="813816" y="713232"/>
            <a:ext cx="10881360" cy="429768"/>
          </a:xfrm>
          <a:prstGeom prst="rect">
            <a:avLst/>
          </a:prstGeom>
          <a:noFill/>
        </p:spPr>
        <p:txBody>
          <a:bodyPr wrap="square" lIns="0" tIns="0" rIns="0" bIns="0" anchor="t">
            <a:spAutoFit/>
          </a:bodyPr>
          <a:lstStyle/>
          <a:p>
            <a:pPr algn="l">
              <a:spcAft>
                <a:spcPts val="800"/>
              </a:spcAft>
            </a:pPr>
            <a:r>
              <a:rPr sz="2800" b="1" i="0">
                <a:solidFill>
                  <a:srgbClr val="1F3A5F"/>
                </a:solidFill>
                <a:latin typeface="IBM Plex Sans"/>
                <a:ea typeface="IBM Plex Sans"/>
                <a:cs typeface="IBM Plex Sans"/>
              </a:rPr>
              <a:t>Figure 4: the largest grid</a:t>
            </a:r>
          </a:p>
        </p:txBody>
      </p:sp>
      <p:pic>
        <p:nvPicPr>
          <p:cNvPr id="3" name="Picture 2" descr="image.png"/>
          <p:cNvPicPr>
            <a:picLocks noChangeAspect="1"/>
          </p:cNvPicPr>
          <p:nvPr/>
        </p:nvPicPr>
        <p:blipFill>
          <a:blip r:embed="rId3"/>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tIns="0" rIns="0" bIns="0" anchor="t">
            <a:spAutoFit/>
          </a:bodyPr>
          <a:lstStyle/>
          <a:p>
            <a:pPr algn="l">
              <a:spcAft>
                <a:spcPts val="800"/>
              </a:spcAft>
            </a:pPr>
            <a:r>
              <a:rPr sz="1200" b="0" i="0">
                <a:solidFill>
                  <a:srgbClr val="6B7280"/>
                </a:solidFill>
                <a:latin typeface="IBM Plex Sans"/>
                <a:ea typeface="IBM Plex Sans"/>
                <a:cs typeface="IBM Plex Sans"/>
              </a:rPr>
              <a:t>Apurbo's part · 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tIns="0" rIns="0" bIns="0" anchor="t">
            <a:spAutoFit/>
          </a:bodyPr>
          <a:lstStyle/>
          <a:p>
            <a:pPr algn="r">
              <a:spcAft>
                <a:spcPts val="800"/>
              </a:spcAft>
            </a:pPr>
            <a:r>
              <a:rPr sz="1200" b="0" i="0">
                <a:solidFill>
                  <a:srgbClr val="6B7280"/>
                </a:solidFill>
                <a:latin typeface="IBM Plex Sans"/>
                <a:ea typeface="IBM Plex Sans"/>
                <a:cs typeface="IBM Plex Sans"/>
              </a:rPr>
              <a:t>7</a:t>
            </a:r>
          </a:p>
        </p:txBody>
      </p:sp>
      <p:pic>
        <p:nvPicPr>
          <p:cNvPr id="6" name="Picture 5" descr="fig4_case109272_states.png"/>
          <p:cNvPicPr>
            <a:picLocks noChangeAspect="1"/>
          </p:cNvPicPr>
          <p:nvPr/>
        </p:nvPicPr>
        <p:blipFill>
          <a:blip r:embed="rId4"/>
          <a:stretch>
            <a:fillRect/>
          </a:stretch>
        </p:blipFill>
        <p:spPr>
          <a:xfrm>
            <a:off x="1089894" y="1325880"/>
            <a:ext cx="3288323" cy="4114800"/>
          </a:xfrm>
          <a:prstGeom prst="rect">
            <a:avLst/>
          </a:prstGeom>
        </p:spPr>
      </p:pic>
      <p:sp>
        <p:nvSpPr>
          <p:cNvPr id="7" name="TextBox 6"/>
          <p:cNvSpPr txBox="1"/>
          <p:nvPr/>
        </p:nvSpPr>
        <p:spPr>
          <a:xfrm>
            <a:off x="5486400" y="1645920"/>
            <a:ext cx="5669280" cy="822960"/>
          </a:xfrm>
          <a:prstGeom prst="rect">
            <a:avLst/>
          </a:prstGeom>
          <a:noFill/>
        </p:spPr>
        <p:txBody>
          <a:bodyPr wrap="square" lIns="0" tIns="0" rIns="0" bIns="0" anchor="t">
            <a:spAutoFit/>
          </a:bodyPr>
          <a:lstStyle/>
          <a:p>
            <a:pPr algn="l">
              <a:spcAft>
                <a:spcPts val="800"/>
              </a:spcAft>
            </a:pPr>
            <a:r>
              <a:rPr sz="4000" b="1" i="0">
                <a:solidFill>
                  <a:srgbClr val="1F3A5F"/>
                </a:solidFill>
                <a:latin typeface="IBM Plex Sans"/>
                <a:ea typeface="IBM Plex Sans"/>
                <a:cs typeface="IBM Plex Sans"/>
              </a:rPr>
              <a:t>2 path points + 4 NR</a:t>
            </a:r>
          </a:p>
        </p:txBody>
      </p:sp>
      <p:sp>
        <p:nvSpPr>
          <p:cNvPr id="8" name="TextBox 7"/>
          <p:cNvSpPr txBox="1"/>
          <p:nvPr/>
        </p:nvSpPr>
        <p:spPr>
          <a:xfrm>
            <a:off x="5486400" y="2514600"/>
            <a:ext cx="5669280" cy="731520"/>
          </a:xfrm>
          <a:prstGeom prst="rect">
            <a:avLst/>
          </a:prstGeom>
          <a:noFill/>
        </p:spPr>
        <p:txBody>
          <a:bodyPr wrap="square" lIns="0" tIns="0" rIns="0" bIns="0" anchor="t">
            <a:spAutoFit/>
          </a:bodyPr>
          <a:lstStyle/>
          <a:p>
            <a:pPr algn="l">
              <a:spcAft>
                <a:spcPts val="800"/>
              </a:spcAft>
            </a:pPr>
            <a:r>
              <a:rPr sz="1500" b="0" i="0">
                <a:solidFill>
                  <a:srgbClr val="333A48"/>
                </a:solidFill>
                <a:latin typeface="IBM Plex Sans"/>
                <a:ea typeface="IBM Plex Sans"/>
                <a:cs typeface="IBM Plex Sans"/>
              </a:rPr>
              <a:t>iterations on case109272 (185,807 unknowns), as in the paper</a:t>
            </a:r>
          </a:p>
        </p:txBody>
      </p:sp>
      <p:sp>
        <p:nvSpPr>
          <p:cNvPr id="9" name="TextBox 8"/>
          <p:cNvSpPr txBox="1"/>
          <p:nvPr/>
        </p:nvSpPr>
        <p:spPr>
          <a:xfrm>
            <a:off x="5486400" y="3291840"/>
            <a:ext cx="5669280" cy="822960"/>
          </a:xfrm>
          <a:prstGeom prst="rect">
            <a:avLst/>
          </a:prstGeom>
          <a:noFill/>
        </p:spPr>
        <p:txBody>
          <a:bodyPr wrap="square" lIns="0" tIns="0" rIns="0" bIns="0" anchor="t">
            <a:spAutoFit/>
          </a:bodyPr>
          <a:lstStyle/>
          <a:p>
            <a:pPr algn="l">
              <a:spcAft>
                <a:spcPts val="800"/>
              </a:spcAft>
            </a:pPr>
            <a:r>
              <a:rPr sz="4000" b="1" i="0">
                <a:solidFill>
                  <a:srgbClr val="1F3A5F"/>
                </a:solidFill>
                <a:latin typeface="IBM Plex Sans"/>
                <a:ea typeface="IBM Plex Sans"/>
                <a:cs typeface="IBM Plex Sans"/>
              </a:rPr>
              <a:t>1.0045 pu, 21.1°</a:t>
            </a:r>
          </a:p>
        </p:txBody>
      </p:sp>
      <p:sp>
        <p:nvSpPr>
          <p:cNvPr id="10" name="TextBox 9"/>
          <p:cNvSpPr txBox="1"/>
          <p:nvPr/>
        </p:nvSpPr>
        <p:spPr>
          <a:xfrm>
            <a:off x="5486400" y="4160520"/>
            <a:ext cx="5669280" cy="731520"/>
          </a:xfrm>
          <a:prstGeom prst="rect">
            <a:avLst/>
          </a:prstGeom>
          <a:noFill/>
        </p:spPr>
        <p:txBody>
          <a:bodyPr wrap="square" lIns="0" tIns="0" rIns="0" bIns="0" anchor="t">
            <a:spAutoFit/>
          </a:bodyPr>
          <a:lstStyle/>
          <a:p>
            <a:pPr algn="l">
              <a:spcAft>
                <a:spcPts val="800"/>
              </a:spcAft>
            </a:pPr>
            <a:r>
              <a:rPr sz="1500" b="0" i="0">
                <a:solidFill>
                  <a:srgbClr val="333A48"/>
                </a:solidFill>
                <a:latin typeface="IBM Plex Sans"/>
                <a:ea typeface="IBM Plex Sans"/>
                <a:cs typeface="IBM Plex Sans"/>
              </a:rPr>
              <a:t>final voltage at bus 6, the same as the paper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BFBF9"/>
        </a:solidFill>
        <a:effectLst/>
      </p:bgPr>
    </p:bg>
    <p:spTree>
      <p:nvGrpSpPr>
        <p:cNvPr id="1" name=""/>
        <p:cNvGrpSpPr/>
        <p:nvPr/>
      </p:nvGrpSpPr>
      <p:grpSpPr>
        <a:xfrm>
          <a:off x="0" y="0"/>
          <a:ext cx="0" cy="0"/>
          <a:chOff x="0" y="0"/>
          <a:chExt cx="0" cy="0"/>
        </a:xfrm>
      </p:grpSpPr>
      <p:sp>
        <p:nvSpPr>
          <p:cNvPr id="2" name="TextBox 1"/>
          <p:cNvSpPr txBox="1"/>
          <p:nvPr/>
        </p:nvSpPr>
        <p:spPr>
          <a:xfrm>
            <a:off x="813816" y="713232"/>
            <a:ext cx="10881360" cy="429768"/>
          </a:xfrm>
          <a:prstGeom prst="rect">
            <a:avLst/>
          </a:prstGeom>
          <a:noFill/>
        </p:spPr>
        <p:txBody>
          <a:bodyPr wrap="square" lIns="0" tIns="0" rIns="0" bIns="0" anchor="t">
            <a:spAutoFit/>
          </a:bodyPr>
          <a:lstStyle/>
          <a:p>
            <a:pPr algn="l">
              <a:spcAft>
                <a:spcPts val="800"/>
              </a:spcAft>
            </a:pPr>
            <a:r>
              <a:rPr sz="2800" b="1" i="0">
                <a:solidFill>
                  <a:srgbClr val="1F3A5F"/>
                </a:solidFill>
                <a:latin typeface="IBM Plex Sans"/>
                <a:ea typeface="IBM Plex Sans"/>
                <a:cs typeface="IBM Plex Sans"/>
              </a:rPr>
              <a:t>One solver with switches: solve()</a:t>
            </a:r>
          </a:p>
        </p:txBody>
      </p:sp>
      <p:pic>
        <p:nvPicPr>
          <p:cNvPr id="3" name="Picture 2" descr="image.png"/>
          <p:cNvPicPr>
            <a:picLocks noChangeAspect="1"/>
          </p:cNvPicPr>
          <p:nvPr/>
        </p:nvPicPr>
        <p:blipFill>
          <a:blip r:embed="rId3"/>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tIns="0" rIns="0" bIns="0" anchor="t">
            <a:spAutoFit/>
          </a:bodyPr>
          <a:lstStyle/>
          <a:p>
            <a:pPr algn="l">
              <a:spcAft>
                <a:spcPts val="800"/>
              </a:spcAft>
            </a:pPr>
            <a:r>
              <a:rPr sz="1200" b="0" i="0">
                <a:solidFill>
                  <a:srgbClr val="6B7280"/>
                </a:solidFill>
                <a:latin typeface="IBM Plex Sans"/>
                <a:ea typeface="IBM Plex Sans"/>
                <a:cs typeface="IBM Plex Sans"/>
              </a:rPr>
              <a:t>Apurbo's part · 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tIns="0" rIns="0" bIns="0" anchor="t">
            <a:spAutoFit/>
          </a:bodyPr>
          <a:lstStyle/>
          <a:p>
            <a:pPr algn="r">
              <a:spcAft>
                <a:spcPts val="800"/>
              </a:spcAft>
            </a:pPr>
            <a:r>
              <a:rPr sz="1200" b="0" i="0">
                <a:solidFill>
                  <a:srgbClr val="6B7280"/>
                </a:solidFill>
                <a:latin typeface="IBM Plex Sans"/>
                <a:ea typeface="IBM Plex Sans"/>
                <a:cs typeface="IBM Plex Sans"/>
              </a:rPr>
              <a:t>8</a:t>
            </a:r>
          </a:p>
        </p:txBody>
      </p:sp>
      <p:sp>
        <p:nvSpPr>
          <p:cNvPr id="6" name="Rounded Rectangle 5"/>
          <p:cNvSpPr/>
          <p:nvPr/>
        </p:nvSpPr>
        <p:spPr>
          <a:xfrm>
            <a:off x="813816" y="1600200"/>
            <a:ext cx="1783080" cy="731520"/>
          </a:xfrm>
          <a:prstGeom prst="roundRect">
            <a:avLst>
              <a:gd name="adj" fmla="val 1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FFFFFF"/>
                </a:solidFill>
                <a:latin typeface="IBM Plex Sans"/>
                <a:ea typeface="IBM Plex Sans"/>
                <a:cs typeface="IBM Plex Sans"/>
              </a:rPr>
              <a:t>flat start</a:t>
            </a:r>
          </a:p>
        </p:txBody>
      </p:sp>
      <p:sp>
        <p:nvSpPr>
          <p:cNvPr id="7" name="Right Arrow 6"/>
          <p:cNvSpPr/>
          <p:nvPr/>
        </p:nvSpPr>
        <p:spPr>
          <a:xfrm>
            <a:off x="2660904" y="1828800"/>
            <a:ext cx="256031" cy="274320"/>
          </a:xfrm>
          <a:prstGeom prst="rightArrow">
            <a:avLst/>
          </a:prstGeom>
          <a:solidFill>
            <a:srgbClr val="A8B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2980944" y="1600200"/>
            <a:ext cx="1783080" cy="731520"/>
          </a:xfrm>
          <a:prstGeom prst="roundRect">
            <a:avLst>
              <a:gd name="adj" fmla="val 18000"/>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1F3A5F"/>
                </a:solidFill>
                <a:latin typeface="IBM Plex Sans"/>
                <a:ea typeface="IBM Plex Sans"/>
                <a:cs typeface="IBM Plex Sans"/>
              </a:rPr>
              <a:t>path: step rule</a:t>
            </a:r>
          </a:p>
        </p:txBody>
      </p:sp>
      <p:sp>
        <p:nvSpPr>
          <p:cNvPr id="9" name="Right Arrow 8"/>
          <p:cNvSpPr/>
          <p:nvPr/>
        </p:nvSpPr>
        <p:spPr>
          <a:xfrm>
            <a:off x="4828032" y="1828800"/>
            <a:ext cx="256031" cy="274320"/>
          </a:xfrm>
          <a:prstGeom prst="rightArrow">
            <a:avLst/>
          </a:prstGeom>
          <a:solidFill>
            <a:srgbClr val="A8B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148072" y="1600200"/>
            <a:ext cx="1783080" cy="731520"/>
          </a:xfrm>
          <a:prstGeom prst="roundRect">
            <a:avLst>
              <a:gd name="adj" fmla="val 18000"/>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1F3A5F"/>
                </a:solidFill>
                <a:latin typeface="IBM Plex Sans"/>
                <a:ea typeface="IBM Plex Sans"/>
                <a:cs typeface="IBM Plex Sans"/>
              </a:rPr>
              <a:t>corrector?</a:t>
            </a:r>
          </a:p>
        </p:txBody>
      </p:sp>
      <p:sp>
        <p:nvSpPr>
          <p:cNvPr id="11" name="Right Arrow 10"/>
          <p:cNvSpPr/>
          <p:nvPr/>
        </p:nvSpPr>
        <p:spPr>
          <a:xfrm>
            <a:off x="6995160" y="1828800"/>
            <a:ext cx="256031" cy="274320"/>
          </a:xfrm>
          <a:prstGeom prst="rightArrow">
            <a:avLst/>
          </a:prstGeom>
          <a:solidFill>
            <a:srgbClr val="A8B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7315200" y="1600200"/>
            <a:ext cx="1783080" cy="731520"/>
          </a:xfrm>
          <a:prstGeom prst="roundRect">
            <a:avLst>
              <a:gd name="adj" fmla="val 18000"/>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1F3A5F"/>
                </a:solidFill>
                <a:latin typeface="IBM Plex Sans"/>
                <a:ea typeface="IBM Plex Sans"/>
                <a:cs typeface="IBM Plex Sans"/>
              </a:rPr>
              <a:t>adaptive or Richardson?</a:t>
            </a:r>
          </a:p>
        </p:txBody>
      </p:sp>
      <p:sp>
        <p:nvSpPr>
          <p:cNvPr id="13" name="Right Arrow 12"/>
          <p:cNvSpPr/>
          <p:nvPr/>
        </p:nvSpPr>
        <p:spPr>
          <a:xfrm>
            <a:off x="9162288" y="1828800"/>
            <a:ext cx="256031" cy="274320"/>
          </a:xfrm>
          <a:prstGeom prst="rightArrow">
            <a:avLst/>
          </a:prstGeom>
          <a:solidFill>
            <a:srgbClr val="A8B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9482328" y="1600200"/>
            <a:ext cx="1783080" cy="731520"/>
          </a:xfrm>
          <a:prstGeom prst="roundRect">
            <a:avLst>
              <a:gd name="adj" fmla="val 18000"/>
            </a:avLst>
          </a:prstGeom>
          <a:solidFill>
            <a:srgbClr val="F1EFEA"/>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1F3A5F"/>
                </a:solidFill>
                <a:latin typeface="IBM Plex Sans"/>
                <a:ea typeface="IBM Plex Sans"/>
                <a:cs typeface="IBM Plex Sans"/>
              </a:rPr>
              <a:t>NR / FDXB (multiplier?)</a:t>
            </a:r>
          </a:p>
        </p:txBody>
      </p:sp>
      <p:graphicFrame>
        <p:nvGraphicFramePr>
          <p:cNvPr id="15" name="Table 14"/>
          <p:cNvGraphicFramePr>
            <a:graphicFrameLocks noGrp="1"/>
          </p:cNvGraphicFramePr>
          <p:nvPr/>
        </p:nvGraphicFramePr>
        <p:xfrm>
          <a:off x="813816" y="2743200"/>
          <a:ext cx="7315200" cy="1920240"/>
        </p:xfrm>
        <a:graphic>
          <a:graphicData uri="http://schemas.openxmlformats.org/drawingml/2006/table">
            <a:tbl>
              <a:tblPr>
                <a:tableStyleId>{2D5ABB26-0587-4C30-8999-92F81FD0307C}</a:tableStyleId>
              </a:tblPr>
              <a:tblGrid>
                <a:gridCol w="23774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algn="l"/>
                      <a:r>
                        <a:rPr sz="1500" b="1" i="0">
                          <a:solidFill>
                            <a:srgbClr val="1B1F2A"/>
                          </a:solidFill>
                          <a:latin typeface="IBM Plex Sans"/>
                          <a:ea typeface="IBM Plex Sans"/>
                          <a:cs typeface="IBM Plex Sans"/>
                        </a:rPr>
                        <a:t>Switch</a:t>
                      </a:r>
                    </a:p>
                  </a:txBody>
                  <a:tcPr marL="73152" marR="73152" marT="36576" marB="36576" anchor="ctr">
                    <a:lnL w="0">
                      <a:noFill/>
                    </a:lnL>
                    <a:lnR w="0">
                      <a:noFill/>
                    </a:lnR>
                    <a:lnT w="0">
                      <a:noFill/>
                    </a:lnT>
                    <a:lnB w="12700">
                      <a:solidFill>
                        <a:srgbClr val="C8C8C6"/>
                      </a:solidFill>
                    </a:lnB>
                    <a:solidFill>
                      <a:srgbClr val="E9E9E7"/>
                    </a:solidFill>
                  </a:tcPr>
                </a:tc>
                <a:tc>
                  <a:txBody>
                    <a:bodyPr/>
                    <a:lstStyle/>
                    <a:p>
                      <a:pPr algn="l"/>
                      <a:r>
                        <a:rPr sz="1500" b="1" i="0">
                          <a:solidFill>
                            <a:srgbClr val="1B1F2A"/>
                          </a:solidFill>
                          <a:latin typeface="IBM Plex Sans"/>
                          <a:ea typeface="IBM Plex Sans"/>
                          <a:cs typeface="IBM Plex Sans"/>
                        </a:rPr>
                        <a:t>Options</a:t>
                      </a:r>
                    </a:p>
                  </a:txBody>
                  <a:tcPr marL="73152" marR="73152" marT="36576" marB="36576" anchor="ctr">
                    <a:lnL w="0">
                      <a:noFill/>
                    </a:lnL>
                    <a:lnR w="0">
                      <a:noFill/>
                    </a:lnR>
                    <a:lnT w="0">
                      <a:noFill/>
                    </a:lnT>
                    <a:lnB w="12700">
                      <a:solidFill>
                        <a:srgbClr val="C8C8C6"/>
                      </a:solidFill>
                    </a:lnB>
                    <a:solidFill>
                      <a:srgbClr val="E9E9E7"/>
                    </a:solidFill>
                  </a:tcPr>
                </a:tc>
                <a:tc>
                  <a:txBody>
                    <a:bodyPr/>
                    <a:lstStyle/>
                    <a:p>
                      <a:pPr algn="l"/>
                      <a:r>
                        <a:rPr sz="1500" b="1" i="0">
                          <a:solidFill>
                            <a:srgbClr val="1B1F2A"/>
                          </a:solidFill>
                          <a:latin typeface="IBM Plex Sans"/>
                          <a:ea typeface="IBM Plex Sans"/>
                          <a:cs typeface="IBM Plex Sans"/>
                        </a:rPr>
                        <a:t>Owner</a:t>
                      </a:r>
                    </a:p>
                  </a:txBody>
                  <a:tcPr marL="73152" marR="73152" marT="36576" marB="36576" anchor="ctr">
                    <a:lnL w="0">
                      <a:noFill/>
                    </a:lnL>
                    <a:lnR w="0">
                      <a:noFill/>
                    </a:lnR>
                    <a:lnT w="0">
                      <a:noFill/>
                    </a:lnT>
                    <a:lnB w="12700">
                      <a:solidFill>
                        <a:srgbClr val="C8C8C6"/>
                      </a:solidFill>
                    </a:lnB>
                    <a:solidFill>
                      <a:srgbClr val="E9E9E7"/>
                    </a:solidFill>
                  </a:tcPr>
                </a:tc>
                <a:extLst>
                  <a:ext uri="{0D108BD9-81ED-4DB2-BD59-A6C34878D82A}">
                    <a16:rowId xmlns:a16="http://schemas.microsoft.com/office/drawing/2014/main" val="10000"/>
                  </a:ext>
                </a:extLst>
              </a:tr>
              <a:tr h="384048">
                <a:tc>
                  <a:txBody>
                    <a:bodyPr/>
                    <a:lstStyle/>
                    <a:p>
                      <a:pPr algn="l"/>
                      <a:r>
                        <a:rPr sz="1500" b="0" i="0">
                          <a:solidFill>
                            <a:srgbClr val="1B1F2A"/>
                          </a:solidFill>
                          <a:latin typeface="IBM Plex Sans"/>
                          <a:ea typeface="IBM Plex Sans"/>
                          <a:cs typeface="IBM Plex Sans"/>
                        </a:rPr>
                        <a:t>step</a:t>
                      </a:r>
                    </a:p>
                  </a:txBody>
                  <a:tcPr marL="73152" marR="73152" marT="36576" marB="36576" anchor="ctr">
                    <a:lnL w="0">
                      <a:noFill/>
                    </a:lnL>
                    <a:lnR w="0">
                      <a:noFill/>
                    </a:lnR>
                    <a:lnT w="12700" cap="flat" cmpd="sng" algn="ctr">
                      <a:solidFill>
                        <a:srgbClr val="C8C8C6"/>
                      </a:solidFill>
                      <a:prstDash val="solid"/>
                      <a:round/>
                      <a:headEnd type="none" w="med" len="med"/>
                      <a:tailEnd type="none" w="med" len="med"/>
                    </a:lnT>
                    <a:lnB w="12700">
                      <a:solidFill>
                        <a:srgbClr val="C8C8C6"/>
                      </a:solidFill>
                    </a:lnB>
                    <a:solidFill>
                      <a:srgbClr val="FBFBF9"/>
                    </a:solidFill>
                  </a:tcPr>
                </a:tc>
                <a:tc>
                  <a:txBody>
                    <a:bodyPr/>
                    <a:lstStyle/>
                    <a:p>
                      <a:pPr algn="l"/>
                      <a:r>
                        <a:rPr sz="1500" b="0" i="0">
                          <a:solidFill>
                            <a:srgbClr val="1B1F2A"/>
                          </a:solidFill>
                          <a:latin typeface="IBM Plex Sans"/>
                          <a:ea typeface="IBM Plex Sans"/>
                          <a:cs typeface="IBM Plex Sans"/>
                        </a:rPr>
                        <a:t>BE, FE, RK2, RK4, BE-chord</a:t>
                      </a:r>
                    </a:p>
                  </a:txBody>
                  <a:tcPr marL="73152" marR="73152" marT="36576" marB="36576" anchor="ctr">
                    <a:lnL w="0">
                      <a:noFill/>
                    </a:lnL>
                    <a:lnR w="0">
                      <a:noFill/>
                    </a:lnR>
                    <a:lnT w="12700" cap="flat" cmpd="sng" algn="ctr">
                      <a:solidFill>
                        <a:srgbClr val="C8C8C6"/>
                      </a:solidFill>
                      <a:prstDash val="solid"/>
                      <a:round/>
                      <a:headEnd type="none" w="med" len="med"/>
                      <a:tailEnd type="none" w="med" len="med"/>
                    </a:lnT>
                    <a:lnB w="12700">
                      <a:solidFill>
                        <a:srgbClr val="C8C8C6"/>
                      </a:solidFill>
                    </a:lnB>
                    <a:solidFill>
                      <a:srgbClr val="FBFBF9"/>
                    </a:solidFill>
                  </a:tcPr>
                </a:tc>
                <a:tc>
                  <a:txBody>
                    <a:bodyPr/>
                    <a:lstStyle/>
                    <a:p>
                      <a:pPr algn="l"/>
                      <a:r>
                        <a:rPr sz="1500" b="0" i="0">
                          <a:solidFill>
                            <a:srgbClr val="1B1F2A"/>
                          </a:solidFill>
                          <a:latin typeface="IBM Plex Sans"/>
                          <a:ea typeface="IBM Plex Sans"/>
                          <a:cs typeface="IBM Plex Sans"/>
                        </a:rPr>
                        <a:t>Sizan</a:t>
                      </a:r>
                    </a:p>
                  </a:txBody>
                  <a:tcPr marL="73152" marR="73152" marT="36576" marB="36576" anchor="ctr">
                    <a:lnL w="0">
                      <a:noFill/>
                    </a:lnL>
                    <a:lnR w="0">
                      <a:noFill/>
                    </a:lnR>
                    <a:lnT w="12700" cap="flat" cmpd="sng" algn="ctr">
                      <a:solidFill>
                        <a:srgbClr val="C8C8C6"/>
                      </a:solidFill>
                      <a:prstDash val="solid"/>
                      <a:round/>
                      <a:headEnd type="none" w="med" len="med"/>
                      <a:tailEnd type="none" w="med" len="med"/>
                    </a:lnT>
                    <a:lnB w="12700">
                      <a:solidFill>
                        <a:srgbClr val="C8C8C6"/>
                      </a:solidFill>
                    </a:lnB>
                    <a:solidFill>
                      <a:srgbClr val="FBFBF9"/>
                    </a:solidFill>
                  </a:tcPr>
                </a:tc>
                <a:extLst>
                  <a:ext uri="{0D108BD9-81ED-4DB2-BD59-A6C34878D82A}">
                    <a16:rowId xmlns:a16="http://schemas.microsoft.com/office/drawing/2014/main" val="10001"/>
                  </a:ext>
                </a:extLst>
              </a:tr>
              <a:tr h="384048">
                <a:tc>
                  <a:txBody>
                    <a:bodyPr/>
                    <a:lstStyle/>
                    <a:p>
                      <a:pPr algn="l"/>
                      <a:r>
                        <a:rPr sz="1500" b="0" i="0">
                          <a:solidFill>
                            <a:srgbClr val="1B1F2A"/>
                          </a:solidFill>
                          <a:latin typeface="IBM Plex Sans"/>
                          <a:ea typeface="IBM Plex Sans"/>
                          <a:cs typeface="IBM Plex Sans"/>
                        </a:rPr>
                        <a:t>corrector, adaptive</a:t>
                      </a:r>
                    </a:p>
                  </a:txBody>
                  <a:tcPr marL="73152" marR="73152" marT="36576" marB="36576" anchor="ctr">
                    <a:lnL w="0">
                      <a:noFill/>
                    </a:lnL>
                    <a:lnR w="0">
                      <a:noFill/>
                    </a:lnR>
                    <a:lnT w="12700" cap="flat" cmpd="sng" algn="ctr">
                      <a:solidFill>
                        <a:srgbClr val="C8C8C6"/>
                      </a:solidFill>
                      <a:prstDash val="solid"/>
                      <a:round/>
                      <a:headEnd type="none" w="med" len="med"/>
                      <a:tailEnd type="none" w="med" len="med"/>
                    </a:lnT>
                    <a:lnB w="12700">
                      <a:solidFill>
                        <a:srgbClr val="C8C8C6"/>
                      </a:solidFill>
                    </a:lnB>
                    <a:solidFill>
                      <a:srgbClr val="FBFBF9"/>
                    </a:solidFill>
                  </a:tcPr>
                </a:tc>
                <a:tc>
                  <a:txBody>
                    <a:bodyPr/>
                    <a:lstStyle/>
                    <a:p>
                      <a:pPr algn="l"/>
                      <a:r>
                        <a:rPr sz="1500" b="0" i="0">
                          <a:solidFill>
                            <a:srgbClr val="1B1F2A"/>
                          </a:solidFill>
                          <a:latin typeface="IBM Plex Sans"/>
                          <a:ea typeface="IBM Plex Sans"/>
                          <a:cs typeface="IBM Plex Sans"/>
                        </a:rPr>
                        <a:t>on / off</a:t>
                      </a:r>
                    </a:p>
                  </a:txBody>
                  <a:tcPr marL="73152" marR="73152" marT="36576" marB="36576" anchor="ctr">
                    <a:lnL w="0">
                      <a:noFill/>
                    </a:lnL>
                    <a:lnR w="0">
                      <a:noFill/>
                    </a:lnR>
                    <a:lnT w="12700" cap="flat" cmpd="sng" algn="ctr">
                      <a:solidFill>
                        <a:srgbClr val="C8C8C6"/>
                      </a:solidFill>
                      <a:prstDash val="solid"/>
                      <a:round/>
                      <a:headEnd type="none" w="med" len="med"/>
                      <a:tailEnd type="none" w="med" len="med"/>
                    </a:lnT>
                    <a:lnB w="12700">
                      <a:solidFill>
                        <a:srgbClr val="C8C8C6"/>
                      </a:solidFill>
                    </a:lnB>
                    <a:solidFill>
                      <a:srgbClr val="FBFBF9"/>
                    </a:solidFill>
                  </a:tcPr>
                </a:tc>
                <a:tc>
                  <a:txBody>
                    <a:bodyPr/>
                    <a:lstStyle/>
                    <a:p>
                      <a:pPr algn="l"/>
                      <a:r>
                        <a:rPr sz="1500" b="0" i="0">
                          <a:solidFill>
                            <a:srgbClr val="1B1F2A"/>
                          </a:solidFill>
                          <a:latin typeface="IBM Plex Sans"/>
                          <a:ea typeface="IBM Plex Sans"/>
                          <a:cs typeface="IBM Plex Sans"/>
                        </a:rPr>
                        <a:t>Apurbo</a:t>
                      </a:r>
                    </a:p>
                  </a:txBody>
                  <a:tcPr marL="73152" marR="73152" marT="36576" marB="36576" anchor="ctr">
                    <a:lnL w="0">
                      <a:noFill/>
                    </a:lnL>
                    <a:lnR w="0">
                      <a:noFill/>
                    </a:lnR>
                    <a:lnT w="12700" cap="flat" cmpd="sng" algn="ctr">
                      <a:solidFill>
                        <a:srgbClr val="C8C8C6"/>
                      </a:solidFill>
                      <a:prstDash val="solid"/>
                      <a:round/>
                      <a:headEnd type="none" w="med" len="med"/>
                      <a:tailEnd type="none" w="med" len="med"/>
                    </a:lnT>
                    <a:lnB w="12700">
                      <a:solidFill>
                        <a:srgbClr val="C8C8C6"/>
                      </a:solidFill>
                    </a:lnB>
                    <a:solidFill>
                      <a:srgbClr val="FBFBF9"/>
                    </a:solidFill>
                  </a:tcPr>
                </a:tc>
                <a:extLst>
                  <a:ext uri="{0D108BD9-81ED-4DB2-BD59-A6C34878D82A}">
                    <a16:rowId xmlns:a16="http://schemas.microsoft.com/office/drawing/2014/main" val="10002"/>
                  </a:ext>
                </a:extLst>
              </a:tr>
              <a:tr h="384048">
                <a:tc>
                  <a:txBody>
                    <a:bodyPr/>
                    <a:lstStyle/>
                    <a:p>
                      <a:pPr algn="l"/>
                      <a:r>
                        <a:rPr sz="1500" b="0" i="0">
                          <a:solidFill>
                            <a:srgbClr val="1B1F2A"/>
                          </a:solidFill>
                          <a:latin typeface="IBM Plex Sans"/>
                          <a:ea typeface="IBM Plex Sans"/>
                          <a:cs typeface="IBM Plex Sans"/>
                        </a:rPr>
                        <a:t>multiplier</a:t>
                      </a:r>
                    </a:p>
                  </a:txBody>
                  <a:tcPr marL="73152" marR="73152" marT="36576" marB="36576" anchor="ctr">
                    <a:lnL w="0">
                      <a:noFill/>
                    </a:lnL>
                    <a:lnR w="0">
                      <a:noFill/>
                    </a:lnR>
                    <a:lnT w="12700" cap="flat" cmpd="sng" algn="ctr">
                      <a:solidFill>
                        <a:srgbClr val="C8C8C6"/>
                      </a:solidFill>
                      <a:prstDash val="solid"/>
                      <a:round/>
                      <a:headEnd type="none" w="med" len="med"/>
                      <a:tailEnd type="none" w="med" len="med"/>
                    </a:lnT>
                    <a:lnB w="12700">
                      <a:solidFill>
                        <a:srgbClr val="C8C8C6"/>
                      </a:solidFill>
                    </a:lnB>
                    <a:solidFill>
                      <a:srgbClr val="FBFBF9"/>
                    </a:solidFill>
                  </a:tcPr>
                </a:tc>
                <a:tc>
                  <a:txBody>
                    <a:bodyPr/>
                    <a:lstStyle/>
                    <a:p>
                      <a:pPr algn="l"/>
                      <a:r>
                        <a:rPr sz="1500" b="0" i="0">
                          <a:solidFill>
                            <a:srgbClr val="1B1F2A"/>
                          </a:solidFill>
                          <a:latin typeface="IBM Plex Sans"/>
                          <a:ea typeface="IBM Plex Sans"/>
                          <a:cs typeface="IBM Plex Sans"/>
                        </a:rPr>
                        <a:t>on / off</a:t>
                      </a:r>
                    </a:p>
                  </a:txBody>
                  <a:tcPr marL="73152" marR="73152" marT="36576" marB="36576" anchor="ctr">
                    <a:lnL w="0">
                      <a:noFill/>
                    </a:lnL>
                    <a:lnR w="0">
                      <a:noFill/>
                    </a:lnR>
                    <a:lnT w="12700" cap="flat" cmpd="sng" algn="ctr">
                      <a:solidFill>
                        <a:srgbClr val="C8C8C6"/>
                      </a:solidFill>
                      <a:prstDash val="solid"/>
                      <a:round/>
                      <a:headEnd type="none" w="med" len="med"/>
                      <a:tailEnd type="none" w="med" len="med"/>
                    </a:lnT>
                    <a:lnB w="12700">
                      <a:solidFill>
                        <a:srgbClr val="C8C8C6"/>
                      </a:solidFill>
                    </a:lnB>
                    <a:solidFill>
                      <a:srgbClr val="FBFBF9"/>
                    </a:solidFill>
                  </a:tcPr>
                </a:tc>
                <a:tc>
                  <a:txBody>
                    <a:bodyPr/>
                    <a:lstStyle/>
                    <a:p>
                      <a:pPr algn="l"/>
                      <a:r>
                        <a:rPr sz="1500" b="0" i="0">
                          <a:solidFill>
                            <a:srgbClr val="1B1F2A"/>
                          </a:solidFill>
                          <a:latin typeface="IBM Plex Sans"/>
                          <a:ea typeface="IBM Plex Sans"/>
                          <a:cs typeface="IBM Plex Sans"/>
                        </a:rPr>
                        <a:t>Hasbi</a:t>
                      </a:r>
                    </a:p>
                  </a:txBody>
                  <a:tcPr marL="73152" marR="73152" marT="36576" marB="36576" anchor="ctr">
                    <a:lnL w="0">
                      <a:noFill/>
                    </a:lnL>
                    <a:lnR w="0">
                      <a:noFill/>
                    </a:lnR>
                    <a:lnT w="12700" cap="flat" cmpd="sng" algn="ctr">
                      <a:solidFill>
                        <a:srgbClr val="C8C8C6"/>
                      </a:solidFill>
                      <a:prstDash val="solid"/>
                      <a:round/>
                      <a:headEnd type="none" w="med" len="med"/>
                      <a:tailEnd type="none" w="med" len="med"/>
                    </a:lnT>
                    <a:lnB w="12700">
                      <a:solidFill>
                        <a:srgbClr val="C8C8C6"/>
                      </a:solidFill>
                    </a:lnB>
                    <a:solidFill>
                      <a:srgbClr val="FBFBF9"/>
                    </a:solidFill>
                  </a:tcPr>
                </a:tc>
                <a:extLst>
                  <a:ext uri="{0D108BD9-81ED-4DB2-BD59-A6C34878D82A}">
                    <a16:rowId xmlns:a16="http://schemas.microsoft.com/office/drawing/2014/main" val="10003"/>
                  </a:ext>
                </a:extLst>
              </a:tr>
              <a:tr h="384048">
                <a:tc>
                  <a:txBody>
                    <a:bodyPr/>
                    <a:lstStyle/>
                    <a:p>
                      <a:pPr algn="l"/>
                      <a:r>
                        <a:rPr sz="1500" b="0" i="0">
                          <a:solidFill>
                            <a:srgbClr val="1B1F2A"/>
                          </a:solidFill>
                          <a:latin typeface="IBM Plex Sans"/>
                          <a:ea typeface="IBM Plex Sans"/>
                          <a:cs typeface="IBM Plex Sans"/>
                        </a:rPr>
                        <a:t>richardson</a:t>
                      </a:r>
                    </a:p>
                  </a:txBody>
                  <a:tcPr marL="73152" marR="73152" marT="36576" marB="36576" anchor="ctr">
                    <a:lnL w="0">
                      <a:noFill/>
                    </a:lnL>
                    <a:lnR w="0">
                      <a:noFill/>
                    </a:lnR>
                    <a:lnT w="12700" cap="flat" cmpd="sng" algn="ctr">
                      <a:solidFill>
                        <a:srgbClr val="C8C8C6"/>
                      </a:solidFill>
                      <a:prstDash val="solid"/>
                      <a:round/>
                      <a:headEnd type="none" w="med" len="med"/>
                      <a:tailEnd type="none" w="med" len="med"/>
                    </a:lnT>
                    <a:lnB w="12700">
                      <a:solidFill>
                        <a:srgbClr val="C8C8C6"/>
                      </a:solidFill>
                    </a:lnB>
                    <a:solidFill>
                      <a:srgbClr val="FBFBF9"/>
                    </a:solidFill>
                  </a:tcPr>
                </a:tc>
                <a:tc>
                  <a:txBody>
                    <a:bodyPr/>
                    <a:lstStyle/>
                    <a:p>
                      <a:pPr algn="l"/>
                      <a:r>
                        <a:rPr sz="1500" b="0" i="0">
                          <a:solidFill>
                            <a:srgbClr val="1B1F2A"/>
                          </a:solidFill>
                          <a:latin typeface="IBM Plex Sans"/>
                          <a:ea typeface="IBM Plex Sans"/>
                          <a:cs typeface="IBM Plex Sans"/>
                        </a:rPr>
                        <a:t>on / off</a:t>
                      </a:r>
                    </a:p>
                  </a:txBody>
                  <a:tcPr marL="73152" marR="73152" marT="36576" marB="36576" anchor="ctr">
                    <a:lnL w="0">
                      <a:noFill/>
                    </a:lnL>
                    <a:lnR w="0">
                      <a:noFill/>
                    </a:lnR>
                    <a:lnT w="12700" cap="flat" cmpd="sng" algn="ctr">
                      <a:solidFill>
                        <a:srgbClr val="C8C8C6"/>
                      </a:solidFill>
                      <a:prstDash val="solid"/>
                      <a:round/>
                      <a:headEnd type="none" w="med" len="med"/>
                      <a:tailEnd type="none" w="med" len="med"/>
                    </a:lnT>
                    <a:lnB w="12700">
                      <a:solidFill>
                        <a:srgbClr val="C8C8C6"/>
                      </a:solidFill>
                    </a:lnB>
                    <a:solidFill>
                      <a:srgbClr val="FBFBF9"/>
                    </a:solidFill>
                  </a:tcPr>
                </a:tc>
                <a:tc>
                  <a:txBody>
                    <a:bodyPr/>
                    <a:lstStyle/>
                    <a:p>
                      <a:pPr algn="l"/>
                      <a:r>
                        <a:rPr sz="1500" b="0" i="0">
                          <a:solidFill>
                            <a:srgbClr val="1B1F2A"/>
                          </a:solidFill>
                          <a:latin typeface="IBM Plex Sans"/>
                          <a:ea typeface="IBM Plex Sans"/>
                          <a:cs typeface="IBM Plex Sans"/>
                        </a:rPr>
                        <a:t>Sadman</a:t>
                      </a:r>
                    </a:p>
                  </a:txBody>
                  <a:tcPr marL="73152" marR="73152" marT="36576" marB="36576" anchor="ctr">
                    <a:lnL w="0">
                      <a:noFill/>
                    </a:lnL>
                    <a:lnR w="0">
                      <a:noFill/>
                    </a:lnR>
                    <a:lnT w="12700" cap="flat" cmpd="sng" algn="ctr">
                      <a:solidFill>
                        <a:srgbClr val="C8C8C6"/>
                      </a:solidFill>
                      <a:prstDash val="solid"/>
                      <a:round/>
                      <a:headEnd type="none" w="med" len="med"/>
                      <a:tailEnd type="none" w="med" len="med"/>
                    </a:lnT>
                    <a:lnB w="12700">
                      <a:solidFill>
                        <a:srgbClr val="C8C8C6"/>
                      </a:solidFill>
                    </a:lnB>
                    <a:solidFill>
                      <a:srgbClr val="FBFBF9"/>
                    </a:solidFill>
                  </a:tcPr>
                </a:tc>
                <a:extLst>
                  <a:ext uri="{0D108BD9-81ED-4DB2-BD59-A6C34878D82A}">
                    <a16:rowId xmlns:a16="http://schemas.microsoft.com/office/drawing/2014/main" val="10004"/>
                  </a:ext>
                </a:extLst>
              </a:tr>
            </a:tbl>
          </a:graphicData>
        </a:graphic>
      </p:graphicFrame>
      <p:sp>
        <p:nvSpPr>
          <p:cNvPr id="16" name="TextBox 15"/>
          <p:cNvSpPr txBox="1"/>
          <p:nvPr/>
        </p:nvSpPr>
        <p:spPr>
          <a:xfrm>
            <a:off x="9052560" y="2926080"/>
            <a:ext cx="2377440" cy="1828800"/>
          </a:xfrm>
          <a:prstGeom prst="rect">
            <a:avLst/>
          </a:prstGeom>
          <a:noFill/>
        </p:spPr>
        <p:txBody>
          <a:bodyPr wrap="square" lIns="0" tIns="0" rIns="0" bIns="0" anchor="t">
            <a:spAutoFit/>
          </a:bodyPr>
          <a:lstStyle/>
          <a:p>
            <a:pPr algn="l">
              <a:spcAft>
                <a:spcPts val="400"/>
              </a:spcAft>
            </a:pPr>
            <a:r>
              <a:rPr sz="2000" b="1" i="0">
                <a:solidFill>
                  <a:srgbClr val="1F3A5F"/>
                </a:solidFill>
                <a:latin typeface="IBM Plex Sans"/>
                <a:ea typeface="IBM Plex Sans"/>
                <a:cs typeface="IBM Plex Sans"/>
              </a:rPr>
              <a:t>All off</a:t>
            </a:r>
          </a:p>
          <a:p>
            <a:pPr algn="l">
              <a:spcAft>
                <a:spcPts val="400"/>
              </a:spcAft>
            </a:pPr>
            <a:r>
              <a:rPr sz="1500" b="0" i="0">
                <a:solidFill>
                  <a:srgbClr val="1B1F2A"/>
                </a:solidFill>
                <a:latin typeface="IBM Plex Sans"/>
                <a:ea typeface="IBM Plex Sans"/>
                <a:cs typeface="IBM Plex Sans"/>
              </a:rPr>
              <a:t>= the paper's method, checked by a test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FBF9"/>
        </a:solidFill>
        <a:effectLst/>
      </p:bgPr>
    </p:bg>
    <p:spTree>
      <p:nvGrpSpPr>
        <p:cNvPr id="1" name=""/>
        <p:cNvGrpSpPr/>
        <p:nvPr/>
      </p:nvGrpSpPr>
      <p:grpSpPr>
        <a:xfrm>
          <a:off x="0" y="0"/>
          <a:ext cx="0" cy="0"/>
          <a:chOff x="0" y="0"/>
          <a:chExt cx="0" cy="0"/>
        </a:xfrm>
      </p:grpSpPr>
      <p:sp>
        <p:nvSpPr>
          <p:cNvPr id="2" name="TextBox 1"/>
          <p:cNvSpPr txBox="1"/>
          <p:nvPr/>
        </p:nvSpPr>
        <p:spPr>
          <a:xfrm>
            <a:off x="813816" y="713232"/>
            <a:ext cx="10881360" cy="429768"/>
          </a:xfrm>
          <a:prstGeom prst="rect">
            <a:avLst/>
          </a:prstGeom>
          <a:noFill/>
        </p:spPr>
        <p:txBody>
          <a:bodyPr wrap="square" lIns="0" tIns="0" rIns="0" bIns="0" anchor="t">
            <a:spAutoFit/>
          </a:bodyPr>
          <a:lstStyle/>
          <a:p>
            <a:pPr algn="l">
              <a:spcAft>
                <a:spcPts val="800"/>
              </a:spcAft>
            </a:pPr>
            <a:r>
              <a:rPr sz="2800" b="1" i="0">
                <a:solidFill>
                  <a:srgbClr val="1F3A5F"/>
                </a:solidFill>
                <a:latin typeface="IBM Plex Sans"/>
                <a:ea typeface="IBM Plex Sans"/>
                <a:cs typeface="IBM Plex Sans"/>
              </a:rPr>
              <a:t>Improvement: a Newton corrector</a:t>
            </a:r>
          </a:p>
        </p:txBody>
      </p:sp>
      <p:pic>
        <p:nvPicPr>
          <p:cNvPr id="3" name="Picture 2" descr="image.png"/>
          <p:cNvPicPr>
            <a:picLocks noChangeAspect="1"/>
          </p:cNvPicPr>
          <p:nvPr/>
        </p:nvPicPr>
        <p:blipFill>
          <a:blip r:embed="rId3"/>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tIns="0" rIns="0" bIns="0" anchor="t">
            <a:spAutoFit/>
          </a:bodyPr>
          <a:lstStyle/>
          <a:p>
            <a:pPr algn="l">
              <a:spcAft>
                <a:spcPts val="800"/>
              </a:spcAft>
            </a:pPr>
            <a:r>
              <a:rPr sz="1200" b="0" i="0">
                <a:solidFill>
                  <a:srgbClr val="6B7280"/>
                </a:solidFill>
                <a:latin typeface="IBM Plex Sans"/>
                <a:ea typeface="IBM Plex Sans"/>
                <a:cs typeface="IBM Plex Sans"/>
              </a:rPr>
              <a:t>Apurbo's part · 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tIns="0" rIns="0" bIns="0" anchor="t">
            <a:spAutoFit/>
          </a:bodyPr>
          <a:lstStyle/>
          <a:p>
            <a:pPr algn="r">
              <a:spcAft>
                <a:spcPts val="800"/>
              </a:spcAft>
            </a:pPr>
            <a:r>
              <a:rPr sz="1200" b="0" i="0">
                <a:solidFill>
                  <a:srgbClr val="6B7280"/>
                </a:solidFill>
                <a:latin typeface="IBM Plex Sans"/>
                <a:ea typeface="IBM Plex Sans"/>
                <a:cs typeface="IBM Plex Sans"/>
              </a:rPr>
              <a:t>9</a:t>
            </a:r>
          </a:p>
        </p:txBody>
      </p:sp>
      <p:pic>
        <p:nvPicPr>
          <p:cNvPr id="6" name="Picture 5" descr="a_pc.png"/>
          <p:cNvPicPr>
            <a:picLocks noChangeAspect="1"/>
          </p:cNvPicPr>
          <p:nvPr/>
        </p:nvPicPr>
        <p:blipFill>
          <a:blip r:embed="rId4"/>
          <a:stretch>
            <a:fillRect/>
          </a:stretch>
        </p:blipFill>
        <p:spPr>
          <a:xfrm>
            <a:off x="813816" y="1554480"/>
            <a:ext cx="5705856" cy="478536"/>
          </a:xfrm>
          <a:prstGeom prst="rect">
            <a:avLst/>
          </a:prstGeom>
        </p:spPr>
      </p:pic>
      <p:sp>
        <p:nvSpPr>
          <p:cNvPr id="7" name="TextBox 6"/>
          <p:cNvSpPr txBox="1"/>
          <p:nvPr/>
        </p:nvSpPr>
        <p:spPr>
          <a:xfrm>
            <a:off x="813816" y="2377440"/>
            <a:ext cx="10561320" cy="457200"/>
          </a:xfrm>
          <a:prstGeom prst="rect">
            <a:avLst/>
          </a:prstGeom>
          <a:noFill/>
        </p:spPr>
        <p:txBody>
          <a:bodyPr wrap="square" lIns="0" tIns="0" rIns="0" bIns="0" anchor="t">
            <a:spAutoFit/>
          </a:bodyPr>
          <a:lstStyle/>
          <a:p>
            <a:pPr algn="l">
              <a:spcAft>
                <a:spcPts val="800"/>
              </a:spcAft>
            </a:pPr>
            <a:r>
              <a:rPr sz="1700" b="0" i="0">
                <a:solidFill>
                  <a:srgbClr val="333A48"/>
                </a:solidFill>
                <a:latin typeface="IBM Plex Sans"/>
                <a:ea typeface="IBM Plex Sans"/>
                <a:cs typeface="IBM Plex Sans"/>
              </a:rPr>
              <a:t>predictor: the BE step gives x̃ near the path;  corrector: one Newton step back onto it</a:t>
            </a:r>
          </a:p>
        </p:txBody>
      </p:sp>
      <p:sp>
        <p:nvSpPr>
          <p:cNvPr id="8" name="TextBox 7"/>
          <p:cNvSpPr txBox="1"/>
          <p:nvPr/>
        </p:nvSpPr>
        <p:spPr>
          <a:xfrm>
            <a:off x="813816" y="3200400"/>
            <a:ext cx="3291840" cy="822960"/>
          </a:xfrm>
          <a:prstGeom prst="rect">
            <a:avLst/>
          </a:prstGeom>
          <a:noFill/>
        </p:spPr>
        <p:txBody>
          <a:bodyPr wrap="square" lIns="0" tIns="0" rIns="0" bIns="0" anchor="t">
            <a:spAutoFit/>
          </a:bodyPr>
          <a:lstStyle/>
          <a:p>
            <a:pPr algn="l">
              <a:spcAft>
                <a:spcPts val="800"/>
              </a:spcAft>
            </a:pPr>
            <a:r>
              <a:rPr sz="4800" b="1" i="0">
                <a:solidFill>
                  <a:srgbClr val="2F8F5B"/>
                </a:solidFill>
                <a:latin typeface="IBM Plex Sans"/>
                <a:ea typeface="IBM Plex Sans"/>
                <a:cs typeface="IBM Plex Sans"/>
              </a:rPr>
              <a:t>152</a:t>
            </a:r>
          </a:p>
        </p:txBody>
      </p:sp>
      <p:sp>
        <p:nvSpPr>
          <p:cNvPr id="9" name="TextBox 8"/>
          <p:cNvSpPr txBox="1"/>
          <p:nvPr/>
        </p:nvSpPr>
        <p:spPr>
          <a:xfrm>
            <a:off x="813816" y="4069080"/>
            <a:ext cx="3291840" cy="731520"/>
          </a:xfrm>
          <a:prstGeom prst="rect">
            <a:avLst/>
          </a:prstGeom>
          <a:noFill/>
        </p:spPr>
        <p:txBody>
          <a:bodyPr wrap="square" lIns="0" tIns="0" rIns="0" bIns="0" anchor="t">
            <a:spAutoFit/>
          </a:bodyPr>
          <a:lstStyle/>
          <a:p>
            <a:pPr algn="l">
              <a:spcAft>
                <a:spcPts val="800"/>
              </a:spcAft>
            </a:pPr>
            <a:r>
              <a:rPr sz="1500" b="0" i="0">
                <a:solidFill>
                  <a:srgbClr val="333A48"/>
                </a:solidFill>
                <a:latin typeface="IBM Plex Sans"/>
                <a:ea typeface="IBM Plex Sans"/>
                <a:cs typeface="IBM Plex Sans"/>
              </a:rPr>
              <a:t>of 170 runs solved (paper 127), none lost</a:t>
            </a:r>
          </a:p>
        </p:txBody>
      </p:sp>
      <p:sp>
        <p:nvSpPr>
          <p:cNvPr id="10" name="TextBox 9"/>
          <p:cNvSpPr txBox="1"/>
          <p:nvPr/>
        </p:nvSpPr>
        <p:spPr>
          <a:xfrm>
            <a:off x="4379976" y="3200400"/>
            <a:ext cx="3291840" cy="822960"/>
          </a:xfrm>
          <a:prstGeom prst="rect">
            <a:avLst/>
          </a:prstGeom>
          <a:noFill/>
        </p:spPr>
        <p:txBody>
          <a:bodyPr wrap="square" lIns="0" tIns="0" rIns="0" bIns="0" anchor="t">
            <a:spAutoFit/>
          </a:bodyPr>
          <a:lstStyle/>
          <a:p>
            <a:pPr algn="l">
              <a:spcAft>
                <a:spcPts val="800"/>
              </a:spcAft>
            </a:pPr>
            <a:r>
              <a:rPr sz="4800" b="1" i="0">
                <a:solidFill>
                  <a:srgbClr val="1F3A5F"/>
                </a:solidFill>
                <a:latin typeface="IBM Plex Sans"/>
                <a:ea typeface="IBM Plex Sans"/>
                <a:cs typeface="IBM Plex Sans"/>
              </a:rPr>
              <a:t>14 → 2</a:t>
            </a:r>
          </a:p>
        </p:txBody>
      </p:sp>
      <p:sp>
        <p:nvSpPr>
          <p:cNvPr id="11" name="TextBox 10"/>
          <p:cNvSpPr txBox="1"/>
          <p:nvPr/>
        </p:nvSpPr>
        <p:spPr>
          <a:xfrm>
            <a:off x="4379976" y="4069080"/>
            <a:ext cx="3291840" cy="731520"/>
          </a:xfrm>
          <a:prstGeom prst="rect">
            <a:avLst/>
          </a:prstGeom>
          <a:noFill/>
        </p:spPr>
        <p:txBody>
          <a:bodyPr wrap="square" lIns="0" tIns="0" rIns="0" bIns="0" anchor="t">
            <a:spAutoFit/>
          </a:bodyPr>
          <a:lstStyle/>
          <a:p>
            <a:pPr algn="l">
              <a:spcAft>
                <a:spcPts val="800"/>
              </a:spcAft>
            </a:pPr>
            <a:r>
              <a:rPr sz="1500" b="0" i="0">
                <a:solidFill>
                  <a:srgbClr val="333A48"/>
                </a:solidFill>
                <a:latin typeface="IBM Plex Sans"/>
                <a:ea typeface="IBM Plex Sans"/>
                <a:cs typeface="IBM Plex Sans"/>
              </a:rPr>
              <a:t>wrong roots</a:t>
            </a:r>
          </a:p>
        </p:txBody>
      </p:sp>
      <p:sp>
        <p:nvSpPr>
          <p:cNvPr id="12" name="TextBox 11"/>
          <p:cNvSpPr txBox="1"/>
          <p:nvPr/>
        </p:nvSpPr>
        <p:spPr>
          <a:xfrm>
            <a:off x="7946136" y="3200400"/>
            <a:ext cx="3291840" cy="822960"/>
          </a:xfrm>
          <a:prstGeom prst="rect">
            <a:avLst/>
          </a:prstGeom>
          <a:noFill/>
        </p:spPr>
        <p:txBody>
          <a:bodyPr wrap="square" lIns="0" tIns="0" rIns="0" bIns="0" anchor="t">
            <a:spAutoFit/>
          </a:bodyPr>
          <a:lstStyle/>
          <a:p>
            <a:pPr algn="l">
              <a:spcAft>
                <a:spcPts val="800"/>
              </a:spcAft>
            </a:pPr>
            <a:r>
              <a:rPr sz="4800" b="1" i="0">
                <a:solidFill>
                  <a:srgbClr val="1F3A5F"/>
                </a:solidFill>
                <a:latin typeface="IBM Plex Sans"/>
                <a:ea typeface="IBM Plex Sans"/>
                <a:cs typeface="IBM Plex Sans"/>
              </a:rPr>
              <a:t>+0.4 LU</a:t>
            </a:r>
          </a:p>
        </p:txBody>
      </p:sp>
      <p:sp>
        <p:nvSpPr>
          <p:cNvPr id="13" name="TextBox 12"/>
          <p:cNvSpPr txBox="1"/>
          <p:nvPr/>
        </p:nvSpPr>
        <p:spPr>
          <a:xfrm>
            <a:off x="7946136" y="4069080"/>
            <a:ext cx="3291840" cy="731520"/>
          </a:xfrm>
          <a:prstGeom prst="rect">
            <a:avLst/>
          </a:prstGeom>
          <a:noFill/>
        </p:spPr>
        <p:txBody>
          <a:bodyPr wrap="square" lIns="0" tIns="0" rIns="0" bIns="0" anchor="t">
            <a:spAutoFit/>
          </a:bodyPr>
          <a:lstStyle/>
          <a:p>
            <a:pPr algn="l">
              <a:spcAft>
                <a:spcPts val="800"/>
              </a:spcAft>
            </a:pPr>
            <a:r>
              <a:rPr sz="1500" b="0" i="0">
                <a:solidFill>
                  <a:srgbClr val="333A48"/>
                </a:solidFill>
                <a:latin typeface="IBM Plex Sans"/>
                <a:ea typeface="IBM Plex Sans"/>
                <a:cs typeface="IBM Plex Sans"/>
              </a:rPr>
              <a:t>per run (8.43 vs 8.04)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FBF9"/>
        </a:solidFill>
        <a:effectLst/>
      </p:bgPr>
    </p:bg>
    <p:spTree>
      <p:nvGrpSpPr>
        <p:cNvPr id="1" name=""/>
        <p:cNvGrpSpPr/>
        <p:nvPr/>
      </p:nvGrpSpPr>
      <p:grpSpPr>
        <a:xfrm>
          <a:off x="0" y="0"/>
          <a:ext cx="0" cy="0"/>
          <a:chOff x="0" y="0"/>
          <a:chExt cx="0" cy="0"/>
        </a:xfrm>
      </p:grpSpPr>
      <p:sp>
        <p:nvSpPr>
          <p:cNvPr id="2" name="TextBox 1"/>
          <p:cNvSpPr txBox="1"/>
          <p:nvPr/>
        </p:nvSpPr>
        <p:spPr>
          <a:xfrm>
            <a:off x="813816" y="713232"/>
            <a:ext cx="10881360" cy="429768"/>
          </a:xfrm>
          <a:prstGeom prst="rect">
            <a:avLst/>
          </a:prstGeom>
          <a:noFill/>
        </p:spPr>
        <p:txBody>
          <a:bodyPr wrap="square" lIns="0" tIns="0" rIns="0" bIns="0" anchor="t">
            <a:spAutoFit/>
          </a:bodyPr>
          <a:lstStyle/>
          <a:p>
            <a:pPr algn="l">
              <a:spcAft>
                <a:spcPts val="800"/>
              </a:spcAft>
            </a:pPr>
            <a:r>
              <a:rPr sz="2800" b="1" i="0">
                <a:solidFill>
                  <a:srgbClr val="1F3A5F"/>
                </a:solidFill>
                <a:latin typeface="IBM Plex Sans"/>
                <a:ea typeface="IBM Plex Sans"/>
                <a:cs typeface="IBM Plex Sans"/>
              </a:rPr>
              <a:t>Adaptive steps: a smaller gain</a:t>
            </a:r>
          </a:p>
        </p:txBody>
      </p:sp>
      <p:pic>
        <p:nvPicPr>
          <p:cNvPr id="3" name="Picture 2" descr="image.png"/>
          <p:cNvPicPr>
            <a:picLocks noChangeAspect="1"/>
          </p:cNvPicPr>
          <p:nvPr/>
        </p:nvPicPr>
        <p:blipFill>
          <a:blip r:embed="rId3"/>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tIns="0" rIns="0" bIns="0" anchor="t">
            <a:spAutoFit/>
          </a:bodyPr>
          <a:lstStyle/>
          <a:p>
            <a:pPr algn="l">
              <a:spcAft>
                <a:spcPts val="800"/>
              </a:spcAft>
            </a:pPr>
            <a:r>
              <a:rPr sz="1200" b="0" i="0">
                <a:solidFill>
                  <a:srgbClr val="6B7280"/>
                </a:solidFill>
                <a:latin typeface="IBM Plex Sans"/>
                <a:ea typeface="IBM Plex Sans"/>
                <a:cs typeface="IBM Plex Sans"/>
              </a:rPr>
              <a:t>Apurbo's part · 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tIns="0" rIns="0" bIns="0" anchor="t">
            <a:spAutoFit/>
          </a:bodyPr>
          <a:lstStyle/>
          <a:p>
            <a:pPr algn="r">
              <a:spcAft>
                <a:spcPts val="800"/>
              </a:spcAft>
            </a:pPr>
            <a:r>
              <a:rPr sz="1200" b="0" i="0">
                <a:solidFill>
                  <a:srgbClr val="6B7280"/>
                </a:solidFill>
                <a:latin typeface="IBM Plex Sans"/>
                <a:ea typeface="IBM Plex Sans"/>
                <a:cs typeface="IBM Plex Sans"/>
              </a:rPr>
              <a:t>10</a:t>
            </a:r>
          </a:p>
        </p:txBody>
      </p:sp>
      <p:pic>
        <p:nvPicPr>
          <p:cNvPr id="6" name="Picture 5" descr="adaptive_path.png"/>
          <p:cNvPicPr>
            <a:picLocks noChangeAspect="1"/>
          </p:cNvPicPr>
          <p:nvPr/>
        </p:nvPicPr>
        <p:blipFill>
          <a:blip r:embed="rId4"/>
          <a:stretch>
            <a:fillRect/>
          </a:stretch>
        </p:blipFill>
        <p:spPr>
          <a:xfrm>
            <a:off x="722376" y="1406613"/>
            <a:ext cx="6309360" cy="3953333"/>
          </a:xfrm>
          <a:prstGeom prst="rect">
            <a:avLst/>
          </a:prstGeom>
        </p:spPr>
      </p:pic>
      <p:sp>
        <p:nvSpPr>
          <p:cNvPr id="7" name="TextBox 6"/>
          <p:cNvSpPr txBox="1"/>
          <p:nvPr/>
        </p:nvSpPr>
        <p:spPr>
          <a:xfrm>
            <a:off x="7498079" y="1737360"/>
            <a:ext cx="3840480" cy="1463040"/>
          </a:xfrm>
          <a:prstGeom prst="rect">
            <a:avLst/>
          </a:prstGeom>
          <a:noFill/>
        </p:spPr>
        <p:txBody>
          <a:bodyPr wrap="square" lIns="0" tIns="0" rIns="0" bIns="0" anchor="t">
            <a:spAutoFit/>
          </a:bodyPr>
          <a:lstStyle/>
          <a:p>
            <a:pPr marL="228600" indent="-228600" algn="l">
              <a:spcAft>
                <a:spcPts val="800"/>
              </a:spcAft>
              <a:buFont typeface="Arial"/>
              <a:buChar char="•"/>
            </a:pPr>
            <a:r>
              <a:rPr sz="1700" b="0" i="0">
                <a:solidFill>
                  <a:srgbClr val="1B1F2A"/>
                </a:solidFill>
                <a:latin typeface="IBM Plex Sans"/>
                <a:ea typeface="IBM Plex Sans"/>
                <a:cs typeface="IBM Plex Sans"/>
              </a:rPr>
              <a:t>try to jump straight to t = 1</a:t>
            </a:r>
          </a:p>
          <a:p>
            <a:pPr marL="228600" indent="-228600" algn="l">
              <a:spcAft>
                <a:spcPts val="800"/>
              </a:spcAft>
              <a:buFont typeface="Arial"/>
              <a:buChar char="•"/>
            </a:pPr>
            <a:r>
              <a:rPr sz="1700" b="0" i="0">
                <a:solidFill>
                  <a:srgbClr val="1B1F2A"/>
                </a:solidFill>
                <a:latin typeface="IBM Plex Sans"/>
                <a:ea typeface="IBM Plex Sans"/>
                <a:cs typeface="IBM Plex Sans"/>
              </a:rPr>
              <a:t>halve the step while ‖g‖ grows</a:t>
            </a:r>
          </a:p>
        </p:txBody>
      </p:sp>
      <p:sp>
        <p:nvSpPr>
          <p:cNvPr id="8" name="TextBox 7"/>
          <p:cNvSpPr txBox="1"/>
          <p:nvPr/>
        </p:nvSpPr>
        <p:spPr>
          <a:xfrm>
            <a:off x="7498079" y="3108960"/>
            <a:ext cx="3840480" cy="822960"/>
          </a:xfrm>
          <a:prstGeom prst="rect">
            <a:avLst/>
          </a:prstGeom>
          <a:noFill/>
        </p:spPr>
        <p:txBody>
          <a:bodyPr wrap="square" lIns="0" tIns="0" rIns="0" bIns="0" anchor="t">
            <a:spAutoFit/>
          </a:bodyPr>
          <a:lstStyle/>
          <a:p>
            <a:pPr algn="l">
              <a:spcAft>
                <a:spcPts val="800"/>
              </a:spcAft>
            </a:pPr>
            <a:r>
              <a:rPr sz="4800" b="1" i="0">
                <a:solidFill>
                  <a:srgbClr val="1F3A5F"/>
                </a:solidFill>
                <a:latin typeface="IBM Plex Sans"/>
                <a:ea typeface="IBM Plex Sans"/>
                <a:cs typeface="IBM Plex Sans"/>
              </a:rPr>
              <a:t>132</a:t>
            </a:r>
          </a:p>
        </p:txBody>
      </p:sp>
      <p:sp>
        <p:nvSpPr>
          <p:cNvPr id="9" name="TextBox 8"/>
          <p:cNvSpPr txBox="1"/>
          <p:nvPr/>
        </p:nvSpPr>
        <p:spPr>
          <a:xfrm>
            <a:off x="7498079" y="3977640"/>
            <a:ext cx="3840480" cy="731520"/>
          </a:xfrm>
          <a:prstGeom prst="rect">
            <a:avLst/>
          </a:prstGeom>
          <a:noFill/>
        </p:spPr>
        <p:txBody>
          <a:bodyPr wrap="square" lIns="0" tIns="0" rIns="0" bIns="0" anchor="t">
            <a:spAutoFit/>
          </a:bodyPr>
          <a:lstStyle/>
          <a:p>
            <a:pPr algn="l">
              <a:spcAft>
                <a:spcPts val="800"/>
              </a:spcAft>
            </a:pPr>
            <a:r>
              <a:rPr sz="1500" b="0" i="0">
                <a:solidFill>
                  <a:srgbClr val="333A48"/>
                </a:solidFill>
                <a:latin typeface="IBM Plex Sans"/>
                <a:ea typeface="IBM Plex Sans"/>
                <a:cs typeface="IBM Plex Sans"/>
              </a:rPr>
              <a:t>of 170 solved (paper 127)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FBF9"/>
        </a:solidFill>
        <a:effectLst/>
      </p:bgPr>
    </p:bg>
    <p:spTree>
      <p:nvGrpSpPr>
        <p:cNvPr id="1" name=""/>
        <p:cNvGrpSpPr/>
        <p:nvPr/>
      </p:nvGrpSpPr>
      <p:grpSpPr>
        <a:xfrm>
          <a:off x="0" y="0"/>
          <a:ext cx="0" cy="0"/>
          <a:chOff x="0" y="0"/>
          <a:chExt cx="0" cy="0"/>
        </a:xfrm>
      </p:grpSpPr>
      <p:sp>
        <p:nvSpPr>
          <p:cNvPr id="2" name="TextBox 1"/>
          <p:cNvSpPr txBox="1"/>
          <p:nvPr/>
        </p:nvSpPr>
        <p:spPr>
          <a:xfrm>
            <a:off x="813816" y="713232"/>
            <a:ext cx="10881360" cy="429768"/>
          </a:xfrm>
          <a:prstGeom prst="rect">
            <a:avLst/>
          </a:prstGeom>
          <a:noFill/>
        </p:spPr>
        <p:txBody>
          <a:bodyPr wrap="square" lIns="0" tIns="0" rIns="0" bIns="0" anchor="t">
            <a:spAutoFit/>
          </a:bodyPr>
          <a:lstStyle/>
          <a:p>
            <a:pPr algn="l">
              <a:spcAft>
                <a:spcPts val="800"/>
              </a:spcAft>
            </a:pPr>
            <a:r>
              <a:rPr sz="2800" b="1" i="0">
                <a:solidFill>
                  <a:srgbClr val="1F3A5F"/>
                </a:solidFill>
                <a:latin typeface="IBM Plex Sans"/>
                <a:ea typeface="IBM Plex Sans"/>
                <a:cs typeface="IBM Plex Sans"/>
              </a:rPr>
              <a:t>Why the shift works: the spectrum of J</a:t>
            </a:r>
          </a:p>
        </p:txBody>
      </p:sp>
      <p:pic>
        <p:nvPicPr>
          <p:cNvPr id="3" name="Picture 2" descr="image.png"/>
          <p:cNvPicPr>
            <a:picLocks noChangeAspect="1"/>
          </p:cNvPicPr>
          <p:nvPr/>
        </p:nvPicPr>
        <p:blipFill>
          <a:blip r:embed="rId3"/>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tIns="0" rIns="0" bIns="0" anchor="t">
            <a:spAutoFit/>
          </a:bodyPr>
          <a:lstStyle/>
          <a:p>
            <a:pPr algn="l">
              <a:spcAft>
                <a:spcPts val="800"/>
              </a:spcAft>
            </a:pPr>
            <a:r>
              <a:rPr sz="1200" b="0" i="0">
                <a:solidFill>
                  <a:srgbClr val="6B7280"/>
                </a:solidFill>
                <a:latin typeface="IBM Plex Sans"/>
                <a:ea typeface="IBM Plex Sans"/>
                <a:cs typeface="IBM Plex Sans"/>
              </a:rPr>
              <a:t>Apurbo's part · 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tIns="0" rIns="0" bIns="0" anchor="t">
            <a:spAutoFit/>
          </a:bodyPr>
          <a:lstStyle/>
          <a:p>
            <a:pPr algn="r">
              <a:spcAft>
                <a:spcPts val="800"/>
              </a:spcAft>
            </a:pPr>
            <a:r>
              <a:rPr sz="1200" b="0" i="0">
                <a:solidFill>
                  <a:srgbClr val="6B7280"/>
                </a:solidFill>
                <a:latin typeface="IBM Plex Sans"/>
                <a:ea typeface="IBM Plex Sans"/>
                <a:cs typeface="IBM Plex Sans"/>
              </a:rPr>
              <a:t>11</a:t>
            </a:r>
          </a:p>
        </p:txBody>
      </p:sp>
      <p:pic>
        <p:nvPicPr>
          <p:cNvPr id="6" name="Picture 5" descr="spectrum.png"/>
          <p:cNvPicPr>
            <a:picLocks noChangeAspect="1"/>
          </p:cNvPicPr>
          <p:nvPr/>
        </p:nvPicPr>
        <p:blipFill>
          <a:blip r:embed="rId4"/>
          <a:stretch>
            <a:fillRect/>
          </a:stretch>
        </p:blipFill>
        <p:spPr>
          <a:xfrm>
            <a:off x="857844" y="1325880"/>
            <a:ext cx="5581223" cy="4114800"/>
          </a:xfrm>
          <a:prstGeom prst="rect">
            <a:avLst/>
          </a:prstGeom>
        </p:spPr>
      </p:pic>
      <p:sp>
        <p:nvSpPr>
          <p:cNvPr id="7" name="TextBox 6"/>
          <p:cNvSpPr txBox="1"/>
          <p:nvPr/>
        </p:nvSpPr>
        <p:spPr>
          <a:xfrm>
            <a:off x="7040880" y="1463040"/>
            <a:ext cx="4297680" cy="1097280"/>
          </a:xfrm>
          <a:prstGeom prst="rect">
            <a:avLst/>
          </a:prstGeom>
          <a:noFill/>
        </p:spPr>
        <p:txBody>
          <a:bodyPr wrap="square" lIns="0" tIns="0" rIns="0" bIns="0" anchor="t">
            <a:spAutoFit/>
          </a:bodyPr>
          <a:lstStyle/>
          <a:p>
            <a:pPr marL="228600" indent="-228600" algn="l">
              <a:spcAft>
                <a:spcPts val="600"/>
              </a:spcAft>
              <a:buFont typeface="Arial"/>
              <a:buChar char="•"/>
            </a:pPr>
            <a:r>
              <a:rPr sz="1600" b="0" i="0">
                <a:solidFill>
                  <a:srgbClr val="1B1F2A"/>
                </a:solidFill>
                <a:latin typeface="IBM Plex Sans"/>
                <a:ea typeface="IBM Plex Sans"/>
                <a:cs typeface="IBM Plex Sans"/>
              </a:rPr>
              <a:t>|λ|max: power method</a:t>
            </a:r>
          </a:p>
          <a:p>
            <a:pPr marL="228600" indent="-228600" algn="l">
              <a:spcAft>
                <a:spcPts val="600"/>
              </a:spcAft>
              <a:buFont typeface="Arial"/>
              <a:buChar char="•"/>
            </a:pPr>
            <a:r>
              <a:rPr sz="1600" b="0" i="0">
                <a:solidFill>
                  <a:srgbClr val="1B1F2A"/>
                </a:solidFill>
                <a:latin typeface="IBM Plex Sans"/>
                <a:ea typeface="IBM Plex Sans"/>
                <a:cs typeface="IBM Plex Sans"/>
              </a:rPr>
              <a:t>|λ|min: inverse iteration (one LU)</a:t>
            </a:r>
          </a:p>
        </p:txBody>
      </p:sp>
      <p:sp>
        <p:nvSpPr>
          <p:cNvPr id="8" name="TextBox 7"/>
          <p:cNvSpPr txBox="1"/>
          <p:nvPr/>
        </p:nvSpPr>
        <p:spPr>
          <a:xfrm>
            <a:off x="7040880" y="2514600"/>
            <a:ext cx="4297680" cy="457200"/>
          </a:xfrm>
          <a:prstGeom prst="rect">
            <a:avLst/>
          </a:prstGeom>
          <a:noFill/>
        </p:spPr>
        <p:txBody>
          <a:bodyPr wrap="square" lIns="0" tIns="0" rIns="0" bIns="0" anchor="t">
            <a:spAutoFit/>
          </a:bodyPr>
          <a:lstStyle/>
          <a:p>
            <a:pPr algn="l">
              <a:spcAft>
                <a:spcPts val="800"/>
              </a:spcAft>
            </a:pPr>
            <a:r>
              <a:rPr sz="1500" b="0" i="0">
                <a:solidFill>
                  <a:srgbClr val="333A48"/>
                </a:solidFill>
                <a:latin typeface="IBM Plex Sans"/>
                <a:ea typeface="IBM Plex Sans"/>
                <a:cs typeface="IBM Plex Sans"/>
              </a:rPr>
              <a:t>eigenvalue ratio, case109272</a:t>
            </a:r>
          </a:p>
        </p:txBody>
      </p:sp>
      <p:sp>
        <p:nvSpPr>
          <p:cNvPr id="9" name="TextBox 8"/>
          <p:cNvSpPr txBox="1"/>
          <p:nvPr/>
        </p:nvSpPr>
        <p:spPr>
          <a:xfrm>
            <a:off x="7040880" y="2880360"/>
            <a:ext cx="4297680" cy="731520"/>
          </a:xfrm>
          <a:prstGeom prst="rect">
            <a:avLst/>
          </a:prstGeom>
          <a:noFill/>
        </p:spPr>
        <p:txBody>
          <a:bodyPr wrap="square" lIns="0" tIns="0" rIns="0" bIns="0" anchor="t">
            <a:spAutoFit/>
          </a:bodyPr>
          <a:lstStyle/>
          <a:p>
            <a:pPr algn="l">
              <a:spcAft>
                <a:spcPts val="800"/>
              </a:spcAft>
            </a:pPr>
            <a:r>
              <a:rPr sz="3400" b="1" i="0">
                <a:solidFill>
                  <a:srgbClr val="B54A3F"/>
                </a:solidFill>
                <a:latin typeface="IBM Plex Sans"/>
                <a:ea typeface="IBM Plex Sans"/>
                <a:cs typeface="IBM Plex Sans"/>
              </a:rPr>
              <a:t>1.2×10⁸</a:t>
            </a:r>
            <a:r>
              <a:rPr sz="3400" b="0" i="0">
                <a:solidFill>
                  <a:srgbClr val="1B1F2A"/>
                </a:solidFill>
                <a:latin typeface="IBM Plex Sans"/>
                <a:ea typeface="IBM Plex Sans"/>
                <a:cs typeface="IBM Plex Sans"/>
              </a:rPr>
              <a:t>  →  </a:t>
            </a:r>
            <a:r>
              <a:rPr sz="3400" b="1" i="0">
                <a:solidFill>
                  <a:srgbClr val="2F8F5B"/>
                </a:solidFill>
                <a:latin typeface="IBM Plex Sans"/>
                <a:ea typeface="IBM Plex Sans"/>
                <a:cs typeface="IBM Plex Sans"/>
              </a:rPr>
              <a:t>2×10⁶</a:t>
            </a:r>
          </a:p>
        </p:txBody>
      </p:sp>
      <p:sp>
        <p:nvSpPr>
          <p:cNvPr id="10" name="TextBox 9"/>
          <p:cNvSpPr txBox="1"/>
          <p:nvPr/>
        </p:nvSpPr>
        <p:spPr>
          <a:xfrm>
            <a:off x="7040880" y="3703320"/>
            <a:ext cx="4297680" cy="1280160"/>
          </a:xfrm>
          <a:prstGeom prst="rect">
            <a:avLst/>
          </a:prstGeom>
          <a:noFill/>
        </p:spPr>
        <p:txBody>
          <a:bodyPr wrap="square" lIns="0" tIns="0" rIns="0" bIns="0" anchor="t">
            <a:spAutoFit/>
          </a:bodyPr>
          <a:lstStyle/>
          <a:p>
            <a:pPr marL="228600" indent="-228600" algn="l">
              <a:spcAft>
                <a:spcPts val="600"/>
              </a:spcAft>
              <a:buFont typeface="Arial"/>
              <a:buChar char="•"/>
            </a:pPr>
            <a:r>
              <a:rPr sz="1500" b="0" i="0">
                <a:solidFill>
                  <a:srgbClr val="1B1F2A"/>
                </a:solidFill>
                <a:latin typeface="IBM Plex Sans"/>
                <a:ea typeface="IBM Plex Sans"/>
                <a:cs typeface="IBM Plex Sans"/>
              </a:rPr>
              <a:t>J  →  J + 0.02 I</a:t>
            </a:r>
          </a:p>
          <a:p>
            <a:pPr marL="228600" indent="-228600" algn="l">
              <a:spcAft>
                <a:spcPts val="600"/>
              </a:spcAft>
              <a:buFont typeface="Arial"/>
              <a:buChar char="•"/>
            </a:pPr>
            <a:r>
              <a:rPr sz="1500" b="0" i="0">
                <a:solidFill>
                  <a:srgbClr val="1B1F2A"/>
                </a:solidFill>
                <a:latin typeface="IBM Plex Sans"/>
                <a:ea typeface="IBM Plex Sans"/>
                <a:cs typeface="IBM Plex Sans"/>
              </a:rPr>
              <a:t>inverse iteration matches ARPACK on 33 of 34 grids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FBF9"/>
        </a:solidFill>
        <a:effectLst/>
      </p:bgPr>
    </p:bg>
    <p:spTree>
      <p:nvGrpSpPr>
        <p:cNvPr id="1" name=""/>
        <p:cNvGrpSpPr/>
        <p:nvPr/>
      </p:nvGrpSpPr>
      <p:grpSpPr>
        <a:xfrm>
          <a:off x="0" y="0"/>
          <a:ext cx="0" cy="0"/>
          <a:chOff x="0" y="0"/>
          <a:chExt cx="0" cy="0"/>
        </a:xfrm>
      </p:grpSpPr>
      <p:sp>
        <p:nvSpPr>
          <p:cNvPr id="2" name="TextBox 1"/>
          <p:cNvSpPr txBox="1"/>
          <p:nvPr/>
        </p:nvSpPr>
        <p:spPr>
          <a:xfrm>
            <a:off x="813816" y="713232"/>
            <a:ext cx="10881360" cy="429768"/>
          </a:xfrm>
          <a:prstGeom prst="rect">
            <a:avLst/>
          </a:prstGeom>
          <a:noFill/>
        </p:spPr>
        <p:txBody>
          <a:bodyPr wrap="square" lIns="0" tIns="0" rIns="0" bIns="0" anchor="t">
            <a:spAutoFit/>
          </a:bodyPr>
          <a:lstStyle/>
          <a:p>
            <a:pPr algn="l">
              <a:spcAft>
                <a:spcPts val="800"/>
              </a:spcAft>
            </a:pPr>
            <a:r>
              <a:rPr sz="2800" b="1" i="0">
                <a:solidFill>
                  <a:srgbClr val="1F3A5F"/>
                </a:solidFill>
                <a:latin typeface="IBM Plex Sans"/>
                <a:ea typeface="IBM Plex Sans"/>
                <a:cs typeface="IBM Plex Sans"/>
              </a:rPr>
              <a:t>Summary</a:t>
            </a:r>
          </a:p>
        </p:txBody>
      </p:sp>
      <p:pic>
        <p:nvPicPr>
          <p:cNvPr id="3" name="Picture 2" descr="image.png"/>
          <p:cNvPicPr>
            <a:picLocks noChangeAspect="1"/>
          </p:cNvPicPr>
          <p:nvPr/>
        </p:nvPicPr>
        <p:blipFill>
          <a:blip r:embed="rId2"/>
          <a:stretch>
            <a:fillRect/>
          </a:stretch>
        </p:blipFill>
        <p:spPr>
          <a:xfrm>
            <a:off x="812800" y="1221741"/>
            <a:ext cx="10566400" cy="20320"/>
          </a:xfrm>
          <a:prstGeom prst="rect">
            <a:avLst/>
          </a:prstGeom>
        </p:spPr>
      </p:pic>
      <p:sp>
        <p:nvSpPr>
          <p:cNvPr id="4" name="TextBox 3"/>
          <p:cNvSpPr txBox="1"/>
          <p:nvPr/>
        </p:nvSpPr>
        <p:spPr>
          <a:xfrm>
            <a:off x="813816" y="6236208"/>
            <a:ext cx="7845552" cy="237744"/>
          </a:xfrm>
          <a:prstGeom prst="rect">
            <a:avLst/>
          </a:prstGeom>
          <a:noFill/>
        </p:spPr>
        <p:txBody>
          <a:bodyPr wrap="square" lIns="0" tIns="0" rIns="0" bIns="0" anchor="t">
            <a:spAutoFit/>
          </a:bodyPr>
          <a:lstStyle/>
          <a:p>
            <a:pPr algn="l">
              <a:spcAft>
                <a:spcPts val="800"/>
              </a:spcAft>
            </a:pPr>
            <a:r>
              <a:rPr sz="1200" b="0" i="0">
                <a:solidFill>
                  <a:srgbClr val="6B7280"/>
                </a:solidFill>
                <a:latin typeface="IBM Plex Sans"/>
                <a:ea typeface="IBM Plex Sans"/>
                <a:cs typeface="IBM Plex Sans"/>
              </a:rPr>
              <a:t>Apurbo's part · Lima-Silva &amp; Freitas (2024): reproduction and improvements</a:t>
            </a:r>
          </a:p>
        </p:txBody>
      </p:sp>
      <p:sp>
        <p:nvSpPr>
          <p:cNvPr id="5" name="TextBox 4"/>
          <p:cNvSpPr txBox="1"/>
          <p:nvPr/>
        </p:nvSpPr>
        <p:spPr>
          <a:xfrm>
            <a:off x="10058400" y="6236208"/>
            <a:ext cx="1316736" cy="237744"/>
          </a:xfrm>
          <a:prstGeom prst="rect">
            <a:avLst/>
          </a:prstGeom>
          <a:noFill/>
        </p:spPr>
        <p:txBody>
          <a:bodyPr wrap="square" lIns="0" tIns="0" rIns="0" bIns="0" anchor="t">
            <a:spAutoFit/>
          </a:bodyPr>
          <a:lstStyle/>
          <a:p>
            <a:pPr algn="r">
              <a:spcAft>
                <a:spcPts val="800"/>
              </a:spcAft>
            </a:pPr>
            <a:r>
              <a:rPr sz="1200" b="0" i="0">
                <a:solidFill>
                  <a:srgbClr val="6B7280"/>
                </a:solidFill>
                <a:latin typeface="IBM Plex Sans"/>
                <a:ea typeface="IBM Plex Sans"/>
                <a:cs typeface="IBM Plex Sans"/>
              </a:rPr>
              <a:t>12</a:t>
            </a:r>
          </a:p>
        </p:txBody>
      </p:sp>
      <p:sp>
        <p:nvSpPr>
          <p:cNvPr id="6" name="TextBox 5"/>
          <p:cNvSpPr txBox="1"/>
          <p:nvPr/>
        </p:nvSpPr>
        <p:spPr>
          <a:xfrm>
            <a:off x="813816" y="1554480"/>
            <a:ext cx="10561320" cy="3200400"/>
          </a:xfrm>
          <a:prstGeom prst="rect">
            <a:avLst/>
          </a:prstGeom>
          <a:noFill/>
        </p:spPr>
        <p:txBody>
          <a:bodyPr wrap="square" lIns="0" tIns="0" rIns="0" bIns="0" anchor="t">
            <a:spAutoFit/>
          </a:bodyPr>
          <a:lstStyle/>
          <a:p>
            <a:pPr marL="228600" indent="-228600" algn="l">
              <a:spcAft>
                <a:spcPts val="1400"/>
              </a:spcAft>
              <a:buFont typeface="Arial"/>
              <a:buChar char="•"/>
            </a:pPr>
            <a:r>
              <a:rPr sz="1900" b="0" i="0">
                <a:solidFill>
                  <a:srgbClr val="1B1F2A"/>
                </a:solidFill>
                <a:latin typeface="IBM Plex Sans"/>
                <a:ea typeface="IBM Plex Sans"/>
                <a:cs typeface="IBM Plex Sans"/>
              </a:rPr>
              <a:t>Implemented the homotopy, the ODE and the FE, RK2 and BE integrators</a:t>
            </a:r>
          </a:p>
          <a:p>
            <a:pPr marL="228600" indent="-228600" algn="l">
              <a:spcAft>
                <a:spcPts val="1400"/>
              </a:spcAft>
              <a:buFont typeface="Arial"/>
              <a:buChar char="•"/>
            </a:pPr>
            <a:r>
              <a:rPr sz="1900" b="0" i="0">
                <a:solidFill>
                  <a:srgbClr val="1B1F2A"/>
                </a:solidFill>
                <a:latin typeface="IBM Plex Sans"/>
                <a:ea typeface="IBM Plex Sans"/>
                <a:cs typeface="IBM Plex Sans"/>
              </a:rPr>
              <a:t>Reproduced Figures 1, 2 and 4 and Section 4.2.1</a:t>
            </a:r>
          </a:p>
          <a:p>
            <a:pPr marL="228600" indent="-228600" algn="l">
              <a:spcAft>
                <a:spcPts val="1400"/>
              </a:spcAft>
              <a:buFont typeface="Arial"/>
              <a:buChar char="•"/>
            </a:pPr>
            <a:r>
              <a:rPr sz="1900" b="0" i="0">
                <a:solidFill>
                  <a:srgbClr val="1B1F2A"/>
                </a:solidFill>
                <a:latin typeface="IBM Plex Sans"/>
                <a:ea typeface="IBM Plex Sans"/>
                <a:cs typeface="IBM Plex Sans"/>
              </a:rPr>
              <a:t>The first BE step is a Newton step on J + δI: that is why the method works</a:t>
            </a:r>
          </a:p>
          <a:p>
            <a:pPr marL="228600" indent="-228600" algn="l">
              <a:spcAft>
                <a:spcPts val="1400"/>
              </a:spcAft>
              <a:buFont typeface="Arial"/>
              <a:buChar char="•"/>
            </a:pPr>
            <a:r>
              <a:rPr sz="1900" b="0" i="0">
                <a:solidFill>
                  <a:srgbClr val="1B1F2A"/>
                </a:solidFill>
                <a:latin typeface="IBM Plex Sans"/>
                <a:ea typeface="IBM Plex Sans"/>
                <a:cs typeface="IBM Plex Sans"/>
              </a:rPr>
              <a:t>Corrector: 152 of 170 solved, wrong roots from 14 to 2</a:t>
            </a:r>
          </a:p>
        </p:txBody>
      </p:sp>
      <p:sp>
        <p:nvSpPr>
          <p:cNvPr id="7" name="TextBox 6"/>
          <p:cNvSpPr txBox="1"/>
          <p:nvPr/>
        </p:nvSpPr>
        <p:spPr>
          <a:xfrm>
            <a:off x="813816" y="4297680"/>
            <a:ext cx="10561320" cy="548640"/>
          </a:xfrm>
          <a:prstGeom prst="rect">
            <a:avLst/>
          </a:prstGeom>
          <a:noFill/>
        </p:spPr>
        <p:txBody>
          <a:bodyPr wrap="square" lIns="0" tIns="0" rIns="0" bIns="0" anchor="t">
            <a:spAutoFit/>
          </a:bodyPr>
          <a:lstStyle/>
          <a:p>
            <a:pPr algn="l">
              <a:spcAft>
                <a:spcPts val="800"/>
              </a:spcAft>
            </a:pPr>
            <a:r>
              <a:rPr sz="2200" b="1" i="0">
                <a:solidFill>
                  <a:srgbClr val="1F3A5F"/>
                </a:solidFill>
                <a:latin typeface="IBM Plex Sans"/>
                <a:ea typeface="IBM Plex Sans"/>
                <a:cs typeface="IBM Plex Sans"/>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1224</Words>
  <Application>Microsoft Office PowerPoint</Application>
  <PresentationFormat>Widescreen</PresentationFormat>
  <Paragraphs>119</Paragraphs>
  <Slides>11</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IBM Plex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Homotopy Power Flow</dc:title>
  <dc:subject>PptxGenJS Presentation</dc:subject>
  <dc:creator>PptxGenJS</dc:creator>
  <cp:lastModifiedBy>Jonayed Mohiuddin</cp:lastModifiedBy>
  <cp:revision>9</cp:revision>
  <dcterms:created xsi:type="dcterms:W3CDTF">2026-09-28T06:54:17Z</dcterms:created>
  <dcterms:modified xsi:type="dcterms:W3CDTF">2026-09-28T09:47:32Z</dcterms:modified>
</cp:coreProperties>
</file>