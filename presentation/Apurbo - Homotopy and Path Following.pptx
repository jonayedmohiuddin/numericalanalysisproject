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2815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the paper from scratch in Python, reproduced its results, and then tested changes to the method. First the paper, then our implementation and reproduction, then the improvements.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I implemented the core of the paper, the dynamic homotopy, and the framework that lets every improvement be switched on and off.</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Section 3.1 of the paper, equations 15, 23 and 24. Differentiating G(x(t), t) = 0 with the chain rule gives the ODE. The integrators FE, BE and RK2 (equations 16, 19, 20-21) each take a few big steps along it, and NR or FDXB finishes from x(1).</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Divide the BE step by dt0 and it is exactly x0 - (J + (1 - dt0) K/dt0 I)^-1 g(x0). This is the key fact behind the whole method: on the ill-conditioned grids J is nearly singular, and delta keeps the Newton step from exploding.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For every case of the paper, the flat-start mismatch next to the mismatch after one FE, RK2 or BE step to t1 = 0.005. Explicit steps blow up to about 1e12 on the large grids (9.7e12 on case18482); backward Euler brings it down to 65 and 25. This is why the paper always takes the first step with BE.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Section 3.3's example, drawn in the (x1, x2) plane over a map of the mismatch for K = 0.05 and 0.005: the exact homotopy path, the three-step FE, RK2 and BE paths and the Newton iterations after them, the singular line of the Jacobian and the two roots. For eps = 0.05, one NR step from (1, 0.95) gives a mismatch near 100, log10 about 2, but the paper's curve starts near 3.</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Voltages of buses 2 to 6 along the two-point BE path and then NR. The angles overshoot to about 60 degrees at t = 1, which is harmless: the point is already inside Newton's region of convergence. Mismatch 201, 25, 1.26 along the path, then 1.7, 1.7e-2, 7.3e-7, 8.8e-12.</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improvements/solve.py holds Options and solve(). Every team member's change plugs in as a switch, so they can be tested alone or combined in the study. With everything off it reproduces the paper's result exactly.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The standard predictor-corrector of continuation methods, at a fixed new time. It is the most useful change of the whole study, and it makes the result almost independent of dt0.</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Every step the adaptive rule tries on case6748 at the paper's setting, accepted and rejected, next to the paper's fixed path. Rejected steps still cost LUs, so on its own it helps little.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Shifted inverse iteration gives the smallest eigenvalue of J + delta I, the matrix of the first step. The shift lowers the ratio on the ill-conditioned grids but hardly changes most limit cases, whose smallest eigenvalue is already larger than 0.02; there the method behaves like plain NR. The power method is up to 19% off on grids made of copies of one network, where the largest eigenvalues cluster.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1584960"/>
            <a:ext cx="10883392" cy="17780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The Dynamic Homotopy and</a:t>
            </a:r>
            <a:endParaRPr lang="en-US" sz="4000" dirty="0"/>
          </a:p>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the Path Follower</a:t>
            </a:r>
            <a:endParaRPr lang="en-US" sz="4000" dirty="0"/>
          </a:p>
        </p:txBody>
      </p:sp>
      <p:pic>
        <p:nvPicPr>
          <p:cNvPr id="3" name="Image 0" descr="line"/>
          <p:cNvPicPr>
            <a:picLocks noChangeAspect="1"/>
          </p:cNvPicPr>
          <p:nvPr/>
        </p:nvPicPr>
        <p:blipFill>
          <a:blip r:embed="rId3"/>
          <a:srcRect l="-2083" r="-2083"/>
          <a:stretch/>
        </p:blipFill>
        <p:spPr>
          <a:xfrm>
            <a:off x="812800" y="3566160"/>
            <a:ext cx="10566400" cy="30480"/>
          </a:xfrm>
          <a:prstGeom prst="rect">
            <a:avLst/>
          </a:prstGeom>
        </p:spPr>
      </p:pic>
      <p:sp>
        <p:nvSpPr>
          <p:cNvPr id="4" name="Text 1"/>
          <p:cNvSpPr/>
          <p:nvPr/>
        </p:nvSpPr>
        <p:spPr>
          <a:xfrm>
            <a:off x="812800" y="38252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Based on A. Lima-Silva and F. D. Freitas, "Exploring a Dynamic Homotopy Technique to Enhance the Convergence of Classical Power Flow Iterative Solvers in Ill-Conditioned Power System Models", </a:t>
            </a:r>
            <a:r>
              <a:rPr lang="en-US" sz="1600" i="1" dirty="0">
                <a:solidFill>
                  <a:srgbClr val="333A48"/>
                </a:solidFill>
                <a:latin typeface="IBM Plex Sans" pitchFamily="34" charset="0"/>
                <a:ea typeface="IBM Plex Sans" pitchFamily="34" charset="-122"/>
                <a:cs typeface="IBM Plex Sans" pitchFamily="34" charset="-120"/>
              </a:rPr>
              <a:t>Energies</a:t>
            </a:r>
            <a:r>
              <a:rPr lang="en-US" sz="1600" dirty="0">
                <a:solidFill>
                  <a:srgbClr val="333A48"/>
                </a:solidFill>
                <a:latin typeface="IBM Plex Sans" pitchFamily="34" charset="0"/>
                <a:ea typeface="IBM Plex Sans" pitchFamily="34" charset="-122"/>
                <a:cs typeface="IBM Plex Sans" pitchFamily="34" charset="-120"/>
              </a:rPr>
              <a:t> 17(18):4642, 2024</a:t>
            </a:r>
            <a:endParaRPr lang="en-US" sz="1600" dirty="0"/>
          </a:p>
        </p:txBody>
      </p:sp>
      <p:sp>
        <p:nvSpPr>
          <p:cNvPr id="5" name="Text 2"/>
          <p:cNvSpPr/>
          <p:nvPr/>
        </p:nvSpPr>
        <p:spPr>
          <a:xfrm>
            <a:off x="812800" y="46634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Presented by Apurbo   ·   Team: 2105039, 2105040, 2105057, 2105058, 2105060</a:t>
            </a:r>
            <a:endParaRPr lang="en-US" sz="1600" dirty="0"/>
          </a:p>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CSE 402 Numerical Analysis Sessional</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My part of the project</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2</a:t>
            </a:r>
          </a:p>
        </p:txBody>
      </p:sp>
      <p:sp>
        <p:nvSpPr>
          <p:cNvPr id="6" name="Rounded Rectangle 5"/>
          <p:cNvSpPr/>
          <p:nvPr/>
        </p:nvSpPr>
        <p:spPr>
          <a:xfrm>
            <a:off x="813816" y="16002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 y="18745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1</a:t>
            </a:r>
          </a:p>
        </p:txBody>
      </p:sp>
      <p:sp>
        <p:nvSpPr>
          <p:cNvPr id="8" name="TextBox 7"/>
          <p:cNvSpPr txBox="1"/>
          <p:nvPr/>
        </p:nvSpPr>
        <p:spPr>
          <a:xfrm>
            <a:off x="1728216" y="18745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The homotopy</a:t>
            </a:r>
          </a:p>
        </p:txBody>
      </p:sp>
      <p:sp>
        <p:nvSpPr>
          <p:cNvPr id="9" name="TextBox 8"/>
          <p:cNvSpPr txBox="1"/>
          <p:nvPr/>
        </p:nvSpPr>
        <p:spPr>
          <a:xfrm>
            <a:off x="1728216" y="23774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G(x, t), the ODE, and the FE, RK2 and BE integrators</a:t>
            </a:r>
          </a:p>
        </p:txBody>
      </p:sp>
      <p:sp>
        <p:nvSpPr>
          <p:cNvPr id="10" name="Rounded Rectangle 9"/>
          <p:cNvSpPr/>
          <p:nvPr/>
        </p:nvSpPr>
        <p:spPr>
          <a:xfrm>
            <a:off x="6254496" y="16002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28816" y="18745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2</a:t>
            </a:r>
          </a:p>
        </p:txBody>
      </p:sp>
      <p:sp>
        <p:nvSpPr>
          <p:cNvPr id="12" name="TextBox 11"/>
          <p:cNvSpPr txBox="1"/>
          <p:nvPr/>
        </p:nvSpPr>
        <p:spPr>
          <a:xfrm>
            <a:off x="7168896" y="18745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Paper results</a:t>
            </a:r>
          </a:p>
        </p:txBody>
      </p:sp>
      <p:sp>
        <p:nvSpPr>
          <p:cNvPr id="13" name="TextBox 12"/>
          <p:cNvSpPr txBox="1"/>
          <p:nvPr/>
        </p:nvSpPr>
        <p:spPr>
          <a:xfrm>
            <a:off x="7168896" y="23774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Figures 1, 2 and 4, and the first-step study of Section 4.2.1</a:t>
            </a:r>
          </a:p>
        </p:txBody>
      </p:sp>
      <p:sp>
        <p:nvSpPr>
          <p:cNvPr id="14" name="Rounded Rectangle 13"/>
          <p:cNvSpPr/>
          <p:nvPr/>
        </p:nvSpPr>
        <p:spPr>
          <a:xfrm>
            <a:off x="813816" y="36576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88136" y="39319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3</a:t>
            </a:r>
          </a:p>
        </p:txBody>
      </p:sp>
      <p:sp>
        <p:nvSpPr>
          <p:cNvPr id="16" name="TextBox 15"/>
          <p:cNvSpPr txBox="1"/>
          <p:nvPr/>
        </p:nvSpPr>
        <p:spPr>
          <a:xfrm>
            <a:off x="1728216" y="39319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solve() and the corrector</a:t>
            </a:r>
          </a:p>
        </p:txBody>
      </p:sp>
      <p:sp>
        <p:nvSpPr>
          <p:cNvPr id="17" name="TextBox 16"/>
          <p:cNvSpPr txBox="1"/>
          <p:nvPr/>
        </p:nvSpPr>
        <p:spPr>
          <a:xfrm>
            <a:off x="1728216" y="44348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one path follower with switches; a Newton corrector</a:t>
            </a:r>
          </a:p>
        </p:txBody>
      </p:sp>
      <p:sp>
        <p:nvSpPr>
          <p:cNvPr id="18" name="Rounded Rectangle 17"/>
          <p:cNvSpPr/>
          <p:nvPr/>
        </p:nvSpPr>
        <p:spPr>
          <a:xfrm>
            <a:off x="6254496" y="36576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28816" y="39319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4</a:t>
            </a:r>
          </a:p>
        </p:txBody>
      </p:sp>
      <p:sp>
        <p:nvSpPr>
          <p:cNvPr id="20" name="TextBox 19"/>
          <p:cNvSpPr txBox="1"/>
          <p:nvPr/>
        </p:nvSpPr>
        <p:spPr>
          <a:xfrm>
            <a:off x="7168896" y="39319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Spectrum of J</a:t>
            </a:r>
          </a:p>
        </p:txBody>
      </p:sp>
      <p:sp>
        <p:nvSpPr>
          <p:cNvPr id="21" name="TextBox 20"/>
          <p:cNvSpPr txBox="1"/>
          <p:nvPr/>
        </p:nvSpPr>
        <p:spPr>
          <a:xfrm>
            <a:off x="7168896" y="44348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power method and inverse iteration: why the shift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The fixed-point homotopy</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3</a:t>
            </a:r>
          </a:p>
        </p:txBody>
      </p:sp>
      <p:pic>
        <p:nvPicPr>
          <p:cNvPr id="6" name="Picture 5" descr="a_G.png"/>
          <p:cNvPicPr>
            <a:picLocks noChangeAspect="1"/>
          </p:cNvPicPr>
          <p:nvPr/>
        </p:nvPicPr>
        <p:blipFill>
          <a:blip r:embed="rId3"/>
          <a:stretch>
            <a:fillRect/>
          </a:stretch>
        </p:blipFill>
        <p:spPr>
          <a:xfrm>
            <a:off x="813816" y="1508760"/>
            <a:ext cx="5471160" cy="432816"/>
          </a:xfrm>
          <a:prstGeom prst="rect">
            <a:avLst/>
          </a:prstGeom>
        </p:spPr>
      </p:pic>
      <p:sp>
        <p:nvSpPr>
          <p:cNvPr id="7" name="Rounded Rectangle 6"/>
          <p:cNvSpPr/>
          <p:nvPr/>
        </p:nvSpPr>
        <p:spPr>
          <a:xfrm>
            <a:off x="813816" y="2377440"/>
            <a:ext cx="2926080" cy="731520"/>
          </a:xfrm>
          <a:prstGeom prst="roundRect">
            <a:avLst>
              <a:gd name="adj" fmla="val 1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i="0">
                <a:solidFill>
                  <a:srgbClr val="FFFFFF"/>
                </a:solidFill>
                <a:latin typeface="IBM Plex Sans"/>
                <a:ea typeface="IBM Plex Sans"/>
                <a:cs typeface="IBM Plex Sans"/>
              </a:rPr>
              <a:t>t = 0:  root is x₀</a:t>
            </a:r>
          </a:p>
        </p:txBody>
      </p:sp>
      <p:sp>
        <p:nvSpPr>
          <p:cNvPr id="8" name="Right Arrow 7"/>
          <p:cNvSpPr/>
          <p:nvPr/>
        </p:nvSpPr>
        <p:spPr>
          <a:xfrm>
            <a:off x="3803904" y="2606040"/>
            <a:ext cx="420623"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88536" y="2377440"/>
            <a:ext cx="2926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i="0">
                <a:solidFill>
                  <a:srgbClr val="1F3A5F"/>
                </a:solidFill>
                <a:latin typeface="IBM Plex Sans"/>
                <a:ea typeface="IBM Plex Sans"/>
                <a:cs typeface="IBM Plex Sans"/>
              </a:rPr>
              <a:t>smooth path x(t)</a:t>
            </a:r>
          </a:p>
        </p:txBody>
      </p:sp>
      <p:sp>
        <p:nvSpPr>
          <p:cNvPr id="10" name="Right Arrow 9"/>
          <p:cNvSpPr/>
          <p:nvPr/>
        </p:nvSpPr>
        <p:spPr>
          <a:xfrm>
            <a:off x="7278624" y="2606040"/>
            <a:ext cx="420623"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63256" y="2377440"/>
            <a:ext cx="2926080" cy="731520"/>
          </a:xfrm>
          <a:prstGeom prst="roundRect">
            <a:avLst>
              <a:gd name="adj" fmla="val 1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i="0">
                <a:solidFill>
                  <a:srgbClr val="FFFFFF"/>
                </a:solidFill>
                <a:latin typeface="IBM Plex Sans"/>
                <a:ea typeface="IBM Plex Sans"/>
                <a:cs typeface="IBM Plex Sans"/>
              </a:rPr>
              <a:t>t = 1:  g(x) = 0</a:t>
            </a:r>
          </a:p>
        </p:txBody>
      </p:sp>
      <p:pic>
        <p:nvPicPr>
          <p:cNvPr id="12" name="Picture 11" descr="a_ode.png"/>
          <p:cNvPicPr>
            <a:picLocks noChangeAspect="1"/>
          </p:cNvPicPr>
          <p:nvPr/>
        </p:nvPicPr>
        <p:blipFill>
          <a:blip r:embed="rId4"/>
          <a:stretch>
            <a:fillRect/>
          </a:stretch>
        </p:blipFill>
        <p:spPr>
          <a:xfrm>
            <a:off x="813816" y="3611880"/>
            <a:ext cx="8827008" cy="420624"/>
          </a:xfrm>
          <a:prstGeom prst="rect">
            <a:avLst/>
          </a:prstGeom>
        </p:spPr>
      </p:pic>
      <p:sp>
        <p:nvSpPr>
          <p:cNvPr id="13" name="TextBox 12"/>
          <p:cNvSpPr txBox="1"/>
          <p:nvPr/>
        </p:nvSpPr>
        <p:spPr>
          <a:xfrm>
            <a:off x="813816" y="4617720"/>
            <a:ext cx="10561320" cy="457200"/>
          </a:xfrm>
          <a:prstGeom prst="rect">
            <a:avLst/>
          </a:prstGeom>
          <a:noFill/>
        </p:spPr>
        <p:txBody>
          <a:bodyPr wrap="square" lIns="0" rIns="0" tIns="0" bIns="0" anchor="t">
            <a:spAutoFit/>
          </a:bodyPr>
          <a:lstStyle/>
          <a:p>
            <a:pPr algn="l">
              <a:spcAft>
                <a:spcPts val="800"/>
              </a:spcAft>
            </a:pPr>
            <a:r>
              <a:rPr sz="1600" b="0" i="0">
                <a:solidFill>
                  <a:srgbClr val="333A48"/>
                </a:solidFill>
                <a:latin typeface="IBM Plex Sans"/>
                <a:ea typeface="IBM Plex Sans"/>
                <a:cs typeface="IBM Plex Sans"/>
              </a:rPr>
              <a:t>Root finding becomes an initial value problem. Each slope costs one LU.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The first step is a shifted Newton step</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4</a:t>
            </a:r>
          </a:p>
        </p:txBody>
      </p:sp>
      <p:pic>
        <p:nvPicPr>
          <p:cNvPr id="6" name="Picture 5" descr="a_first.png"/>
          <p:cNvPicPr>
            <a:picLocks noChangeAspect="1"/>
          </p:cNvPicPr>
          <p:nvPr/>
        </p:nvPicPr>
        <p:blipFill>
          <a:blip r:embed="rId3"/>
          <a:stretch>
            <a:fillRect/>
          </a:stretch>
        </p:blipFill>
        <p:spPr>
          <a:xfrm>
            <a:off x="813816" y="1554480"/>
            <a:ext cx="7562088" cy="451104"/>
          </a:xfrm>
          <a:prstGeom prst="rect">
            <a:avLst/>
          </a:prstGeom>
        </p:spPr>
      </p:pic>
      <p:sp>
        <p:nvSpPr>
          <p:cNvPr id="7" name="TextBox 6"/>
          <p:cNvSpPr txBox="1"/>
          <p:nvPr/>
        </p:nvSpPr>
        <p:spPr>
          <a:xfrm>
            <a:off x="813816" y="2560320"/>
            <a:ext cx="10561320" cy="2194560"/>
          </a:xfrm>
          <a:prstGeom prst="rect">
            <a:avLst/>
          </a:prstGeom>
          <a:noFill/>
        </p:spPr>
        <p:txBody>
          <a:bodyPr wrap="square" lIns="0" rIns="0" tIns="0" bIns="0" anchor="t">
            <a:spAutoFit/>
          </a:bodyPr>
          <a:lstStyle/>
          <a:p>
            <a:pPr algn="l" marL="228600" indent="-228600">
              <a:spcAft>
                <a:spcPts val="1200"/>
              </a:spcAft>
              <a:buFont typeface="Arial"/>
              <a:buChar char="•"/>
            </a:pPr>
            <a:r>
              <a:rPr sz="1700" b="0" i="0">
                <a:solidFill>
                  <a:srgbClr val="1B1F2A"/>
                </a:solidFill>
                <a:latin typeface="IBM Plex Sans"/>
                <a:ea typeface="IBM Plex Sans"/>
                <a:cs typeface="IBM Plex Sans"/>
              </a:rPr>
              <a:t>forward Euler at t = 0 inverts K·I: it steps by −50 g(x₀), blind to the network</a:t>
            </a:r>
          </a:p>
          <a:p>
            <a:pPr algn="l" marL="228600" indent="-228600">
              <a:spcAft>
                <a:spcPts val="1200"/>
              </a:spcAft>
              <a:buFont typeface="Arial"/>
              <a:buChar char="•"/>
            </a:pPr>
            <a:r>
              <a:rPr sz="1700" b="0" i="0">
                <a:solidFill>
                  <a:srgbClr val="1B1F2A"/>
                </a:solidFill>
                <a:latin typeface="IBM Plex Sans"/>
                <a:ea typeface="IBM Plex Sans"/>
                <a:cs typeface="IBM Plex Sans"/>
              </a:rPr>
              <a:t>backward Euler inverts Δt₀ J + (1 − Δt₀) K I: a Newton step with δ on the diagonal</a:t>
            </a:r>
          </a:p>
          <a:p>
            <a:pPr algn="l" marL="228600" indent="-228600">
              <a:spcAft>
                <a:spcPts val="1200"/>
              </a:spcAft>
              <a:buFont typeface="Arial"/>
              <a:buChar char="•"/>
            </a:pPr>
            <a:r>
              <a:rPr sz="1700" b="0" i="0">
                <a:solidFill>
                  <a:srgbClr val="1B1F2A"/>
                </a:solidFill>
                <a:latin typeface="IBM Plex Sans"/>
                <a:ea typeface="IBM Plex Sans"/>
                <a:cs typeface="IBM Plex Sans"/>
              </a:rPr>
              <a:t>BE and the linearised step (eqs. 26, 27) give the same point; a unit test checks this</a:t>
            </a:r>
          </a:p>
          <a:p>
            <a:pPr algn="l" marL="228600" indent="-228600">
              <a:spcAft>
                <a:spcPts val="1200"/>
              </a:spcAft>
              <a:buFont typeface="Arial"/>
              <a:buChar char="•"/>
            </a:pPr>
            <a:r>
              <a:rPr sz="1700" b="0" i="0">
                <a:solidFill>
                  <a:srgbClr val="1B1F2A"/>
                </a:solidFill>
                <a:latin typeface="IBM Plex Sans"/>
                <a:ea typeface="IBM Plex Sans"/>
                <a:cs typeface="IBM Plex Sans"/>
              </a:rPr>
              <a:t>the shift δ lifts the tiny eigenvalues of J</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Section 4.2.1: the first step, reproduced</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5</a:t>
            </a:r>
          </a:p>
        </p:txBody>
      </p:sp>
      <p:pic>
        <p:nvPicPr>
          <p:cNvPr id="6" name="Picture 5" descr="first_step.png"/>
          <p:cNvPicPr>
            <a:picLocks noChangeAspect="1"/>
          </p:cNvPicPr>
          <p:nvPr/>
        </p:nvPicPr>
        <p:blipFill>
          <a:blip r:embed="rId3"/>
          <a:stretch>
            <a:fillRect/>
          </a:stretch>
        </p:blipFill>
        <p:spPr>
          <a:xfrm>
            <a:off x="722376" y="1397326"/>
            <a:ext cx="6766560" cy="3971907"/>
          </a:xfrm>
          <a:prstGeom prst="rect">
            <a:avLst/>
          </a:prstGeom>
        </p:spPr>
      </p:pic>
      <p:sp>
        <p:nvSpPr>
          <p:cNvPr id="7" name="TextBox 6"/>
          <p:cNvSpPr txBox="1"/>
          <p:nvPr/>
        </p:nvSpPr>
        <p:spPr>
          <a:xfrm>
            <a:off x="7772400" y="1463040"/>
            <a:ext cx="3657600" cy="457200"/>
          </a:xfrm>
          <a:prstGeom prst="rect">
            <a:avLst/>
          </a:prstGeom>
          <a:noFill/>
        </p:spPr>
        <p:txBody>
          <a:bodyPr wrap="square" lIns="0" rIns="0" tIns="0" bIns="0" anchor="t">
            <a:spAutoFit/>
          </a:bodyPr>
          <a:lstStyle/>
          <a:p>
            <a:pPr algn="l">
              <a:spcAft>
                <a:spcPts val="800"/>
              </a:spcAft>
            </a:pPr>
            <a:r>
              <a:rPr sz="1600" b="1" i="0">
                <a:solidFill>
                  <a:srgbClr val="1F3A5F"/>
                </a:solidFill>
                <a:latin typeface="IBM Plex Sans"/>
                <a:ea typeface="IBM Plex Sans"/>
                <a:cs typeface="IBM Plex Sans"/>
              </a:rPr>
              <a:t>case18482, ‖g‖ after one step</a:t>
            </a:r>
          </a:p>
        </p:txBody>
      </p:sp>
      <p:sp>
        <p:nvSpPr>
          <p:cNvPr id="8" name="TextBox 7"/>
          <p:cNvSpPr txBox="1"/>
          <p:nvPr/>
        </p:nvSpPr>
        <p:spPr>
          <a:xfrm>
            <a:off x="7772400" y="2011680"/>
            <a:ext cx="3657600" cy="822960"/>
          </a:xfrm>
          <a:prstGeom prst="rect">
            <a:avLst/>
          </a:prstGeom>
          <a:noFill/>
        </p:spPr>
        <p:txBody>
          <a:bodyPr wrap="square" lIns="0" rIns="0" tIns="0" bIns="0" anchor="t">
            <a:spAutoFit/>
          </a:bodyPr>
          <a:lstStyle/>
          <a:p>
            <a:pPr algn="l">
              <a:spcAft>
                <a:spcPts val="800"/>
              </a:spcAft>
            </a:pPr>
            <a:r>
              <a:rPr sz="3600" b="1" i="0">
                <a:solidFill>
                  <a:srgbClr val="B54A3F"/>
                </a:solidFill>
                <a:latin typeface="IBM Plex Sans"/>
                <a:ea typeface="IBM Plex Sans"/>
                <a:cs typeface="IBM Plex Sans"/>
              </a:rPr>
              <a:t>533 → 10¹³</a:t>
            </a:r>
          </a:p>
        </p:txBody>
      </p:sp>
      <p:sp>
        <p:nvSpPr>
          <p:cNvPr id="9" name="TextBox 8"/>
          <p:cNvSpPr txBox="1"/>
          <p:nvPr/>
        </p:nvSpPr>
        <p:spPr>
          <a:xfrm>
            <a:off x="7772400" y="2880360"/>
            <a:ext cx="365760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forward Euler</a:t>
            </a:r>
          </a:p>
        </p:txBody>
      </p:sp>
      <p:sp>
        <p:nvSpPr>
          <p:cNvPr id="10" name="TextBox 9"/>
          <p:cNvSpPr txBox="1"/>
          <p:nvPr/>
        </p:nvSpPr>
        <p:spPr>
          <a:xfrm>
            <a:off x="7772400" y="3474720"/>
            <a:ext cx="3657600" cy="822960"/>
          </a:xfrm>
          <a:prstGeom prst="rect">
            <a:avLst/>
          </a:prstGeom>
          <a:noFill/>
        </p:spPr>
        <p:txBody>
          <a:bodyPr wrap="square" lIns="0" rIns="0" tIns="0" bIns="0" anchor="t">
            <a:spAutoFit/>
          </a:bodyPr>
          <a:lstStyle/>
          <a:p>
            <a:pPr algn="l">
              <a:spcAft>
                <a:spcPts val="800"/>
              </a:spcAft>
            </a:pPr>
            <a:r>
              <a:rPr sz="3600" b="1" i="0">
                <a:solidFill>
                  <a:srgbClr val="2F8F5B"/>
                </a:solidFill>
                <a:latin typeface="IBM Plex Sans"/>
                <a:ea typeface="IBM Plex Sans"/>
                <a:cs typeface="IBM Plex Sans"/>
              </a:rPr>
              <a:t>533 → 65</a:t>
            </a:r>
          </a:p>
        </p:txBody>
      </p:sp>
      <p:sp>
        <p:nvSpPr>
          <p:cNvPr id="11" name="TextBox 10"/>
          <p:cNvSpPr txBox="1"/>
          <p:nvPr/>
        </p:nvSpPr>
        <p:spPr>
          <a:xfrm>
            <a:off x="7772400" y="4343400"/>
            <a:ext cx="365760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backward Euler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Figures 1 and 2: the 2×2 example</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6</a:t>
            </a:r>
          </a:p>
        </p:txBody>
      </p:sp>
      <p:pic>
        <p:nvPicPr>
          <p:cNvPr id="6" name="Picture 5" descr="tutorial_geometry.png"/>
          <p:cNvPicPr>
            <a:picLocks noChangeAspect="1"/>
          </p:cNvPicPr>
          <p:nvPr/>
        </p:nvPicPr>
        <p:blipFill>
          <a:blip r:embed="rId3"/>
          <a:stretch>
            <a:fillRect/>
          </a:stretch>
        </p:blipFill>
        <p:spPr>
          <a:xfrm>
            <a:off x="2610652" y="1325880"/>
            <a:ext cx="6921927" cy="3200400"/>
          </a:xfrm>
          <a:prstGeom prst="rect">
            <a:avLst/>
          </a:prstGeom>
        </p:spPr>
      </p:pic>
      <p:sp>
        <p:nvSpPr>
          <p:cNvPr id="7" name="TextBox 6"/>
          <p:cNvSpPr txBox="1"/>
          <p:nvPr/>
        </p:nvSpPr>
        <p:spPr>
          <a:xfrm>
            <a:off x="813816" y="4663440"/>
            <a:ext cx="10561320" cy="822960"/>
          </a:xfrm>
          <a:prstGeom prst="rect">
            <a:avLst/>
          </a:prstGeom>
          <a:noFill/>
        </p:spPr>
        <p:txBody>
          <a:bodyPr wrap="square" lIns="0" rIns="0" tIns="0" bIns="0" anchor="t">
            <a:spAutoFit/>
          </a:bodyPr>
          <a:lstStyle/>
          <a:p>
            <a:pPr algn="l">
              <a:spcAft>
                <a:spcPts val="800"/>
              </a:spcAft>
            </a:pPr>
            <a:r>
              <a:rPr sz="1600" b="0" i="0">
                <a:solidFill>
                  <a:srgbClr val="1B1F2A"/>
                </a:solidFill>
                <a:latin typeface="IBM Plex Sans"/>
                <a:ea typeface="IBM Plex Sans"/>
                <a:cs typeface="IBM Plex Sans"/>
              </a:rPr>
              <a:t>Newton alone: </a:t>
            </a:r>
            <a:r>
              <a:rPr sz="1600" b="1" i="0">
                <a:solidFill>
                  <a:srgbClr val="1F3A5F"/>
                </a:solidFill>
                <a:latin typeface="IBM Plex Sans"/>
                <a:ea typeface="IBM Plex Sans"/>
                <a:cs typeface="IBM Plex Sans"/>
              </a:rPr>
              <a:t>11 and 10 iterations</a:t>
            </a:r>
            <a:r>
              <a:rPr sz="1600" b="0" i="0">
                <a:solidFill>
                  <a:srgbClr val="1B1F2A"/>
                </a:solidFill>
                <a:latin typeface="IBM Plex Sans"/>
                <a:ea typeface="IBM Plex Sans"/>
                <a:cs typeface="IBM Plex Sans"/>
              </a:rPr>
              <a:t>  for ε = 0.005 and 0.01, exactly as in the paper.   </a:t>
            </a:r>
            <a:r>
              <a:rPr sz="1600" b="0" i="0">
                <a:solidFill>
                  <a:srgbClr val="6B7280"/>
                </a:solidFill>
                <a:latin typeface="IBM Plex Sans"/>
                <a:ea typeface="IBM Plex Sans"/>
                <a:cs typeface="IBM Plex Sans"/>
              </a:rPr>
              <a:t>The paper's ε = 0.05 curve does not fit its own equations.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Figure 4: the largest grid</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7</a:t>
            </a:r>
          </a:p>
        </p:txBody>
      </p:sp>
      <p:pic>
        <p:nvPicPr>
          <p:cNvPr id="6" name="Picture 5" descr="fig4_case109272_states.png"/>
          <p:cNvPicPr>
            <a:picLocks noChangeAspect="1"/>
          </p:cNvPicPr>
          <p:nvPr/>
        </p:nvPicPr>
        <p:blipFill>
          <a:blip r:embed="rId3"/>
          <a:stretch>
            <a:fillRect/>
          </a:stretch>
        </p:blipFill>
        <p:spPr>
          <a:xfrm>
            <a:off x="1089894" y="1325880"/>
            <a:ext cx="3288323" cy="4114800"/>
          </a:xfrm>
          <a:prstGeom prst="rect">
            <a:avLst/>
          </a:prstGeom>
        </p:spPr>
      </p:pic>
      <p:sp>
        <p:nvSpPr>
          <p:cNvPr id="7" name="TextBox 6"/>
          <p:cNvSpPr txBox="1"/>
          <p:nvPr/>
        </p:nvSpPr>
        <p:spPr>
          <a:xfrm>
            <a:off x="5486400" y="1645920"/>
            <a:ext cx="5669280" cy="822960"/>
          </a:xfrm>
          <a:prstGeom prst="rect">
            <a:avLst/>
          </a:prstGeom>
          <a:noFill/>
        </p:spPr>
        <p:txBody>
          <a:bodyPr wrap="square" lIns="0" rIns="0" tIns="0" bIns="0" anchor="t">
            <a:spAutoFit/>
          </a:bodyPr>
          <a:lstStyle/>
          <a:p>
            <a:pPr algn="l">
              <a:spcAft>
                <a:spcPts val="800"/>
              </a:spcAft>
            </a:pPr>
            <a:r>
              <a:rPr sz="4000" b="1" i="0">
                <a:solidFill>
                  <a:srgbClr val="1F3A5F"/>
                </a:solidFill>
                <a:latin typeface="IBM Plex Sans"/>
                <a:ea typeface="IBM Plex Sans"/>
                <a:cs typeface="IBM Plex Sans"/>
              </a:rPr>
              <a:t>2 path points + 4 NR</a:t>
            </a:r>
          </a:p>
        </p:txBody>
      </p:sp>
      <p:sp>
        <p:nvSpPr>
          <p:cNvPr id="8" name="TextBox 7"/>
          <p:cNvSpPr txBox="1"/>
          <p:nvPr/>
        </p:nvSpPr>
        <p:spPr>
          <a:xfrm>
            <a:off x="5486400" y="2514600"/>
            <a:ext cx="566928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iterations on case109272 (185,807 unknowns), as in the paper</a:t>
            </a:r>
          </a:p>
        </p:txBody>
      </p:sp>
      <p:sp>
        <p:nvSpPr>
          <p:cNvPr id="9" name="TextBox 8"/>
          <p:cNvSpPr txBox="1"/>
          <p:nvPr/>
        </p:nvSpPr>
        <p:spPr>
          <a:xfrm>
            <a:off x="5486400" y="3291840"/>
            <a:ext cx="5669280" cy="822960"/>
          </a:xfrm>
          <a:prstGeom prst="rect">
            <a:avLst/>
          </a:prstGeom>
          <a:noFill/>
        </p:spPr>
        <p:txBody>
          <a:bodyPr wrap="square" lIns="0" rIns="0" tIns="0" bIns="0" anchor="t">
            <a:spAutoFit/>
          </a:bodyPr>
          <a:lstStyle/>
          <a:p>
            <a:pPr algn="l">
              <a:spcAft>
                <a:spcPts val="800"/>
              </a:spcAft>
            </a:pPr>
            <a:r>
              <a:rPr sz="4000" b="1" i="0">
                <a:solidFill>
                  <a:srgbClr val="1F3A5F"/>
                </a:solidFill>
                <a:latin typeface="IBM Plex Sans"/>
                <a:ea typeface="IBM Plex Sans"/>
                <a:cs typeface="IBM Plex Sans"/>
              </a:rPr>
              <a:t>1.0045 pu, 21.1°</a:t>
            </a:r>
          </a:p>
        </p:txBody>
      </p:sp>
      <p:sp>
        <p:nvSpPr>
          <p:cNvPr id="10" name="TextBox 9"/>
          <p:cNvSpPr txBox="1"/>
          <p:nvPr/>
        </p:nvSpPr>
        <p:spPr>
          <a:xfrm>
            <a:off x="5486400" y="4160520"/>
            <a:ext cx="566928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final voltage at bus 6, the same as the paper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One solver with switches: solve()</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8</a:t>
            </a:r>
          </a:p>
        </p:txBody>
      </p:sp>
      <p:sp>
        <p:nvSpPr>
          <p:cNvPr id="6" name="Rounded Rectangle 5"/>
          <p:cNvSpPr/>
          <p:nvPr/>
        </p:nvSpPr>
        <p:spPr>
          <a:xfrm>
            <a:off x="813816" y="1600200"/>
            <a:ext cx="1783080" cy="731520"/>
          </a:xfrm>
          <a:prstGeom prst="roundRect">
            <a:avLst>
              <a:gd name="adj" fmla="val 1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i="0">
                <a:solidFill>
                  <a:srgbClr val="FFFFFF"/>
                </a:solidFill>
                <a:latin typeface="IBM Plex Sans"/>
                <a:ea typeface="IBM Plex Sans"/>
                <a:cs typeface="IBM Plex Sans"/>
              </a:rPr>
              <a:t>flat start</a:t>
            </a:r>
          </a:p>
        </p:txBody>
      </p:sp>
      <p:sp>
        <p:nvSpPr>
          <p:cNvPr id="7" name="Right Arrow 6"/>
          <p:cNvSpPr/>
          <p:nvPr/>
        </p:nvSpPr>
        <p:spPr>
          <a:xfrm>
            <a:off x="2660904" y="182880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80944" y="160020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i="0">
                <a:solidFill>
                  <a:srgbClr val="1F3A5F"/>
                </a:solidFill>
                <a:latin typeface="IBM Plex Sans"/>
                <a:ea typeface="IBM Plex Sans"/>
                <a:cs typeface="IBM Plex Sans"/>
              </a:rPr>
              <a:t>path: step rule</a:t>
            </a:r>
          </a:p>
        </p:txBody>
      </p:sp>
      <p:sp>
        <p:nvSpPr>
          <p:cNvPr id="9" name="Right Arrow 8"/>
          <p:cNvSpPr/>
          <p:nvPr/>
        </p:nvSpPr>
        <p:spPr>
          <a:xfrm>
            <a:off x="4828032" y="182880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48072" y="160020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i="0">
                <a:solidFill>
                  <a:srgbClr val="1F3A5F"/>
                </a:solidFill>
                <a:latin typeface="IBM Plex Sans"/>
                <a:ea typeface="IBM Plex Sans"/>
                <a:cs typeface="IBM Plex Sans"/>
              </a:rPr>
              <a:t>corrector?</a:t>
            </a:r>
          </a:p>
        </p:txBody>
      </p:sp>
      <p:sp>
        <p:nvSpPr>
          <p:cNvPr id="11" name="Right Arrow 10"/>
          <p:cNvSpPr/>
          <p:nvPr/>
        </p:nvSpPr>
        <p:spPr>
          <a:xfrm>
            <a:off x="6995160" y="182880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0" y="160020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i="0">
                <a:solidFill>
                  <a:srgbClr val="1F3A5F"/>
                </a:solidFill>
                <a:latin typeface="IBM Plex Sans"/>
                <a:ea typeface="IBM Plex Sans"/>
                <a:cs typeface="IBM Plex Sans"/>
              </a:rPr>
              <a:t>adaptive or Richardson?</a:t>
            </a:r>
          </a:p>
        </p:txBody>
      </p:sp>
      <p:sp>
        <p:nvSpPr>
          <p:cNvPr id="13" name="Right Arrow 12"/>
          <p:cNvSpPr/>
          <p:nvPr/>
        </p:nvSpPr>
        <p:spPr>
          <a:xfrm>
            <a:off x="9162288" y="182880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82328" y="160020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i="0">
                <a:solidFill>
                  <a:srgbClr val="1F3A5F"/>
                </a:solidFill>
                <a:latin typeface="IBM Plex Sans"/>
                <a:ea typeface="IBM Plex Sans"/>
                <a:cs typeface="IBM Plex Sans"/>
              </a:rPr>
              <a:t>NR / FDXB (multiplier?)</a:t>
            </a:r>
          </a:p>
        </p:txBody>
      </p:sp>
      <p:graphicFrame>
        <p:nvGraphicFramePr>
          <p:cNvPr id="15" name="Table 14"/>
          <p:cNvGraphicFramePr>
            <a:graphicFrameLocks noGrp="1"/>
          </p:cNvGraphicFramePr>
          <p:nvPr/>
        </p:nvGraphicFramePr>
        <p:xfrm>
          <a:off x="813816" y="2743200"/>
          <a:ext cx="7315200" cy="1920240"/>
        </p:xfrm>
        <a:graphic>
          <a:graphicData uri="http://schemas.openxmlformats.org/drawingml/2006/table">
            <a:tbl>
              <a:tblPr firstRow="0" bandRow="0">
                <a:tableStyleId>{2D5ABB26-0587-4C30-8999-92F81FD0307C}</a:tableStyleId>
              </a:tblPr>
              <a:tblGrid>
                <a:gridCol w="2377440"/>
                <a:gridCol w="3108960"/>
                <a:gridCol w="1828800"/>
              </a:tblGrid>
              <a:tr h="384048">
                <a:tc>
                  <a:txBody>
                    <a:bodyPr wrap="square"/>
                    <a:lstStyle/>
                    <a:p>
                      <a:pPr algn="l"/>
                      <a:r>
                        <a:rPr sz="1500" b="1" i="0">
                          <a:solidFill>
                            <a:srgbClr val="1B1F2A"/>
                          </a:solidFill>
                          <a:latin typeface="IBM Plex Sans"/>
                          <a:ea typeface="IBM Plex Sans"/>
                          <a:cs typeface="IBM Plex Sans"/>
                        </a:rPr>
                        <a:t>Switch</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500" b="1" i="0">
                          <a:solidFill>
                            <a:srgbClr val="1B1F2A"/>
                          </a:solidFill>
                          <a:latin typeface="IBM Plex Sans"/>
                          <a:ea typeface="IBM Plex Sans"/>
                          <a:cs typeface="IBM Plex Sans"/>
                        </a:rPr>
                        <a:t>Options</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500" b="1" i="0">
                          <a:solidFill>
                            <a:srgbClr val="1B1F2A"/>
                          </a:solidFill>
                          <a:latin typeface="IBM Plex Sans"/>
                          <a:ea typeface="IBM Plex Sans"/>
                          <a:cs typeface="IBM Plex Sans"/>
                        </a:rPr>
                        <a:t>Owner</a:t>
                      </a:r>
                    </a:p>
                  </a:txBody>
                  <a:tcPr marL="73152" marR="73152" marT="36576" marB="36576" anchor="ctr">
                    <a:lnL w="0">
                      <a:noFill/>
                    </a:lnL>
                    <a:lnR w="0">
                      <a:noFill/>
                    </a:lnR>
                    <a:lnT w="0">
                      <a:noFill/>
                    </a:lnT>
                    <a:lnB w="12700">
                      <a:solidFill>
                        <a:srgbClr val="C8C8C6"/>
                      </a:solidFill>
                    </a:lnB>
                    <a:solidFill>
                      <a:srgbClr val="E9E9E7"/>
                    </a:solidFill>
                  </a:tcPr>
                </a:tc>
              </a:tr>
              <a:tr h="384048">
                <a:tc>
                  <a:txBody>
                    <a:bodyPr wrap="square"/>
                    <a:lstStyle/>
                    <a:p>
                      <a:pPr algn="l"/>
                      <a:r>
                        <a:rPr sz="1500" b="0" i="0">
                          <a:solidFill>
                            <a:srgbClr val="1B1F2A"/>
                          </a:solidFill>
                          <a:latin typeface="IBM Plex Sans"/>
                          <a:ea typeface="IBM Plex Sans"/>
                          <a:cs typeface="IBM Plex Sans"/>
                        </a:rPr>
                        <a:t>step</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BE, FE, RK2, RK4, BE-chord</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Sizan</a:t>
                      </a:r>
                    </a:p>
                  </a:txBody>
                  <a:tcPr marL="73152" marR="73152" marT="36576" marB="36576" anchor="ctr">
                    <a:lnL w="0">
                      <a:noFill/>
                    </a:lnL>
                    <a:lnR w="0">
                      <a:noFill/>
                    </a:lnR>
                    <a:lnT w="0">
                      <a:noFill/>
                    </a:lnT>
                    <a:lnB w="12700">
                      <a:solidFill>
                        <a:srgbClr val="C8C8C6"/>
                      </a:solidFill>
                    </a:lnB>
                    <a:solidFill>
                      <a:srgbClr val="FBFBF9"/>
                    </a:solidFill>
                  </a:tcPr>
                </a:tc>
              </a:tr>
              <a:tr h="384048">
                <a:tc>
                  <a:txBody>
                    <a:bodyPr wrap="square"/>
                    <a:lstStyle/>
                    <a:p>
                      <a:pPr algn="l"/>
                      <a:r>
                        <a:rPr sz="1500" b="0" i="0">
                          <a:solidFill>
                            <a:srgbClr val="1B1F2A"/>
                          </a:solidFill>
                          <a:latin typeface="IBM Plex Sans"/>
                          <a:ea typeface="IBM Plex Sans"/>
                          <a:cs typeface="IBM Plex Sans"/>
                        </a:rPr>
                        <a:t>corrector, adaptive</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on / off</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Apurbo</a:t>
                      </a:r>
                    </a:p>
                  </a:txBody>
                  <a:tcPr marL="73152" marR="73152" marT="36576" marB="36576" anchor="ctr">
                    <a:lnL w="0">
                      <a:noFill/>
                    </a:lnL>
                    <a:lnR w="0">
                      <a:noFill/>
                    </a:lnR>
                    <a:lnT w="0">
                      <a:noFill/>
                    </a:lnT>
                    <a:lnB w="12700">
                      <a:solidFill>
                        <a:srgbClr val="C8C8C6"/>
                      </a:solidFill>
                    </a:lnB>
                    <a:solidFill>
                      <a:srgbClr val="FBFBF9"/>
                    </a:solidFill>
                  </a:tcPr>
                </a:tc>
              </a:tr>
              <a:tr h="384048">
                <a:tc>
                  <a:txBody>
                    <a:bodyPr wrap="square"/>
                    <a:lstStyle/>
                    <a:p>
                      <a:pPr algn="l"/>
                      <a:r>
                        <a:rPr sz="1500" b="0" i="0">
                          <a:solidFill>
                            <a:srgbClr val="1B1F2A"/>
                          </a:solidFill>
                          <a:latin typeface="IBM Plex Sans"/>
                          <a:ea typeface="IBM Plex Sans"/>
                          <a:cs typeface="IBM Plex Sans"/>
                        </a:rPr>
                        <a:t>multiplier</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on / off</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Hasbi</a:t>
                      </a:r>
                    </a:p>
                  </a:txBody>
                  <a:tcPr marL="73152" marR="73152" marT="36576" marB="36576" anchor="ctr">
                    <a:lnL w="0">
                      <a:noFill/>
                    </a:lnL>
                    <a:lnR w="0">
                      <a:noFill/>
                    </a:lnR>
                    <a:lnT w="0">
                      <a:noFill/>
                    </a:lnT>
                    <a:lnB w="12700">
                      <a:solidFill>
                        <a:srgbClr val="C8C8C6"/>
                      </a:solidFill>
                    </a:lnB>
                    <a:solidFill>
                      <a:srgbClr val="FBFBF9"/>
                    </a:solidFill>
                  </a:tcPr>
                </a:tc>
              </a:tr>
              <a:tr h="384048">
                <a:tc>
                  <a:txBody>
                    <a:bodyPr wrap="square"/>
                    <a:lstStyle/>
                    <a:p>
                      <a:pPr algn="l"/>
                      <a:r>
                        <a:rPr sz="1500" b="0" i="0">
                          <a:solidFill>
                            <a:srgbClr val="1B1F2A"/>
                          </a:solidFill>
                          <a:latin typeface="IBM Plex Sans"/>
                          <a:ea typeface="IBM Plex Sans"/>
                          <a:cs typeface="IBM Plex Sans"/>
                        </a:rPr>
                        <a:t>richardson</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on / off</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500" b="0" i="0">
                          <a:solidFill>
                            <a:srgbClr val="1B1F2A"/>
                          </a:solidFill>
                          <a:latin typeface="IBM Plex Sans"/>
                          <a:ea typeface="IBM Plex Sans"/>
                          <a:cs typeface="IBM Plex Sans"/>
                        </a:rPr>
                        <a:t>Sadman</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16" name="TextBox 15"/>
          <p:cNvSpPr txBox="1"/>
          <p:nvPr/>
        </p:nvSpPr>
        <p:spPr>
          <a:xfrm>
            <a:off x="9052560" y="2926080"/>
            <a:ext cx="2377440" cy="1828800"/>
          </a:xfrm>
          <a:prstGeom prst="rect">
            <a:avLst/>
          </a:prstGeom>
          <a:noFill/>
        </p:spPr>
        <p:txBody>
          <a:bodyPr wrap="square" lIns="0" rIns="0" tIns="0" bIns="0" anchor="t">
            <a:spAutoFit/>
          </a:bodyPr>
          <a:lstStyle/>
          <a:p>
            <a:pPr algn="l">
              <a:spcAft>
                <a:spcPts val="400"/>
              </a:spcAft>
            </a:pPr>
            <a:r>
              <a:rPr sz="2000" b="1" i="0">
                <a:solidFill>
                  <a:srgbClr val="1F3A5F"/>
                </a:solidFill>
                <a:latin typeface="IBM Plex Sans"/>
                <a:ea typeface="IBM Plex Sans"/>
                <a:cs typeface="IBM Plex Sans"/>
              </a:rPr>
              <a:t>All off</a:t>
            </a:r>
          </a:p>
          <a:p>
            <a:pPr algn="l">
              <a:spcAft>
                <a:spcPts val="400"/>
              </a:spcAft>
            </a:pPr>
            <a:r>
              <a:rPr sz="1500" b="0" i="0">
                <a:solidFill>
                  <a:srgbClr val="1B1F2A"/>
                </a:solidFill>
                <a:latin typeface="IBM Plex Sans"/>
                <a:ea typeface="IBM Plex Sans"/>
                <a:cs typeface="IBM Plex Sans"/>
              </a:rPr>
              <a:t>= the paper's method, checked by a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Improvement: a Newton corrector</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9</a:t>
            </a:r>
          </a:p>
        </p:txBody>
      </p:sp>
      <p:pic>
        <p:nvPicPr>
          <p:cNvPr id="6" name="Picture 5" descr="a_pc.png"/>
          <p:cNvPicPr>
            <a:picLocks noChangeAspect="1"/>
          </p:cNvPicPr>
          <p:nvPr/>
        </p:nvPicPr>
        <p:blipFill>
          <a:blip r:embed="rId3"/>
          <a:stretch>
            <a:fillRect/>
          </a:stretch>
        </p:blipFill>
        <p:spPr>
          <a:xfrm>
            <a:off x="813816" y="1554480"/>
            <a:ext cx="5705856" cy="478536"/>
          </a:xfrm>
          <a:prstGeom prst="rect">
            <a:avLst/>
          </a:prstGeom>
        </p:spPr>
      </p:pic>
      <p:sp>
        <p:nvSpPr>
          <p:cNvPr id="7" name="TextBox 6"/>
          <p:cNvSpPr txBox="1"/>
          <p:nvPr/>
        </p:nvSpPr>
        <p:spPr>
          <a:xfrm>
            <a:off x="813816" y="2377440"/>
            <a:ext cx="10561320" cy="457200"/>
          </a:xfrm>
          <a:prstGeom prst="rect">
            <a:avLst/>
          </a:prstGeom>
          <a:noFill/>
        </p:spPr>
        <p:txBody>
          <a:bodyPr wrap="square" lIns="0" rIns="0" tIns="0" bIns="0" anchor="t">
            <a:spAutoFit/>
          </a:bodyPr>
          <a:lstStyle/>
          <a:p>
            <a:pPr algn="l">
              <a:spcAft>
                <a:spcPts val="800"/>
              </a:spcAft>
            </a:pPr>
            <a:r>
              <a:rPr sz="1700" b="0" i="0">
                <a:solidFill>
                  <a:srgbClr val="333A48"/>
                </a:solidFill>
                <a:latin typeface="IBM Plex Sans"/>
                <a:ea typeface="IBM Plex Sans"/>
                <a:cs typeface="IBM Plex Sans"/>
              </a:rPr>
              <a:t>predictor: the BE step gives x̃ near the path;  corrector: one Newton step back onto it</a:t>
            </a:r>
          </a:p>
        </p:txBody>
      </p:sp>
      <p:sp>
        <p:nvSpPr>
          <p:cNvPr id="8" name="TextBox 7"/>
          <p:cNvSpPr txBox="1"/>
          <p:nvPr/>
        </p:nvSpPr>
        <p:spPr>
          <a:xfrm>
            <a:off x="813816" y="3200400"/>
            <a:ext cx="3291840" cy="822960"/>
          </a:xfrm>
          <a:prstGeom prst="rect">
            <a:avLst/>
          </a:prstGeom>
          <a:noFill/>
        </p:spPr>
        <p:txBody>
          <a:bodyPr wrap="square" lIns="0" rIns="0" tIns="0" bIns="0" anchor="t">
            <a:spAutoFit/>
          </a:bodyPr>
          <a:lstStyle/>
          <a:p>
            <a:pPr algn="l">
              <a:spcAft>
                <a:spcPts val="800"/>
              </a:spcAft>
            </a:pPr>
            <a:r>
              <a:rPr sz="4800" b="1" i="0">
                <a:solidFill>
                  <a:srgbClr val="2F8F5B"/>
                </a:solidFill>
                <a:latin typeface="IBM Plex Sans"/>
                <a:ea typeface="IBM Plex Sans"/>
                <a:cs typeface="IBM Plex Sans"/>
              </a:rPr>
              <a:t>152</a:t>
            </a:r>
          </a:p>
        </p:txBody>
      </p:sp>
      <p:sp>
        <p:nvSpPr>
          <p:cNvPr id="9" name="TextBox 8"/>
          <p:cNvSpPr txBox="1"/>
          <p:nvPr/>
        </p:nvSpPr>
        <p:spPr>
          <a:xfrm>
            <a:off x="813816" y="4069080"/>
            <a:ext cx="329184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of 170 runs solved (paper 127), none lost</a:t>
            </a:r>
          </a:p>
        </p:txBody>
      </p:sp>
      <p:sp>
        <p:nvSpPr>
          <p:cNvPr id="10" name="TextBox 9"/>
          <p:cNvSpPr txBox="1"/>
          <p:nvPr/>
        </p:nvSpPr>
        <p:spPr>
          <a:xfrm>
            <a:off x="4379976" y="3200400"/>
            <a:ext cx="3291840" cy="822960"/>
          </a:xfrm>
          <a:prstGeom prst="rect">
            <a:avLst/>
          </a:prstGeom>
          <a:noFill/>
        </p:spPr>
        <p:txBody>
          <a:bodyPr wrap="square" lIns="0" rIns="0" tIns="0" bIns="0" anchor="t">
            <a:spAutoFit/>
          </a:bodyPr>
          <a:lstStyle/>
          <a:p>
            <a:pPr algn="l">
              <a:spcAft>
                <a:spcPts val="800"/>
              </a:spcAft>
            </a:pPr>
            <a:r>
              <a:rPr sz="4800" b="1" i="0">
                <a:solidFill>
                  <a:srgbClr val="1F3A5F"/>
                </a:solidFill>
                <a:latin typeface="IBM Plex Sans"/>
                <a:ea typeface="IBM Plex Sans"/>
                <a:cs typeface="IBM Plex Sans"/>
              </a:rPr>
              <a:t>14 → 2</a:t>
            </a:r>
          </a:p>
        </p:txBody>
      </p:sp>
      <p:sp>
        <p:nvSpPr>
          <p:cNvPr id="11" name="TextBox 10"/>
          <p:cNvSpPr txBox="1"/>
          <p:nvPr/>
        </p:nvSpPr>
        <p:spPr>
          <a:xfrm>
            <a:off x="4379976" y="4069080"/>
            <a:ext cx="329184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wrong roots</a:t>
            </a:r>
          </a:p>
        </p:txBody>
      </p:sp>
      <p:sp>
        <p:nvSpPr>
          <p:cNvPr id="12" name="TextBox 11"/>
          <p:cNvSpPr txBox="1"/>
          <p:nvPr/>
        </p:nvSpPr>
        <p:spPr>
          <a:xfrm>
            <a:off x="7946136" y="3200400"/>
            <a:ext cx="3291840" cy="822960"/>
          </a:xfrm>
          <a:prstGeom prst="rect">
            <a:avLst/>
          </a:prstGeom>
          <a:noFill/>
        </p:spPr>
        <p:txBody>
          <a:bodyPr wrap="square" lIns="0" rIns="0" tIns="0" bIns="0" anchor="t">
            <a:spAutoFit/>
          </a:bodyPr>
          <a:lstStyle/>
          <a:p>
            <a:pPr algn="l">
              <a:spcAft>
                <a:spcPts val="800"/>
              </a:spcAft>
            </a:pPr>
            <a:r>
              <a:rPr sz="4800" b="1" i="0">
                <a:solidFill>
                  <a:srgbClr val="1F3A5F"/>
                </a:solidFill>
                <a:latin typeface="IBM Plex Sans"/>
                <a:ea typeface="IBM Plex Sans"/>
                <a:cs typeface="IBM Plex Sans"/>
              </a:rPr>
              <a:t>+0.4 LU</a:t>
            </a:r>
          </a:p>
        </p:txBody>
      </p:sp>
      <p:sp>
        <p:nvSpPr>
          <p:cNvPr id="13" name="TextBox 12"/>
          <p:cNvSpPr txBox="1"/>
          <p:nvPr/>
        </p:nvSpPr>
        <p:spPr>
          <a:xfrm>
            <a:off x="7946136" y="4069080"/>
            <a:ext cx="329184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per run (8.43 vs 8.04)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Adaptive steps: a smaller gain</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10</a:t>
            </a:r>
          </a:p>
        </p:txBody>
      </p:sp>
      <p:pic>
        <p:nvPicPr>
          <p:cNvPr id="6" name="Picture 5" descr="adaptive_path.png"/>
          <p:cNvPicPr>
            <a:picLocks noChangeAspect="1"/>
          </p:cNvPicPr>
          <p:nvPr/>
        </p:nvPicPr>
        <p:blipFill>
          <a:blip r:embed="rId3"/>
          <a:stretch>
            <a:fillRect/>
          </a:stretch>
        </p:blipFill>
        <p:spPr>
          <a:xfrm>
            <a:off x="722376" y="1406613"/>
            <a:ext cx="6309360" cy="3953333"/>
          </a:xfrm>
          <a:prstGeom prst="rect">
            <a:avLst/>
          </a:prstGeom>
        </p:spPr>
      </p:pic>
      <p:sp>
        <p:nvSpPr>
          <p:cNvPr id="7" name="TextBox 6"/>
          <p:cNvSpPr txBox="1"/>
          <p:nvPr/>
        </p:nvSpPr>
        <p:spPr>
          <a:xfrm>
            <a:off x="7498079" y="1737360"/>
            <a:ext cx="3840480" cy="1463040"/>
          </a:xfrm>
          <a:prstGeom prst="rect">
            <a:avLst/>
          </a:prstGeom>
          <a:noFill/>
        </p:spPr>
        <p:txBody>
          <a:bodyPr wrap="square" lIns="0" rIns="0" tIns="0" bIns="0" anchor="t">
            <a:spAutoFit/>
          </a:bodyPr>
          <a:lstStyle/>
          <a:p>
            <a:pPr algn="l" marL="228600" indent="-228600">
              <a:spcAft>
                <a:spcPts val="800"/>
              </a:spcAft>
              <a:buFont typeface="Arial"/>
              <a:buChar char="•"/>
            </a:pPr>
            <a:r>
              <a:rPr sz="1700" b="0" i="0">
                <a:solidFill>
                  <a:srgbClr val="1B1F2A"/>
                </a:solidFill>
                <a:latin typeface="IBM Plex Sans"/>
                <a:ea typeface="IBM Plex Sans"/>
                <a:cs typeface="IBM Plex Sans"/>
              </a:rPr>
              <a:t>try to jump straight to t = 1</a:t>
            </a:r>
          </a:p>
          <a:p>
            <a:pPr algn="l" marL="228600" indent="-228600">
              <a:spcAft>
                <a:spcPts val="800"/>
              </a:spcAft>
              <a:buFont typeface="Arial"/>
              <a:buChar char="•"/>
            </a:pPr>
            <a:r>
              <a:rPr sz="1700" b="0" i="0">
                <a:solidFill>
                  <a:srgbClr val="1B1F2A"/>
                </a:solidFill>
                <a:latin typeface="IBM Plex Sans"/>
                <a:ea typeface="IBM Plex Sans"/>
                <a:cs typeface="IBM Plex Sans"/>
              </a:rPr>
              <a:t>halve the step while ‖g‖ grows</a:t>
            </a:r>
          </a:p>
        </p:txBody>
      </p:sp>
      <p:sp>
        <p:nvSpPr>
          <p:cNvPr id="8" name="TextBox 7"/>
          <p:cNvSpPr txBox="1"/>
          <p:nvPr/>
        </p:nvSpPr>
        <p:spPr>
          <a:xfrm>
            <a:off x="7498079" y="3108960"/>
            <a:ext cx="3840480" cy="822960"/>
          </a:xfrm>
          <a:prstGeom prst="rect">
            <a:avLst/>
          </a:prstGeom>
          <a:noFill/>
        </p:spPr>
        <p:txBody>
          <a:bodyPr wrap="square" lIns="0" rIns="0" tIns="0" bIns="0" anchor="t">
            <a:spAutoFit/>
          </a:bodyPr>
          <a:lstStyle/>
          <a:p>
            <a:pPr algn="l">
              <a:spcAft>
                <a:spcPts val="800"/>
              </a:spcAft>
            </a:pPr>
            <a:r>
              <a:rPr sz="4800" b="1" i="0">
                <a:solidFill>
                  <a:srgbClr val="1F3A5F"/>
                </a:solidFill>
                <a:latin typeface="IBM Plex Sans"/>
                <a:ea typeface="IBM Plex Sans"/>
                <a:cs typeface="IBM Plex Sans"/>
              </a:rPr>
              <a:t>132</a:t>
            </a:r>
          </a:p>
        </p:txBody>
      </p:sp>
      <p:sp>
        <p:nvSpPr>
          <p:cNvPr id="9" name="TextBox 8"/>
          <p:cNvSpPr txBox="1"/>
          <p:nvPr/>
        </p:nvSpPr>
        <p:spPr>
          <a:xfrm>
            <a:off x="7498079" y="3977640"/>
            <a:ext cx="384048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of 170 solved (paper 127)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Why the shift works: the spectrum of J</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11</a:t>
            </a:r>
          </a:p>
        </p:txBody>
      </p:sp>
      <p:pic>
        <p:nvPicPr>
          <p:cNvPr id="6" name="Picture 5" descr="spectrum.png"/>
          <p:cNvPicPr>
            <a:picLocks noChangeAspect="1"/>
          </p:cNvPicPr>
          <p:nvPr/>
        </p:nvPicPr>
        <p:blipFill>
          <a:blip r:embed="rId3"/>
          <a:stretch>
            <a:fillRect/>
          </a:stretch>
        </p:blipFill>
        <p:spPr>
          <a:xfrm>
            <a:off x="857844" y="1325880"/>
            <a:ext cx="5581223" cy="4114800"/>
          </a:xfrm>
          <a:prstGeom prst="rect">
            <a:avLst/>
          </a:prstGeom>
        </p:spPr>
      </p:pic>
      <p:sp>
        <p:nvSpPr>
          <p:cNvPr id="7" name="TextBox 6"/>
          <p:cNvSpPr txBox="1"/>
          <p:nvPr/>
        </p:nvSpPr>
        <p:spPr>
          <a:xfrm>
            <a:off x="7040880" y="1463040"/>
            <a:ext cx="4297680" cy="1097280"/>
          </a:xfrm>
          <a:prstGeom prst="rect">
            <a:avLst/>
          </a:prstGeom>
          <a:noFill/>
        </p:spPr>
        <p:txBody>
          <a:bodyPr wrap="square" lIns="0" rIns="0" tIns="0" bIns="0" anchor="t">
            <a:spAutoFit/>
          </a:bodyPr>
          <a:lstStyle/>
          <a:p>
            <a:pPr algn="l" marL="228600" indent="-228600">
              <a:spcAft>
                <a:spcPts val="600"/>
              </a:spcAft>
              <a:buFont typeface="Arial"/>
              <a:buChar char="•"/>
            </a:pPr>
            <a:r>
              <a:rPr sz="1600" b="0" i="0">
                <a:solidFill>
                  <a:srgbClr val="1B1F2A"/>
                </a:solidFill>
                <a:latin typeface="IBM Plex Sans"/>
                <a:ea typeface="IBM Plex Sans"/>
                <a:cs typeface="IBM Plex Sans"/>
              </a:rPr>
              <a:t>|λ|max: power method</a:t>
            </a:r>
          </a:p>
          <a:p>
            <a:pPr algn="l" marL="228600" indent="-228600">
              <a:spcAft>
                <a:spcPts val="600"/>
              </a:spcAft>
              <a:buFont typeface="Arial"/>
              <a:buChar char="•"/>
            </a:pPr>
            <a:r>
              <a:rPr sz="1600" b="0" i="0">
                <a:solidFill>
                  <a:srgbClr val="1B1F2A"/>
                </a:solidFill>
                <a:latin typeface="IBM Plex Sans"/>
                <a:ea typeface="IBM Plex Sans"/>
                <a:cs typeface="IBM Plex Sans"/>
              </a:rPr>
              <a:t>|λ|min: inverse iteration (one LU)</a:t>
            </a:r>
          </a:p>
        </p:txBody>
      </p:sp>
      <p:sp>
        <p:nvSpPr>
          <p:cNvPr id="8" name="TextBox 7"/>
          <p:cNvSpPr txBox="1"/>
          <p:nvPr/>
        </p:nvSpPr>
        <p:spPr>
          <a:xfrm>
            <a:off x="7040880" y="2514600"/>
            <a:ext cx="4297680" cy="45720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eigenvalue ratio, case109272</a:t>
            </a:r>
          </a:p>
        </p:txBody>
      </p:sp>
      <p:sp>
        <p:nvSpPr>
          <p:cNvPr id="9" name="TextBox 8"/>
          <p:cNvSpPr txBox="1"/>
          <p:nvPr/>
        </p:nvSpPr>
        <p:spPr>
          <a:xfrm>
            <a:off x="7040880" y="2880360"/>
            <a:ext cx="4297680" cy="731520"/>
          </a:xfrm>
          <a:prstGeom prst="rect">
            <a:avLst/>
          </a:prstGeom>
          <a:noFill/>
        </p:spPr>
        <p:txBody>
          <a:bodyPr wrap="square" lIns="0" rIns="0" tIns="0" bIns="0" anchor="t">
            <a:spAutoFit/>
          </a:bodyPr>
          <a:lstStyle/>
          <a:p>
            <a:pPr algn="l">
              <a:spcAft>
                <a:spcPts val="800"/>
              </a:spcAft>
            </a:pPr>
            <a:r>
              <a:rPr sz="3400" b="1" i="0">
                <a:solidFill>
                  <a:srgbClr val="B54A3F"/>
                </a:solidFill>
                <a:latin typeface="IBM Plex Sans"/>
                <a:ea typeface="IBM Plex Sans"/>
                <a:cs typeface="IBM Plex Sans"/>
              </a:rPr>
              <a:t>1.2×10⁸</a:t>
            </a:r>
            <a:r>
              <a:rPr sz="3400" b="0" i="0">
                <a:solidFill>
                  <a:srgbClr val="1B1F2A"/>
                </a:solidFill>
                <a:latin typeface="IBM Plex Sans"/>
                <a:ea typeface="IBM Plex Sans"/>
                <a:cs typeface="IBM Plex Sans"/>
              </a:rPr>
              <a:t>  →  </a:t>
            </a:r>
            <a:r>
              <a:rPr sz="3400" b="1" i="0">
                <a:solidFill>
                  <a:srgbClr val="2F8F5B"/>
                </a:solidFill>
                <a:latin typeface="IBM Plex Sans"/>
                <a:ea typeface="IBM Plex Sans"/>
                <a:cs typeface="IBM Plex Sans"/>
              </a:rPr>
              <a:t>2×10⁶</a:t>
            </a:r>
          </a:p>
        </p:txBody>
      </p:sp>
      <p:sp>
        <p:nvSpPr>
          <p:cNvPr id="10" name="TextBox 9"/>
          <p:cNvSpPr txBox="1"/>
          <p:nvPr/>
        </p:nvSpPr>
        <p:spPr>
          <a:xfrm>
            <a:off x="7040880" y="3703320"/>
            <a:ext cx="4297680" cy="1280160"/>
          </a:xfrm>
          <a:prstGeom prst="rect">
            <a:avLst/>
          </a:prstGeom>
          <a:noFill/>
        </p:spPr>
        <p:txBody>
          <a:bodyPr wrap="square" lIns="0" rIns="0" tIns="0" bIns="0" anchor="t">
            <a:spAutoFit/>
          </a:bodyPr>
          <a:lstStyle/>
          <a:p>
            <a:pPr algn="l" marL="228600" indent="-228600">
              <a:spcAft>
                <a:spcPts val="600"/>
              </a:spcAft>
              <a:buFont typeface="Arial"/>
              <a:buChar char="•"/>
            </a:pPr>
            <a:r>
              <a:rPr sz="1500" b="0" i="0">
                <a:solidFill>
                  <a:srgbClr val="1B1F2A"/>
                </a:solidFill>
                <a:latin typeface="IBM Plex Sans"/>
                <a:ea typeface="IBM Plex Sans"/>
                <a:cs typeface="IBM Plex Sans"/>
              </a:rPr>
              <a:t>J  →  J + 0.02 I</a:t>
            </a:r>
          </a:p>
          <a:p>
            <a:pPr algn="l" marL="228600" indent="-228600">
              <a:spcAft>
                <a:spcPts val="600"/>
              </a:spcAft>
              <a:buFont typeface="Arial"/>
              <a:buChar char="•"/>
            </a:pPr>
            <a:r>
              <a:rPr sz="1500" b="0" i="0">
                <a:solidFill>
                  <a:srgbClr val="1B1F2A"/>
                </a:solidFill>
                <a:latin typeface="IBM Plex Sans"/>
                <a:ea typeface="IBM Plex Sans"/>
                <a:cs typeface="IBM Plex Sans"/>
              </a:rPr>
              <a:t>inverse iteration matches ARPACK on 33 of 34 grids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Summary</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Apurbo's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12</a:t>
            </a:r>
          </a:p>
        </p:txBody>
      </p:sp>
      <p:sp>
        <p:nvSpPr>
          <p:cNvPr id="6" name="TextBox 5"/>
          <p:cNvSpPr txBox="1"/>
          <p:nvPr/>
        </p:nvSpPr>
        <p:spPr>
          <a:xfrm>
            <a:off x="813816" y="1554480"/>
            <a:ext cx="10561320" cy="3200400"/>
          </a:xfrm>
          <a:prstGeom prst="rect">
            <a:avLst/>
          </a:prstGeom>
          <a:noFill/>
        </p:spPr>
        <p:txBody>
          <a:bodyPr wrap="square" lIns="0" rIns="0" tIns="0" bIns="0" anchor="t">
            <a:spAutoFit/>
          </a:bodyPr>
          <a:lstStyle/>
          <a:p>
            <a:pPr algn="l" marL="228600" indent="-228600">
              <a:spcAft>
                <a:spcPts val="1400"/>
              </a:spcAft>
              <a:buFont typeface="Arial"/>
              <a:buChar char="•"/>
            </a:pPr>
            <a:r>
              <a:rPr sz="1900" b="0" i="0">
                <a:solidFill>
                  <a:srgbClr val="1B1F2A"/>
                </a:solidFill>
                <a:latin typeface="IBM Plex Sans"/>
                <a:ea typeface="IBM Plex Sans"/>
                <a:cs typeface="IBM Plex Sans"/>
              </a:rPr>
              <a:t>Implemented the homotopy, the ODE and the FE, RK2 and BE integrators</a:t>
            </a:r>
          </a:p>
          <a:p>
            <a:pPr algn="l" marL="228600" indent="-228600">
              <a:spcAft>
                <a:spcPts val="1400"/>
              </a:spcAft>
              <a:buFont typeface="Arial"/>
              <a:buChar char="•"/>
            </a:pPr>
            <a:r>
              <a:rPr sz="1900" b="0" i="0">
                <a:solidFill>
                  <a:srgbClr val="1B1F2A"/>
                </a:solidFill>
                <a:latin typeface="IBM Plex Sans"/>
                <a:ea typeface="IBM Plex Sans"/>
                <a:cs typeface="IBM Plex Sans"/>
              </a:rPr>
              <a:t>Reproduced Figures 1, 2 and 4 and Section 4.2.1</a:t>
            </a:r>
          </a:p>
          <a:p>
            <a:pPr algn="l" marL="228600" indent="-228600">
              <a:spcAft>
                <a:spcPts val="1400"/>
              </a:spcAft>
              <a:buFont typeface="Arial"/>
              <a:buChar char="•"/>
            </a:pPr>
            <a:r>
              <a:rPr sz="1900" b="0" i="0">
                <a:solidFill>
                  <a:srgbClr val="1B1F2A"/>
                </a:solidFill>
                <a:latin typeface="IBM Plex Sans"/>
                <a:ea typeface="IBM Plex Sans"/>
                <a:cs typeface="IBM Plex Sans"/>
              </a:rPr>
              <a:t>The first BE step is a Newton step on J + δI: that is why the method works</a:t>
            </a:r>
          </a:p>
          <a:p>
            <a:pPr algn="l" marL="228600" indent="-228600">
              <a:spcAft>
                <a:spcPts val="1400"/>
              </a:spcAft>
              <a:buFont typeface="Arial"/>
              <a:buChar char="•"/>
            </a:pPr>
            <a:r>
              <a:rPr sz="1900" b="0" i="0">
                <a:solidFill>
                  <a:srgbClr val="1B1F2A"/>
                </a:solidFill>
                <a:latin typeface="IBM Plex Sans"/>
                <a:ea typeface="IBM Plex Sans"/>
                <a:cs typeface="IBM Plex Sans"/>
              </a:rPr>
              <a:t>Corrector: 152 of 170 solved, wrong roots from 14 to 2</a:t>
            </a:r>
          </a:p>
        </p:txBody>
      </p:sp>
      <p:sp>
        <p:nvSpPr>
          <p:cNvPr id="7" name="TextBox 6"/>
          <p:cNvSpPr txBox="1"/>
          <p:nvPr/>
        </p:nvSpPr>
        <p:spPr>
          <a:xfrm>
            <a:off x="813816" y="4297680"/>
            <a:ext cx="10561320" cy="548640"/>
          </a:xfrm>
          <a:prstGeom prst="rect">
            <a:avLst/>
          </a:prstGeom>
          <a:noFill/>
        </p:spPr>
        <p:txBody>
          <a:bodyPr wrap="square" lIns="0" rIns="0" tIns="0" bIns="0" anchor="t">
            <a:spAutoFit/>
          </a:bodyPr>
          <a:lstStyle/>
          <a:p>
            <a:pPr algn="l">
              <a:spcAft>
                <a:spcPts val="800"/>
              </a:spcAft>
            </a:pPr>
            <a:r>
              <a:rPr sz="2200" b="1" i="0">
                <a:solidFill>
                  <a:srgbClr val="1F3A5F"/>
                </a:solidFill>
                <a:latin typeface="IBM Plex Sans"/>
                <a:ea typeface="IBM Plex Sans"/>
                <a:cs typeface="IBM Plex Sans"/>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4258</Words>
  <Application>Microsoft Office PowerPoint</Application>
  <PresentationFormat>Widescreen</PresentationFormat>
  <Paragraphs>348</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Courier New</vt:lpstr>
      <vt:lpstr>IBM Plex Sans</vt:lpstr>
      <vt:lpstr>STIX Two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Homotopy Power Flow</dc:title>
  <dc:subject>PptxGenJS Presentation</dc:subject>
  <dc:creator>PptxGenJS</dc:creator>
  <cp:lastModifiedBy>Jonayed Mohiuddin</cp:lastModifiedBy>
  <cp:revision>8</cp:revision>
  <dcterms:created xsi:type="dcterms:W3CDTF">2026-09-28T06:54:17Z</dcterms:created>
  <dcterms:modified xsi:type="dcterms:W3CDTF">2026-09-28T08:23:46Z</dcterms:modified>
</cp:coreProperties>
</file>