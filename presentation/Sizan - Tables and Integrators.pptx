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6" d="100"/>
          <a:sy n="96" d="100"/>
        </p:scale>
        <p:origin x="149"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LUs</c:v>
                </c:pt>
              </c:strCache>
            </c:strRef>
          </c:tx>
          <c:dPt>
            <c:idx val="0"/>
            <c:spPr>
              <a:solidFill>
                <a:srgbClr val="1F3A5F"/>
              </a:solidFill>
            </c:spPr>
          </c:dPt>
          <c:dPt>
            <c:idx val="1"/>
            <c:spPr>
              <a:solidFill>
                <a:srgbClr val="A8B0BB"/>
              </a:solidFill>
            </c:spPr>
          </c:dPt>
          <c:dPt>
            <c:idx val="2"/>
            <c:spPr>
              <a:solidFill>
                <a:srgbClr val="A8B0BB"/>
              </a:solidFill>
            </c:spPr>
          </c:dPt>
          <c:dPt>
            <c:idx val="3"/>
            <c:spPr>
              <a:solidFill>
                <a:srgbClr val="A8B0BB"/>
              </a:solidFill>
            </c:spPr>
          </c:dPt>
          <c:cat>
            <c:strRef>
              <c:f>Sheet1!$A$2:$A$5</c:f>
              <c:strCache>
                <c:ptCount val="4"/>
                <c:pt idx="0">
                  <c:v>BE</c:v>
                </c:pt>
                <c:pt idx="1">
                  <c:v>FE</c:v>
                </c:pt>
                <c:pt idx="2">
                  <c:v>RK2</c:v>
                </c:pt>
                <c:pt idx="3">
                  <c:v>RK4</c:v>
                </c:pt>
              </c:strCache>
            </c:strRef>
          </c:cat>
          <c:val>
            <c:numRef>
              <c:f>Sheet1!$B$2:$B$5</c:f>
              <c:numCache>
                <c:formatCode>General</c:formatCode>
                <c:ptCount val="4"/>
                <c:pt idx="0">
                  <c:v>10.6</c:v>
                </c:pt>
                <c:pt idx="1">
                  <c:v>37.1</c:v>
                </c:pt>
                <c:pt idx="2">
                  <c:v>47.5</c:v>
                </c:pt>
                <c:pt idx="3">
                  <c:v>87.2</c:v>
                </c:pt>
              </c:numCache>
            </c:numRef>
          </c:val>
        </c:ser>
        <c:dLbls>
          <c:numFmt formatCode="0.0" sourceLinked="0"/>
          <c:txPr>
            <a:bodyPr/>
            <a:lstStyle/>
            <a:p>
              <a:pPr>
                <a:defRPr sz="1600" b="1">
                  <a:solidFill>
                    <a:srgbClr val="1B1F2A"/>
                  </a:solidFill>
                  <a:latin typeface="IBM Plex Sans"/>
                </a:defRPr>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out"/>
        <c:minorTickMark val="none"/>
        <c:tickLblPos val="nextTo"/>
        <c:spPr>
          <a:ln>
            <a:solidFill>
              <a:srgbClr val="C8C8C6"/>
            </a:solidFill>
          </a:ln>
        </c:spPr>
        <c:txPr>
          <a:bodyPr/>
          <a:lstStyle/>
          <a:p>
            <a:pPr>
              <a:defRPr sz="1500">
                <a:solidFill>
                  <a:srgbClr val="1B1F2A"/>
                </a:solidFill>
                <a:latin typeface="IBM Plex Sans"/>
              </a:defRPr>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228155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implemented the paper from scratch in Python, reproduced its results, and then tested changes to the method. First the paper, then our implementation and reproduction, then the improvements.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0" name="Notes Placeholder"/>
          <p:cNvSpPr>
            <a:spLocks noGrp="1"/>
          </p:cNvSpPr>
          <p:nvPr>
            <p:ph type="body" idx="1"/>
          </p:nvPr>
        </p:nvSpPr>
        <p:spPr>
          <a:xfrm>
            <a:off x="685800" y="4400550"/>
            <a:ext cx="5486400" cy="3600450"/>
          </a:xfrm>
          <a:prstGeom prst="rect">
            <a:avLst/>
          </a:prstGeom>
        </p:spPr>
        <p:txBody>
          <a:bodyPr/>
          <a:lstStyle/>
          <a:p>
            <a:r>
              <a:t>Two questions: do we get the paper's numbers, and is the paper's choice of integrator and of delta the right one? Items 1 and 2 answer the first, 3 and 4 the second.</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0" name="Notes Placeholder"/>
          <p:cNvSpPr>
            <a:spLocks noGrp="1"/>
          </p:cNvSpPr>
          <p:nvPr>
            <p:ph type="body" idx="1"/>
          </p:nvPr>
        </p:nvSpPr>
        <p:spPr>
          <a:xfrm>
            <a:off x="685800" y="4400550"/>
            <a:ext cx="5486400" cy="3600450"/>
          </a:xfrm>
          <a:prstGeom prst="rect">
            <a:avLst/>
          </a:prstGeom>
        </p:spPr>
        <p:txBody>
          <a:bodyPr/>
          <a:lstStyle/>
          <a:p>
            <a:r>
              <a:t>The homotopy turns root finding into an ODE. All schemes only differ in where the slope is taken. BE takes it at the new time t_k+1; the paper solves it with a single fixed-point iteration.</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0" name="Notes Placeholder"/>
          <p:cNvSpPr>
            <a:spLocks noGrp="1"/>
          </p:cNvSpPr>
          <p:nvPr>
            <p:ph type="body" idx="1"/>
          </p:nvPr>
        </p:nvSpPr>
        <p:spPr>
          <a:xfrm>
            <a:off x="685800" y="4400550"/>
            <a:ext cx="5486400" cy="3600450"/>
          </a:xfrm>
          <a:prstGeom prst="rect">
            <a:avLst/>
          </a:prstGeom>
        </p:spPr>
        <p:txBody>
          <a:bodyPr/>
          <a:lstStyle/>
          <a:p>
            <a:r>
              <a:t>One unknown is enough to see Tables 2 to 4. After the same first BE step, FE lands at -4.34 and NR goes to the negative root. RK2 lands at -0.47 (also wrong root), RK4 at 0.48, BE at 1.416. Every number was computed by hand and checked with our code.</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0" name="Notes Placeholder"/>
          <p:cNvSpPr>
            <a:spLocks noGrp="1"/>
          </p:cNvSpPr>
          <p:nvPr>
            <p:ph type="body" idx="1"/>
          </p:nvPr>
        </p:nvSpPr>
        <p:spPr>
          <a:xfrm>
            <a:off x="685800" y="4400550"/>
            <a:ext cx="5486400" cy="3600450"/>
          </a:xfrm>
          <a:prstGeom prst="rect">
            <a:avLst/>
          </a:prstGeom>
        </p:spPr>
        <p:txBody>
          <a:bodyPr/>
          <a:lstStyle/>
          <a:p>
            <a:r>
              <a:t>FE and the paper's BE use the same G_t and differ only in which G_x they invert. G_x(t) is about t J, so the FE step is about t_k+1/t_k times the BE step. And since G(x, t_k+1) = G(x, t_k) + dt G_t(x), BE is exactly one Newton step on G(., t_k+1) = 0 when x_k is on the path.</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0" name="Notes Placeholder"/>
          <p:cNvSpPr>
            <a:spLocks noGrp="1"/>
          </p:cNvSpPr>
          <p:nvPr>
            <p:ph type="body" idx="1"/>
          </p:nvPr>
        </p:nvSpPr>
        <p:spPr>
          <a:xfrm>
            <a:off x="685800" y="4400550"/>
            <a:ext cx="5486400" cy="3600450"/>
          </a:xfrm>
          <a:prstGeom prst="rect">
            <a:avLst/>
          </a:prstGeom>
        </p:spPr>
        <p:txBody>
          <a:bodyPr/>
          <a:lstStyle/>
          <a:p>
            <a:r>
              <a:t>Lines are ours, crosses are the paper's. BE matches digit for digit: 532, 65, 33, 7.2, 3.7, then 0.04, 1.5e-5, 1e-11 on case18482. FE and RK2 blow up at the big step 0.01 to 0.51 on the same grids as in the paper.</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0" name="Notes Placeholder"/>
          <p:cNvSpPr>
            <a:spLocks noGrp="1"/>
          </p:cNvSpPr>
          <p:nvPr>
            <p:ph type="body" idx="1"/>
          </p:nvPr>
        </p:nvSpPr>
        <p:spPr>
          <a:xfrm>
            <a:off x="685800" y="4400550"/>
            <a:ext cx="5486400" cy="3600450"/>
          </a:xfrm>
          <a:prstGeom prst="rect">
            <a:avLst/>
          </a:prstGeom>
        </p:spPr>
        <p:txBody>
          <a:bodyPr/>
          <a:lstStyle/>
          <a:p>
            <a:r>
              <a:t>Every numeric cell of Tables 2 to 5, paper against ours, on log axes across 28 orders of magnitude. Seven outliers are divergent FE/RK2 values above 1e3, one is a final NR value near 1e-11, and one is Table 2, FE on case18482 at t = 0.01.</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0" name="Notes Placeholder"/>
          <p:cNvSpPr>
            <a:spLocks noGrp="1"/>
          </p:cNvSpPr>
          <p:nvPr>
            <p:ph type="body" idx="1"/>
          </p:nvPr>
        </p:nvSpPr>
        <p:spPr>
          <a:xfrm>
            <a:off x="685800" y="4400550"/>
            <a:ext cx="5486400" cy="3600450"/>
          </a:xfrm>
          <a:prstGeom prst="rect">
            <a:avLst/>
          </a:prstGeom>
        </p:spPr>
        <p:txBody>
          <a:bodyPr/>
          <a:lstStyle/>
          <a:p>
            <a:r>
              <a:t>Path {0, 0.05, 0.1, t3, 1}. Single timings on a laptop varied up to 4 times, so methods run in turn and we take the median of seven. On the largest grid we are within 13 points of the paper in every row. On case2000limit we are not: the paper reports the hybrid faster than NR-MAT, which is impossible since it does strictly more work.</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0" name="Notes Placeholder"/>
          <p:cNvSpPr>
            <a:spLocks noGrp="1"/>
          </p:cNvSpPr>
          <p:nvPr>
            <p:ph type="body" idx="1"/>
          </p:nvPr>
        </p:nvSpPr>
        <p:spPr>
          <a:xfrm>
            <a:off x="685800" y="4400550"/>
            <a:ext cx="5486400" cy="3600450"/>
          </a:xfrm>
          <a:prstGeom prst="rect">
            <a:avLst/>
          </a:prstGeom>
        </p:spPr>
        <p:txBody>
          <a:bodyPr/>
          <a:lstStyle/>
          <a:p>
            <a:r>
              <a:t>The paper suggests more fixed-point iterations for BE and mentions higher order methods as future work. Both make things worse with the paper's big steps. BE-chord: the iteration factor is about -dt, close to -1, so the iterates oscillate. RK4: four explicit slopes, each far off the path.</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0" name="Notes Placeholder"/>
          <p:cNvSpPr>
            <a:spLocks noGrp="1"/>
          </p:cNvSpPr>
          <p:nvPr>
            <p:ph type="body" idx="1"/>
          </p:nvPr>
        </p:nvSpPr>
        <p:spPr>
          <a:xfrm>
            <a:off x="685800" y="4400550"/>
            <a:ext cx="5486400" cy="3600450"/>
          </a:xfrm>
          <a:prstGeom prst="rect">
            <a:avLst/>
          </a:prstGeom>
        </p:spPr>
        <p:txBody>
          <a:bodyPr/>
          <a:lstStyle/>
          <a:p>
            <a:r>
              <a:t>Fixed big steps are unfair to explicit rules, so we let each choose its step from a Richardson error estimate. FE and RK2 then solve a few more runs (157, 158 vs 151) but at 3.5 to 4.5 times the cost. RK4 solves fewer (145) at 8 times the cost. The paper's choice of BE survives a fair comparison.</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0" name="Notes Placeholder"/>
          <p:cNvSpPr>
            <a:spLocks noGrp="1"/>
          </p:cNvSpPr>
          <p:nvPr>
            <p:ph type="body" idx="1"/>
          </p:nvPr>
        </p:nvSpPr>
        <p:spPr>
          <a:xfrm>
            <a:off x="685800" y="4400550"/>
            <a:ext cx="5486400" cy="3600450"/>
          </a:xfrm>
          <a:prstGeom prst="rect">
            <a:avLst/>
          </a:prstGeom>
        </p:spPr>
        <p:txBody>
          <a:bodyPr/>
          <a:lstStyle/>
          <a:p>
            <a:r>
              <a:t>Golden-section needs only function values, which suits an integer LU count with no derivative. r^2 = 1 - r lets one interior point be reused, so each iteration costs one solve and shrinks the interval by 0.618. A failed run costs 50 LUs, and a small tie-break on the final mismatch lets the search move across flat stretches. It returns the best point seen.</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0" name="Notes Placeholder"/>
          <p:cNvSpPr>
            <a:spLocks noGrp="1"/>
          </p:cNvSpPr>
          <p:nvPr>
            <p:ph type="body" idx="1"/>
          </p:nvPr>
        </p:nvSpPr>
        <p:spPr>
          <a:xfrm>
            <a:off x="685800" y="4400550"/>
            <a:ext cx="5486400" cy="3600450"/>
          </a:xfrm>
          <a:prstGeom prst="rect">
            <a:avLst/>
          </a:prstGeom>
        </p:spPr>
        <p:txBody>
          <a:bodyPr/>
          <a:lstStyle/>
          <a:p>
            <a:r>
              <a:t>The paper's 0.02 is right for three of its own grids (search finds 0.025), but other ill-conditioned grids want 1 to 5. The spectral rule fails: tuned delta is 54 to 819 times lambda_min, and it loses 4 of its own 9 training grids. A per-grid search solves 4 more test grids but is too expensive.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7.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8.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9.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chart" Target="../charts/char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10.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11.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BF9"/>
        </a:solidFill>
        <a:effectLst/>
      </p:bgPr>
    </p:bg>
    <p:spTree>
      <p:nvGrpSpPr>
        <p:cNvPr id="1" name=""/>
        <p:cNvGrpSpPr/>
        <p:nvPr/>
      </p:nvGrpSpPr>
      <p:grpSpPr>
        <a:xfrm>
          <a:off x="0" y="0"/>
          <a:ext cx="0" cy="0"/>
          <a:chOff x="0" y="0"/>
          <a:chExt cx="0" cy="0"/>
        </a:xfrm>
      </p:grpSpPr>
      <p:sp>
        <p:nvSpPr>
          <p:cNvPr id="2" name="Text 0"/>
          <p:cNvSpPr/>
          <p:nvPr/>
        </p:nvSpPr>
        <p:spPr>
          <a:xfrm>
            <a:off x="812800" y="1584960"/>
            <a:ext cx="10883392" cy="1778000"/>
          </a:xfrm>
          <a:prstGeom prst="rect">
            <a:avLst/>
          </a:prstGeom>
          <a:noFill/>
          <a:ln/>
        </p:spPr>
        <p:txBody>
          <a:bodyPr wrap="square" lIns="0" tIns="0" rIns="0" bIns="0" rtlCol="0" anchor="t">
            <a:normAutofit/>
          </a:bodyPr>
          <a:lstStyle/>
          <a:p>
            <a:pPr marL="0" indent="0" algn="l">
              <a:lnSpc>
                <a:spcPts val="4600"/>
              </a:lnSpc>
              <a:buNone/>
            </a:pPr>
            <a:r>
              <a:rPr lang="en-US" sz="4000" b="1" dirty="0">
                <a:solidFill>
                  <a:srgbClr val="1F3A5F"/>
                </a:solidFill>
                <a:latin typeface="IBM Plex Sans" pitchFamily="34" charset="0"/>
                <a:ea typeface="IBM Plex Sans" pitchFamily="34" charset="-122"/>
                <a:cs typeface="IBM Plex Sans" pitchFamily="34" charset="-120"/>
              </a:rPr>
              <a:t>Reproducing the Tables and</a:t>
            </a:r>
            <a:endParaRPr lang="en-US" sz="4000" dirty="0"/>
          </a:p>
          <a:p>
            <a:pPr marL="0" indent="0" algn="l">
              <a:lnSpc>
                <a:spcPts val="4600"/>
              </a:lnSpc>
              <a:buNone/>
            </a:pPr>
            <a:r>
              <a:rPr lang="en-US" sz="4000" b="1" dirty="0">
                <a:solidFill>
                  <a:srgbClr val="1F3A5F"/>
                </a:solidFill>
                <a:latin typeface="IBM Plex Sans" pitchFamily="34" charset="0"/>
                <a:ea typeface="IBM Plex Sans" pitchFamily="34" charset="-122"/>
                <a:cs typeface="IBM Plex Sans" pitchFamily="34" charset="-120"/>
              </a:rPr>
              <a:t>Choosing the Integrator</a:t>
            </a:r>
            <a:endParaRPr lang="en-US" sz="4000" dirty="0"/>
          </a:p>
        </p:txBody>
      </p:sp>
      <p:pic>
        <p:nvPicPr>
          <p:cNvPr id="3" name="Image 0" descr="line"/>
          <p:cNvPicPr>
            <a:picLocks noChangeAspect="1"/>
          </p:cNvPicPr>
          <p:nvPr/>
        </p:nvPicPr>
        <p:blipFill>
          <a:blip r:embed="rId3"/>
          <a:srcRect l="-2083" r="-2083"/>
          <a:stretch/>
        </p:blipFill>
        <p:spPr>
          <a:xfrm>
            <a:off x="812800" y="3566160"/>
            <a:ext cx="10566400" cy="30480"/>
          </a:xfrm>
          <a:prstGeom prst="rect">
            <a:avLst/>
          </a:prstGeom>
        </p:spPr>
      </p:pic>
      <p:sp>
        <p:nvSpPr>
          <p:cNvPr id="4" name="Text 1"/>
          <p:cNvSpPr/>
          <p:nvPr/>
        </p:nvSpPr>
        <p:spPr>
          <a:xfrm>
            <a:off x="812800" y="3825240"/>
            <a:ext cx="10883392" cy="635000"/>
          </a:xfrm>
          <a:prstGeom prst="rect">
            <a:avLst/>
          </a:prstGeom>
          <a:noFill/>
          <a:ln/>
        </p:spPr>
        <p:txBody>
          <a:bodyPr wrap="square" lIns="0" tIns="0" rIns="0" bIns="0" rtlCol="0" anchor="t">
            <a:normAutofit/>
          </a:bodyPr>
          <a:lstStyle/>
          <a:p>
            <a:pPr marL="0" indent="0" algn="l">
              <a:lnSpc>
                <a:spcPts val="2400"/>
              </a:lnSpc>
              <a:buNone/>
            </a:pPr>
            <a:r>
              <a:rPr lang="en-US" sz="1600" dirty="0">
                <a:solidFill>
                  <a:srgbClr val="333A48"/>
                </a:solidFill>
                <a:latin typeface="IBM Plex Sans" pitchFamily="34" charset="0"/>
                <a:ea typeface="IBM Plex Sans" pitchFamily="34" charset="-122"/>
                <a:cs typeface="IBM Plex Sans" pitchFamily="34" charset="-120"/>
              </a:rPr>
              <a:t>Based on A. Lima-Silva and F. D. Freitas, "Exploring a Dynamic Homotopy Technique to Enhance the Convergence of Classical Power Flow Iterative Solvers in Ill-Conditioned Power System Models", </a:t>
            </a:r>
            <a:r>
              <a:rPr lang="en-US" sz="1600" i="1" dirty="0">
                <a:solidFill>
                  <a:srgbClr val="333A48"/>
                </a:solidFill>
                <a:latin typeface="IBM Plex Sans" pitchFamily="34" charset="0"/>
                <a:ea typeface="IBM Plex Sans" pitchFamily="34" charset="-122"/>
                <a:cs typeface="IBM Plex Sans" pitchFamily="34" charset="-120"/>
              </a:rPr>
              <a:t>Energies</a:t>
            </a:r>
            <a:r>
              <a:rPr lang="en-US" sz="1600" dirty="0">
                <a:solidFill>
                  <a:srgbClr val="333A48"/>
                </a:solidFill>
                <a:latin typeface="IBM Plex Sans" pitchFamily="34" charset="0"/>
                <a:ea typeface="IBM Plex Sans" pitchFamily="34" charset="-122"/>
                <a:cs typeface="IBM Plex Sans" pitchFamily="34" charset="-120"/>
              </a:rPr>
              <a:t> 17(18):4642, 2024</a:t>
            </a:r>
            <a:endParaRPr lang="en-US" sz="1600" dirty="0"/>
          </a:p>
        </p:txBody>
      </p:sp>
      <p:sp>
        <p:nvSpPr>
          <p:cNvPr id="5" name="Text 2"/>
          <p:cNvSpPr/>
          <p:nvPr/>
        </p:nvSpPr>
        <p:spPr>
          <a:xfrm>
            <a:off x="812800" y="4663440"/>
            <a:ext cx="10883392" cy="635000"/>
          </a:xfrm>
          <a:prstGeom prst="rect">
            <a:avLst/>
          </a:prstGeom>
          <a:noFill/>
          <a:ln/>
        </p:spPr>
        <p:txBody>
          <a:bodyPr wrap="square" lIns="0" tIns="0" rIns="0" bIns="0" rtlCol="0" anchor="t">
            <a:normAutofit/>
          </a:bodyPr>
          <a:lstStyle/>
          <a:p>
            <a:pPr marL="0" indent="0" algn="l">
              <a:lnSpc>
                <a:spcPts val="2400"/>
              </a:lnSpc>
              <a:buNone/>
            </a:pPr>
            <a:r>
              <a:rPr lang="en-US" sz="1600" dirty="0">
                <a:solidFill>
                  <a:srgbClr val="333A48"/>
                </a:solidFill>
                <a:latin typeface="IBM Plex Sans" pitchFamily="34" charset="0"/>
                <a:ea typeface="IBM Plex Sans" pitchFamily="34" charset="-122"/>
                <a:cs typeface="IBM Plex Sans" pitchFamily="34" charset="-120"/>
              </a:rPr>
              <a:t>Presented by Sizan   ·   Team: 2105039, 2105040, 2105057, 2105058, 2105060</a:t>
            </a:r>
            <a:endParaRPr lang="en-US" sz="1600" dirty="0"/>
          </a:p>
          <a:p>
            <a:pPr marL="0" indent="0" algn="l">
              <a:lnSpc>
                <a:spcPts val="2400"/>
              </a:lnSpc>
              <a:buNone/>
            </a:pPr>
            <a:r>
              <a:rPr lang="en-US" sz="1600" dirty="0">
                <a:solidFill>
                  <a:srgbClr val="333A48"/>
                </a:solidFill>
                <a:latin typeface="IBM Plex Sans" pitchFamily="34" charset="0"/>
                <a:ea typeface="IBM Plex Sans" pitchFamily="34" charset="-122"/>
                <a:cs typeface="IBM Plex Sans" pitchFamily="34" charset="-120"/>
              </a:rPr>
              <a:t>CSE 402 Numerical Analysis Sessional</a:t>
            </a:r>
            <a:endParaRPr lang="en-US" sz="1600" dirty="0"/>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BFBF9"/>
        </a:solidFill>
        <a:effectLst/>
      </p:bgPr>
    </p:bg>
    <p:spTree>
      <p:nvGrpSpPr>
        <p:cNvPr id="1" name=""/>
        <p:cNvGrpSpPr/>
        <p:nvPr/>
      </p:nvGrpSpPr>
      <p:grpSpPr/>
      <p:sp>
        <p:nvSpPr>
          <p:cNvPr id="2" name="TextBox 1"/>
          <p:cNvSpPr txBox="1"/>
          <p:nvPr/>
        </p:nvSpPr>
        <p:spPr>
          <a:xfrm>
            <a:off x="813816" y="713232"/>
            <a:ext cx="10881360" cy="429768"/>
          </a:xfrm>
          <a:prstGeom prst="rect">
            <a:avLst/>
          </a:prstGeom>
          <a:noFill/>
        </p:spPr>
        <p:txBody>
          <a:bodyPr wrap="square" lIns="0" rIns="0" tIns="0" bIns="0" anchor="t">
            <a:spAutoFit/>
          </a:bodyPr>
          <a:lstStyle/>
          <a:p>
            <a:pPr algn="l">
              <a:spcAft>
                <a:spcPts val="800"/>
              </a:spcAft>
            </a:pPr>
            <a:r>
              <a:rPr sz="2800" b="1" i="0">
                <a:solidFill>
                  <a:srgbClr val="1F3A5F"/>
                </a:solidFill>
                <a:latin typeface="IBM Plex Sans"/>
                <a:ea typeface="IBM Plex Sans"/>
                <a:cs typeface="IBM Plex Sans"/>
              </a:rPr>
              <a:t>My part of the project</a:t>
            </a:r>
          </a:p>
        </p:txBody>
      </p:sp>
      <p:pic>
        <p:nvPicPr>
          <p:cNvPr id="3" name="Picture 2" descr="image.png"/>
          <p:cNvPicPr>
            <a:picLocks noChangeAspect="1"/>
          </p:cNvPicPr>
          <p:nvPr/>
        </p:nvPicPr>
        <p:blipFill>
          <a:blip r:embed="rId2"/>
          <a:stretch>
            <a:fillRect/>
          </a:stretch>
        </p:blipFill>
        <p:spPr>
          <a:xfrm>
            <a:off x="812800" y="1221741"/>
            <a:ext cx="10566400" cy="20320"/>
          </a:xfrm>
          <a:prstGeom prst="rect">
            <a:avLst/>
          </a:prstGeom>
        </p:spPr>
      </p:pic>
      <p:sp>
        <p:nvSpPr>
          <p:cNvPr id="4" name="TextBox 3"/>
          <p:cNvSpPr txBox="1"/>
          <p:nvPr/>
        </p:nvSpPr>
        <p:spPr>
          <a:xfrm>
            <a:off x="813816" y="6236208"/>
            <a:ext cx="7845552" cy="237744"/>
          </a:xfrm>
          <a:prstGeom prst="rect">
            <a:avLst/>
          </a:prstGeom>
          <a:noFill/>
        </p:spPr>
        <p:txBody>
          <a:bodyPr wrap="square" lIns="0" rIns="0" tIns="0" bIns="0" anchor="t">
            <a:spAutoFit/>
          </a:bodyPr>
          <a:lstStyle/>
          <a:p>
            <a:pPr algn="l">
              <a:spcAft>
                <a:spcPts val="800"/>
              </a:spcAft>
            </a:pPr>
            <a:r>
              <a:rPr sz="1200" b="0" i="0">
                <a:solidFill>
                  <a:srgbClr val="6B7280"/>
                </a:solidFill>
                <a:latin typeface="IBM Plex Sans"/>
                <a:ea typeface="IBM Plex Sans"/>
                <a:cs typeface="IBM Plex Sans"/>
              </a:rPr>
              <a:t>Sizan's part · Lima-Silva &amp; Freitas (2024): reproduction and improvements</a:t>
            </a:r>
          </a:p>
        </p:txBody>
      </p:sp>
      <p:sp>
        <p:nvSpPr>
          <p:cNvPr id="5" name="TextBox 4"/>
          <p:cNvSpPr txBox="1"/>
          <p:nvPr/>
        </p:nvSpPr>
        <p:spPr>
          <a:xfrm>
            <a:off x="10058400" y="6236208"/>
            <a:ext cx="1316736" cy="237744"/>
          </a:xfrm>
          <a:prstGeom prst="rect">
            <a:avLst/>
          </a:prstGeom>
          <a:noFill/>
        </p:spPr>
        <p:txBody>
          <a:bodyPr wrap="square" lIns="0" rIns="0" tIns="0" bIns="0" anchor="t">
            <a:spAutoFit/>
          </a:bodyPr>
          <a:lstStyle/>
          <a:p>
            <a:pPr algn="r">
              <a:spcAft>
                <a:spcPts val="800"/>
              </a:spcAft>
            </a:pPr>
            <a:r>
              <a:rPr sz="1200" b="0" i="0">
                <a:solidFill>
                  <a:srgbClr val="6B7280"/>
                </a:solidFill>
                <a:latin typeface="IBM Plex Sans"/>
                <a:ea typeface="IBM Plex Sans"/>
                <a:cs typeface="IBM Plex Sans"/>
              </a:rPr>
              <a:t>2</a:t>
            </a:r>
          </a:p>
        </p:txBody>
      </p:sp>
      <p:sp>
        <p:nvSpPr>
          <p:cNvPr id="6" name="Rounded Rectangle 5"/>
          <p:cNvSpPr/>
          <p:nvPr/>
        </p:nvSpPr>
        <p:spPr>
          <a:xfrm>
            <a:off x="813816" y="1600200"/>
            <a:ext cx="5120640" cy="1737360"/>
          </a:xfrm>
          <a:prstGeom prst="roundRect">
            <a:avLst>
              <a:gd name="adj" fmla="val 8000"/>
            </a:avLst>
          </a:prstGeom>
          <a:solidFill>
            <a:srgbClr val="F1E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88136" y="1874520"/>
            <a:ext cx="475488" cy="475488"/>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IBM Plex Sans"/>
                <a:ea typeface="IBM Plex Sans"/>
                <a:cs typeface="IBM Plex Sans"/>
              </a:rPr>
              <a:t>1</a:t>
            </a:r>
          </a:p>
        </p:txBody>
      </p:sp>
      <p:sp>
        <p:nvSpPr>
          <p:cNvPr id="8" name="TextBox 7"/>
          <p:cNvSpPr txBox="1"/>
          <p:nvPr/>
        </p:nvSpPr>
        <p:spPr>
          <a:xfrm>
            <a:off x="1728216" y="1874520"/>
            <a:ext cx="3977640" cy="457200"/>
          </a:xfrm>
          <a:prstGeom prst="rect">
            <a:avLst/>
          </a:prstGeom>
          <a:noFill/>
        </p:spPr>
        <p:txBody>
          <a:bodyPr wrap="square" lIns="0" rIns="0" tIns="0" bIns="0" anchor="t">
            <a:spAutoFit/>
          </a:bodyPr>
          <a:lstStyle/>
          <a:p>
            <a:pPr algn="l">
              <a:spcAft>
                <a:spcPts val="800"/>
              </a:spcAft>
            </a:pPr>
            <a:r>
              <a:rPr sz="1900" b="1" i="0">
                <a:solidFill>
                  <a:srgbClr val="1F3A5F"/>
                </a:solidFill>
                <a:latin typeface="IBM Plex Sans"/>
                <a:ea typeface="IBM Plex Sans"/>
                <a:cs typeface="IBM Plex Sans"/>
              </a:rPr>
              <a:t>Reproduce Tables 2 to 5</a:t>
            </a:r>
          </a:p>
        </p:txBody>
      </p:sp>
      <p:sp>
        <p:nvSpPr>
          <p:cNvPr id="9" name="TextBox 8"/>
          <p:cNvSpPr txBox="1"/>
          <p:nvPr/>
        </p:nvSpPr>
        <p:spPr>
          <a:xfrm>
            <a:off x="1728216" y="2377440"/>
            <a:ext cx="3977640" cy="822960"/>
          </a:xfrm>
          <a:prstGeom prst="rect">
            <a:avLst/>
          </a:prstGeom>
          <a:noFill/>
        </p:spPr>
        <p:txBody>
          <a:bodyPr wrap="square" lIns="0" rIns="0" tIns="0" bIns="0" anchor="t">
            <a:spAutoFit/>
          </a:bodyPr>
          <a:lstStyle/>
          <a:p>
            <a:pPr algn="l">
              <a:spcAft>
                <a:spcPts val="800"/>
              </a:spcAft>
            </a:pPr>
            <a:r>
              <a:rPr sz="1500" b="0" i="0">
                <a:solidFill>
                  <a:srgbClr val="333A48"/>
                </a:solidFill>
                <a:latin typeface="IBM Plex Sans"/>
                <a:ea typeface="IBM Plex Sans"/>
                <a:cs typeface="IBM Plex Sans"/>
              </a:rPr>
              <a:t>FE, RK2 and BE along the path, our value next to the paper's</a:t>
            </a:r>
          </a:p>
        </p:txBody>
      </p:sp>
      <p:sp>
        <p:nvSpPr>
          <p:cNvPr id="10" name="Rounded Rectangle 9"/>
          <p:cNvSpPr/>
          <p:nvPr/>
        </p:nvSpPr>
        <p:spPr>
          <a:xfrm>
            <a:off x="6254496" y="1600200"/>
            <a:ext cx="5120640" cy="1737360"/>
          </a:xfrm>
          <a:prstGeom prst="roundRect">
            <a:avLst>
              <a:gd name="adj" fmla="val 8000"/>
            </a:avLst>
          </a:prstGeom>
          <a:solidFill>
            <a:srgbClr val="F1E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28816" y="1874520"/>
            <a:ext cx="475488" cy="475488"/>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IBM Plex Sans"/>
                <a:ea typeface="IBM Plex Sans"/>
                <a:cs typeface="IBM Plex Sans"/>
              </a:rPr>
              <a:t>2</a:t>
            </a:r>
          </a:p>
        </p:txBody>
      </p:sp>
      <p:sp>
        <p:nvSpPr>
          <p:cNvPr id="12" name="TextBox 11"/>
          <p:cNvSpPr txBox="1"/>
          <p:nvPr/>
        </p:nvSpPr>
        <p:spPr>
          <a:xfrm>
            <a:off x="7168896" y="1874520"/>
            <a:ext cx="3977640" cy="457200"/>
          </a:xfrm>
          <a:prstGeom prst="rect">
            <a:avLst/>
          </a:prstGeom>
          <a:noFill/>
        </p:spPr>
        <p:txBody>
          <a:bodyPr wrap="square" lIns="0" rIns="0" tIns="0" bIns="0" anchor="t">
            <a:spAutoFit/>
          </a:bodyPr>
          <a:lstStyle/>
          <a:p>
            <a:pPr algn="l">
              <a:spcAft>
                <a:spcPts val="800"/>
              </a:spcAft>
            </a:pPr>
            <a:r>
              <a:rPr sz="1900" b="1" i="0">
                <a:solidFill>
                  <a:srgbClr val="1F3A5F"/>
                </a:solidFill>
                <a:latin typeface="IBM Plex Sans"/>
                <a:ea typeface="IBM Plex Sans"/>
                <a:cs typeface="IBM Plex Sans"/>
              </a:rPr>
              <a:t>Figure 3 and Table 6</a:t>
            </a:r>
          </a:p>
        </p:txBody>
      </p:sp>
      <p:sp>
        <p:nvSpPr>
          <p:cNvPr id="13" name="TextBox 12"/>
          <p:cNvSpPr txBox="1"/>
          <p:nvPr/>
        </p:nvSpPr>
        <p:spPr>
          <a:xfrm>
            <a:off x="7168896" y="2377440"/>
            <a:ext cx="3977640" cy="822960"/>
          </a:xfrm>
          <a:prstGeom prst="rect">
            <a:avLst/>
          </a:prstGeom>
          <a:noFill/>
        </p:spPr>
        <p:txBody>
          <a:bodyPr wrap="square" lIns="0" rIns="0" tIns="0" bIns="0" anchor="t">
            <a:spAutoFit/>
          </a:bodyPr>
          <a:lstStyle/>
          <a:p>
            <a:pPr algn="l">
              <a:spcAft>
                <a:spcPts val="800"/>
              </a:spcAft>
            </a:pPr>
            <a:r>
              <a:rPr sz="1500" b="0" i="0">
                <a:solidFill>
                  <a:srgbClr val="333A48"/>
                </a:solidFill>
                <a:latin typeface="IBM Plex Sans"/>
                <a:ea typeface="IBM Plex Sans"/>
                <a:cs typeface="IBM Plex Sans"/>
              </a:rPr>
              <a:t>five-point paths and a fair timing benchmark</a:t>
            </a:r>
          </a:p>
        </p:txBody>
      </p:sp>
      <p:sp>
        <p:nvSpPr>
          <p:cNvPr id="14" name="Rounded Rectangle 13"/>
          <p:cNvSpPr/>
          <p:nvPr/>
        </p:nvSpPr>
        <p:spPr>
          <a:xfrm>
            <a:off x="813816" y="3657600"/>
            <a:ext cx="5120640" cy="1737360"/>
          </a:xfrm>
          <a:prstGeom prst="roundRect">
            <a:avLst>
              <a:gd name="adj" fmla="val 8000"/>
            </a:avLst>
          </a:prstGeom>
          <a:solidFill>
            <a:srgbClr val="F1E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88136" y="3931920"/>
            <a:ext cx="475488" cy="475488"/>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IBM Plex Sans"/>
                <a:ea typeface="IBM Plex Sans"/>
                <a:cs typeface="IBM Plex Sans"/>
              </a:rPr>
              <a:t>3</a:t>
            </a:r>
          </a:p>
        </p:txBody>
      </p:sp>
      <p:sp>
        <p:nvSpPr>
          <p:cNvPr id="16" name="TextBox 15"/>
          <p:cNvSpPr txBox="1"/>
          <p:nvPr/>
        </p:nvSpPr>
        <p:spPr>
          <a:xfrm>
            <a:off x="1728216" y="3931920"/>
            <a:ext cx="3977640" cy="457200"/>
          </a:xfrm>
          <a:prstGeom prst="rect">
            <a:avLst/>
          </a:prstGeom>
          <a:noFill/>
        </p:spPr>
        <p:txBody>
          <a:bodyPr wrap="square" lIns="0" rIns="0" tIns="0" bIns="0" anchor="t">
            <a:spAutoFit/>
          </a:bodyPr>
          <a:lstStyle/>
          <a:p>
            <a:pPr algn="l">
              <a:spcAft>
                <a:spcPts val="800"/>
              </a:spcAft>
            </a:pPr>
            <a:r>
              <a:rPr sz="1900" b="1" i="0">
                <a:solidFill>
                  <a:srgbClr val="1F3A5F"/>
                </a:solidFill>
                <a:latin typeface="IBM Plex Sans"/>
                <a:ea typeface="IBM Plex Sans"/>
                <a:cs typeface="IBM Plex Sans"/>
              </a:rPr>
              <a:t>Other step rules</a:t>
            </a:r>
          </a:p>
        </p:txBody>
      </p:sp>
      <p:sp>
        <p:nvSpPr>
          <p:cNvPr id="17" name="TextBox 16"/>
          <p:cNvSpPr txBox="1"/>
          <p:nvPr/>
        </p:nvSpPr>
        <p:spPr>
          <a:xfrm>
            <a:off x="1728216" y="4434840"/>
            <a:ext cx="3977640" cy="822960"/>
          </a:xfrm>
          <a:prstGeom prst="rect">
            <a:avLst/>
          </a:prstGeom>
          <a:noFill/>
        </p:spPr>
        <p:txBody>
          <a:bodyPr wrap="square" lIns="0" rIns="0" tIns="0" bIns="0" anchor="t">
            <a:spAutoFit/>
          </a:bodyPr>
          <a:lstStyle/>
          <a:p>
            <a:pPr algn="l">
              <a:spcAft>
                <a:spcPts val="800"/>
              </a:spcAft>
            </a:pPr>
            <a:r>
              <a:rPr sz="1500" b="0" i="0">
                <a:solidFill>
                  <a:srgbClr val="333A48"/>
                </a:solidFill>
                <a:latin typeface="IBM Plex Sans"/>
                <a:ea typeface="IBM Plex Sans"/>
                <a:cs typeface="IBM Plex Sans"/>
              </a:rPr>
              <a:t>RK4 and BE-chord: does a better integrator help?</a:t>
            </a:r>
          </a:p>
        </p:txBody>
      </p:sp>
      <p:sp>
        <p:nvSpPr>
          <p:cNvPr id="18" name="Rounded Rectangle 17"/>
          <p:cNvSpPr/>
          <p:nvPr/>
        </p:nvSpPr>
        <p:spPr>
          <a:xfrm>
            <a:off x="6254496" y="3657600"/>
            <a:ext cx="5120640" cy="1737360"/>
          </a:xfrm>
          <a:prstGeom prst="roundRect">
            <a:avLst>
              <a:gd name="adj" fmla="val 8000"/>
            </a:avLst>
          </a:prstGeom>
          <a:solidFill>
            <a:srgbClr val="F1E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528816" y="3931920"/>
            <a:ext cx="475488" cy="475488"/>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IBM Plex Sans"/>
                <a:ea typeface="IBM Plex Sans"/>
                <a:cs typeface="IBM Plex Sans"/>
              </a:rPr>
              <a:t>4</a:t>
            </a:r>
          </a:p>
        </p:txBody>
      </p:sp>
      <p:sp>
        <p:nvSpPr>
          <p:cNvPr id="20" name="TextBox 19"/>
          <p:cNvSpPr txBox="1"/>
          <p:nvPr/>
        </p:nvSpPr>
        <p:spPr>
          <a:xfrm>
            <a:off x="7168896" y="3931920"/>
            <a:ext cx="3977640" cy="457200"/>
          </a:xfrm>
          <a:prstGeom prst="rect">
            <a:avLst/>
          </a:prstGeom>
          <a:noFill/>
        </p:spPr>
        <p:txBody>
          <a:bodyPr wrap="square" lIns="0" rIns="0" tIns="0" bIns="0" anchor="t">
            <a:spAutoFit/>
          </a:bodyPr>
          <a:lstStyle/>
          <a:p>
            <a:pPr algn="l">
              <a:spcAft>
                <a:spcPts val="800"/>
              </a:spcAft>
            </a:pPr>
            <a:r>
              <a:rPr sz="1900" b="1" i="0">
                <a:solidFill>
                  <a:srgbClr val="1F3A5F"/>
                </a:solidFill>
                <a:latin typeface="IBM Plex Sans"/>
                <a:ea typeface="IBM Plex Sans"/>
                <a:cs typeface="IBM Plex Sans"/>
              </a:rPr>
              <a:t>Tune δ</a:t>
            </a:r>
          </a:p>
        </p:txBody>
      </p:sp>
      <p:sp>
        <p:nvSpPr>
          <p:cNvPr id="21" name="TextBox 20"/>
          <p:cNvSpPr txBox="1"/>
          <p:nvPr/>
        </p:nvSpPr>
        <p:spPr>
          <a:xfrm>
            <a:off x="7168896" y="4434840"/>
            <a:ext cx="3977640" cy="822960"/>
          </a:xfrm>
          <a:prstGeom prst="rect">
            <a:avLst/>
          </a:prstGeom>
          <a:noFill/>
        </p:spPr>
        <p:txBody>
          <a:bodyPr wrap="square" lIns="0" rIns="0" tIns="0" bIns="0" anchor="t">
            <a:spAutoFit/>
          </a:bodyPr>
          <a:lstStyle/>
          <a:p>
            <a:pPr algn="l">
              <a:spcAft>
                <a:spcPts val="800"/>
              </a:spcAft>
            </a:pPr>
            <a:r>
              <a:rPr sz="1500" b="0" i="0">
                <a:solidFill>
                  <a:srgbClr val="333A48"/>
                </a:solidFill>
                <a:latin typeface="IBM Plex Sans"/>
                <a:ea typeface="IBM Plex Sans"/>
                <a:cs typeface="IBM Plex Sans"/>
              </a:rPr>
              <a:t>golden-section search for the best shift on every grid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BFBF9"/>
        </a:solidFill>
        <a:effectLst/>
      </p:bgPr>
    </p:bg>
    <p:spTree>
      <p:nvGrpSpPr>
        <p:cNvPr id="1" name=""/>
        <p:cNvGrpSpPr/>
        <p:nvPr/>
      </p:nvGrpSpPr>
      <p:grpSpPr/>
      <p:sp>
        <p:nvSpPr>
          <p:cNvPr id="2" name="TextBox 1"/>
          <p:cNvSpPr txBox="1"/>
          <p:nvPr/>
        </p:nvSpPr>
        <p:spPr>
          <a:xfrm>
            <a:off x="813816" y="713232"/>
            <a:ext cx="10881360" cy="429768"/>
          </a:xfrm>
          <a:prstGeom prst="rect">
            <a:avLst/>
          </a:prstGeom>
          <a:noFill/>
        </p:spPr>
        <p:txBody>
          <a:bodyPr wrap="square" lIns="0" rIns="0" tIns="0" bIns="0" anchor="t">
            <a:spAutoFit/>
          </a:bodyPr>
          <a:lstStyle/>
          <a:p>
            <a:pPr algn="l">
              <a:spcAft>
                <a:spcPts val="800"/>
              </a:spcAft>
            </a:pPr>
            <a:r>
              <a:rPr sz="2800" b="1" i="0">
                <a:solidFill>
                  <a:srgbClr val="1F3A5F"/>
                </a:solidFill>
                <a:latin typeface="IBM Plex Sans"/>
                <a:ea typeface="IBM Plex Sans"/>
                <a:cs typeface="IBM Plex Sans"/>
              </a:rPr>
              <a:t>Four ways to take a step along the path</a:t>
            </a:r>
          </a:p>
        </p:txBody>
      </p:sp>
      <p:pic>
        <p:nvPicPr>
          <p:cNvPr id="3" name="Picture 2" descr="image.png"/>
          <p:cNvPicPr>
            <a:picLocks noChangeAspect="1"/>
          </p:cNvPicPr>
          <p:nvPr/>
        </p:nvPicPr>
        <p:blipFill>
          <a:blip r:embed="rId2"/>
          <a:stretch>
            <a:fillRect/>
          </a:stretch>
        </p:blipFill>
        <p:spPr>
          <a:xfrm>
            <a:off x="812800" y="1221741"/>
            <a:ext cx="10566400" cy="20320"/>
          </a:xfrm>
          <a:prstGeom prst="rect">
            <a:avLst/>
          </a:prstGeom>
        </p:spPr>
      </p:pic>
      <p:sp>
        <p:nvSpPr>
          <p:cNvPr id="4" name="TextBox 3"/>
          <p:cNvSpPr txBox="1"/>
          <p:nvPr/>
        </p:nvSpPr>
        <p:spPr>
          <a:xfrm>
            <a:off x="813816" y="6236208"/>
            <a:ext cx="7845552" cy="237744"/>
          </a:xfrm>
          <a:prstGeom prst="rect">
            <a:avLst/>
          </a:prstGeom>
          <a:noFill/>
        </p:spPr>
        <p:txBody>
          <a:bodyPr wrap="square" lIns="0" rIns="0" tIns="0" bIns="0" anchor="t">
            <a:spAutoFit/>
          </a:bodyPr>
          <a:lstStyle/>
          <a:p>
            <a:pPr algn="l">
              <a:spcAft>
                <a:spcPts val="800"/>
              </a:spcAft>
            </a:pPr>
            <a:r>
              <a:rPr sz="1200" b="0" i="0">
                <a:solidFill>
                  <a:srgbClr val="6B7280"/>
                </a:solidFill>
                <a:latin typeface="IBM Plex Sans"/>
                <a:ea typeface="IBM Plex Sans"/>
                <a:cs typeface="IBM Plex Sans"/>
              </a:rPr>
              <a:t>Sizan's part · Lima-Silva &amp; Freitas (2024): reproduction and improvements</a:t>
            </a:r>
          </a:p>
        </p:txBody>
      </p:sp>
      <p:sp>
        <p:nvSpPr>
          <p:cNvPr id="5" name="TextBox 4"/>
          <p:cNvSpPr txBox="1"/>
          <p:nvPr/>
        </p:nvSpPr>
        <p:spPr>
          <a:xfrm>
            <a:off x="10058400" y="6236208"/>
            <a:ext cx="1316736" cy="237744"/>
          </a:xfrm>
          <a:prstGeom prst="rect">
            <a:avLst/>
          </a:prstGeom>
          <a:noFill/>
        </p:spPr>
        <p:txBody>
          <a:bodyPr wrap="square" lIns="0" rIns="0" tIns="0" bIns="0" anchor="t">
            <a:spAutoFit/>
          </a:bodyPr>
          <a:lstStyle/>
          <a:p>
            <a:pPr algn="r">
              <a:spcAft>
                <a:spcPts val="800"/>
              </a:spcAft>
            </a:pPr>
            <a:r>
              <a:rPr sz="1200" b="0" i="0">
                <a:solidFill>
                  <a:srgbClr val="6B7280"/>
                </a:solidFill>
                <a:latin typeface="IBM Plex Sans"/>
                <a:ea typeface="IBM Plex Sans"/>
                <a:cs typeface="IBM Plex Sans"/>
              </a:rPr>
              <a:t>3</a:t>
            </a:r>
          </a:p>
        </p:txBody>
      </p:sp>
      <p:pic>
        <p:nvPicPr>
          <p:cNvPr id="6" name="Picture 5" descr="s_ode.png"/>
          <p:cNvPicPr>
            <a:picLocks noChangeAspect="1"/>
          </p:cNvPicPr>
          <p:nvPr/>
        </p:nvPicPr>
        <p:blipFill>
          <a:blip r:embed="rId3"/>
          <a:stretch>
            <a:fillRect/>
          </a:stretch>
        </p:blipFill>
        <p:spPr>
          <a:xfrm>
            <a:off x="813816" y="1463040"/>
            <a:ext cx="4498848" cy="451104"/>
          </a:xfrm>
          <a:prstGeom prst="rect">
            <a:avLst/>
          </a:prstGeom>
        </p:spPr>
      </p:pic>
      <p:graphicFrame>
        <p:nvGraphicFramePr>
          <p:cNvPr id="7" name="Table 6"/>
          <p:cNvGraphicFramePr>
            <a:graphicFrameLocks noGrp="1"/>
          </p:cNvGraphicFramePr>
          <p:nvPr/>
        </p:nvGraphicFramePr>
        <p:xfrm>
          <a:off x="813816" y="2331720"/>
          <a:ext cx="10332720" cy="2377440"/>
        </p:xfrm>
        <a:graphic>
          <a:graphicData uri="http://schemas.openxmlformats.org/drawingml/2006/table">
            <a:tbl>
              <a:tblPr firstRow="0" bandRow="0">
                <a:tableStyleId>{2D5ABB26-0587-4C30-8999-92F81FD0307C}</a:tableStyleId>
              </a:tblPr>
              <a:tblGrid>
                <a:gridCol w="2377440"/>
                <a:gridCol w="4572000"/>
                <a:gridCol w="1188720"/>
                <a:gridCol w="2194560"/>
              </a:tblGrid>
              <a:tr h="475488">
                <a:tc>
                  <a:txBody>
                    <a:bodyPr wrap="square"/>
                    <a:lstStyle/>
                    <a:p>
                      <a:pPr algn="l"/>
                      <a:r>
                        <a:rPr sz="1600" b="1" i="0">
                          <a:solidFill>
                            <a:srgbClr val="1B1F2A"/>
                          </a:solidFill>
                          <a:latin typeface="IBM Plex Sans"/>
                          <a:ea typeface="IBM Plex Sans"/>
                          <a:cs typeface="IBM Plex Sans"/>
                        </a:rPr>
                        <a:t>Scheme</a:t>
                      </a:r>
                    </a:p>
                  </a:txBody>
                  <a:tcPr marL="73152" marR="73152" marT="36576" marB="36576" anchor="ctr">
                    <a:lnL w="0">
                      <a:noFill/>
                    </a:lnL>
                    <a:lnR w="0">
                      <a:noFill/>
                    </a:lnR>
                    <a:lnT w="0">
                      <a:noFill/>
                    </a:lnT>
                    <a:lnB w="12700">
                      <a:solidFill>
                        <a:srgbClr val="C8C8C6"/>
                      </a:solidFill>
                    </a:lnB>
                    <a:solidFill>
                      <a:srgbClr val="E9E9E7"/>
                    </a:solidFill>
                  </a:tcPr>
                </a:tc>
                <a:tc>
                  <a:txBody>
                    <a:bodyPr wrap="square"/>
                    <a:lstStyle/>
                    <a:p>
                      <a:pPr algn="l"/>
                      <a:r>
                        <a:rPr sz="1600" b="1" i="0">
                          <a:solidFill>
                            <a:srgbClr val="1B1F2A"/>
                          </a:solidFill>
                          <a:latin typeface="IBM Plex Sans"/>
                          <a:ea typeface="IBM Plex Sans"/>
                          <a:cs typeface="IBM Plex Sans"/>
                        </a:rPr>
                        <a:t>Step</a:t>
                      </a:r>
                    </a:p>
                  </a:txBody>
                  <a:tcPr marL="73152" marR="73152" marT="36576" marB="36576" anchor="ctr">
                    <a:lnL w="0">
                      <a:noFill/>
                    </a:lnL>
                    <a:lnR w="0">
                      <a:noFill/>
                    </a:lnR>
                    <a:lnT w="0">
                      <a:noFill/>
                    </a:lnT>
                    <a:lnB w="12700">
                      <a:solidFill>
                        <a:srgbClr val="C8C8C6"/>
                      </a:solidFill>
                    </a:lnB>
                    <a:solidFill>
                      <a:srgbClr val="E9E9E7"/>
                    </a:solidFill>
                  </a:tcPr>
                </a:tc>
                <a:tc>
                  <a:txBody>
                    <a:bodyPr wrap="square"/>
                    <a:lstStyle/>
                    <a:p>
                      <a:pPr algn="ctr"/>
                      <a:r>
                        <a:rPr sz="1600" b="1" i="0">
                          <a:solidFill>
                            <a:srgbClr val="1B1F2A"/>
                          </a:solidFill>
                          <a:latin typeface="IBM Plex Sans"/>
                          <a:ea typeface="IBM Plex Sans"/>
                          <a:cs typeface="IBM Plex Sans"/>
                        </a:rPr>
                        <a:t>LUs</a:t>
                      </a:r>
                    </a:p>
                  </a:txBody>
                  <a:tcPr marL="73152" marR="73152" marT="36576" marB="36576" anchor="ctr">
                    <a:lnL w="0">
                      <a:noFill/>
                    </a:lnL>
                    <a:lnR w="0">
                      <a:noFill/>
                    </a:lnR>
                    <a:lnT w="0">
                      <a:noFill/>
                    </a:lnT>
                    <a:lnB w="12700">
                      <a:solidFill>
                        <a:srgbClr val="C8C8C6"/>
                      </a:solidFill>
                    </a:lnB>
                    <a:solidFill>
                      <a:srgbClr val="E9E9E7"/>
                    </a:solidFill>
                  </a:tcPr>
                </a:tc>
                <a:tc>
                  <a:txBody>
                    <a:bodyPr wrap="square"/>
                    <a:lstStyle/>
                    <a:p>
                      <a:pPr algn="l"/>
                      <a:r>
                        <a:rPr sz="1600" b="1" i="0">
                          <a:solidFill>
                            <a:srgbClr val="1B1F2A"/>
                          </a:solidFill>
                          <a:latin typeface="IBM Plex Sans"/>
                          <a:ea typeface="IBM Plex Sans"/>
                          <a:cs typeface="IBM Plex Sans"/>
                        </a:rPr>
                        <a:t>Type</a:t>
                      </a:r>
                    </a:p>
                  </a:txBody>
                  <a:tcPr marL="73152" marR="73152" marT="36576" marB="36576" anchor="ctr">
                    <a:lnL w="0">
                      <a:noFill/>
                    </a:lnL>
                    <a:lnR w="0">
                      <a:noFill/>
                    </a:lnR>
                    <a:lnT w="0">
                      <a:noFill/>
                    </a:lnT>
                    <a:lnB w="12700">
                      <a:solidFill>
                        <a:srgbClr val="C8C8C6"/>
                      </a:solidFill>
                    </a:lnB>
                    <a:solidFill>
                      <a:srgbClr val="E9E9E7"/>
                    </a:solidFill>
                  </a:tcPr>
                </a:tc>
              </a:tr>
              <a:tr h="475488">
                <a:tc>
                  <a:txBody>
                    <a:bodyPr wrap="square"/>
                    <a:lstStyle/>
                    <a:p>
                      <a:pPr algn="l"/>
                      <a:r>
                        <a:rPr sz="1600" b="0" i="0">
                          <a:solidFill>
                            <a:srgbClr val="1B1F2A"/>
                          </a:solidFill>
                          <a:latin typeface="IBM Plex Sans"/>
                          <a:ea typeface="IBM Plex Sans"/>
                          <a:cs typeface="IBM Plex Sans"/>
                        </a:rPr>
                        <a:t>Forward Euler</a:t>
                      </a:r>
                    </a:p>
                  </a:txBody>
                  <a:tcPr marL="73152" marR="73152" marT="36576" marB="36576" anchor="ctr">
                    <a:lnL w="0">
                      <a:noFill/>
                    </a:lnL>
                    <a:lnR w="0">
                      <a:noFill/>
                    </a:lnR>
                    <a:lnT w="0">
                      <a:noFill/>
                    </a:lnT>
                    <a:lnB w="12700">
                      <a:solidFill>
                        <a:srgbClr val="C8C8C6"/>
                      </a:solidFill>
                    </a:lnB>
                    <a:solidFill>
                      <a:srgbClr val="FBFBF9"/>
                    </a:solidFill>
                  </a:tcPr>
                </a:tc>
                <a:tc>
                  <a:txBody>
                    <a:bodyPr wrap="square"/>
                    <a:lstStyle/>
                    <a:p>
                      <a:pPr algn="l"/>
                      <a:r>
                        <a:rPr sz="1600" b="0" i="0">
                          <a:solidFill>
                            <a:srgbClr val="1B1F2A"/>
                          </a:solidFill>
                          <a:latin typeface="IBM Plex Sans"/>
                          <a:ea typeface="IBM Plex Sans"/>
                          <a:cs typeface="IBM Plex Sans"/>
                        </a:rPr>
                        <a:t>xₖ₊₁ = xₖ + Δt f(xₖ, tₖ)</a:t>
                      </a:r>
                    </a:p>
                  </a:txBody>
                  <a:tcPr marL="73152" marR="73152" marT="36576" marB="36576" anchor="ctr">
                    <a:lnL w="0">
                      <a:noFill/>
                    </a:lnL>
                    <a:lnR w="0">
                      <a:noFill/>
                    </a:lnR>
                    <a:lnT w="0">
                      <a:noFill/>
                    </a:lnT>
                    <a:lnB w="12700">
                      <a:solidFill>
                        <a:srgbClr val="C8C8C6"/>
                      </a:solidFill>
                    </a:lnB>
                    <a:solidFill>
                      <a:srgbClr val="FBFBF9"/>
                    </a:solidFill>
                  </a:tcPr>
                </a:tc>
                <a:tc>
                  <a:txBody>
                    <a:bodyPr wrap="square"/>
                    <a:lstStyle/>
                    <a:p>
                      <a:pPr algn="ctr"/>
                      <a:r>
                        <a:rPr sz="1600" b="0" i="0">
                          <a:solidFill>
                            <a:srgbClr val="1B1F2A"/>
                          </a:solidFill>
                          <a:latin typeface="IBM Plex Sans"/>
                          <a:ea typeface="IBM Plex Sans"/>
                          <a:cs typeface="IBM Plex Sans"/>
                        </a:rPr>
                        <a:t>1</a:t>
                      </a:r>
                    </a:p>
                  </a:txBody>
                  <a:tcPr marL="73152" marR="73152" marT="36576" marB="36576" anchor="ctr">
                    <a:lnL w="0">
                      <a:noFill/>
                    </a:lnL>
                    <a:lnR w="0">
                      <a:noFill/>
                    </a:lnR>
                    <a:lnT w="0">
                      <a:noFill/>
                    </a:lnT>
                    <a:lnB w="12700">
                      <a:solidFill>
                        <a:srgbClr val="C8C8C6"/>
                      </a:solidFill>
                    </a:lnB>
                    <a:solidFill>
                      <a:srgbClr val="FBFBF9"/>
                    </a:solidFill>
                  </a:tcPr>
                </a:tc>
                <a:tc>
                  <a:txBody>
                    <a:bodyPr wrap="square"/>
                    <a:lstStyle/>
                    <a:p>
                      <a:pPr algn="l"/>
                      <a:r>
                        <a:rPr sz="1600" b="0" i="0">
                          <a:solidFill>
                            <a:srgbClr val="1B1F2A"/>
                          </a:solidFill>
                          <a:latin typeface="IBM Plex Sans"/>
                          <a:ea typeface="IBM Plex Sans"/>
                          <a:cs typeface="IBM Plex Sans"/>
                        </a:rPr>
                        <a:t>explicit</a:t>
                      </a:r>
                    </a:p>
                  </a:txBody>
                  <a:tcPr marL="73152" marR="73152" marT="36576" marB="36576" anchor="ctr">
                    <a:lnL w="0">
                      <a:noFill/>
                    </a:lnL>
                    <a:lnR w="0">
                      <a:noFill/>
                    </a:lnR>
                    <a:lnT w="0">
                      <a:noFill/>
                    </a:lnT>
                    <a:lnB w="12700">
                      <a:solidFill>
                        <a:srgbClr val="C8C8C6"/>
                      </a:solidFill>
                    </a:lnB>
                    <a:solidFill>
                      <a:srgbClr val="FBFBF9"/>
                    </a:solidFill>
                  </a:tcPr>
                </a:tc>
              </a:tr>
              <a:tr h="475488">
                <a:tc>
                  <a:txBody>
                    <a:bodyPr wrap="square"/>
                    <a:lstStyle/>
                    <a:p>
                      <a:pPr algn="l"/>
                      <a:r>
                        <a:rPr sz="1600" b="1" i="0">
                          <a:solidFill>
                            <a:srgbClr val="1B1F2A"/>
                          </a:solidFill>
                          <a:latin typeface="IBM Plex Sans"/>
                          <a:ea typeface="IBM Plex Sans"/>
                          <a:cs typeface="IBM Plex Sans"/>
                        </a:rPr>
                        <a:t>Backward Euler (paper)</a:t>
                      </a:r>
                    </a:p>
                  </a:txBody>
                  <a:tcPr marL="73152" marR="73152" marT="36576" marB="36576" anchor="ctr">
                    <a:lnL w="0">
                      <a:noFill/>
                    </a:lnL>
                    <a:lnR w="0">
                      <a:noFill/>
                    </a:lnR>
                    <a:lnT w="0">
                      <a:noFill/>
                    </a:lnT>
                    <a:lnB w="12700">
                      <a:solidFill>
                        <a:srgbClr val="C8C8C6"/>
                      </a:solidFill>
                    </a:lnB>
                    <a:solidFill>
                      <a:srgbClr val="FBFBF9"/>
                    </a:solidFill>
                  </a:tcPr>
                </a:tc>
                <a:tc>
                  <a:txBody>
                    <a:bodyPr wrap="square"/>
                    <a:lstStyle/>
                    <a:p>
                      <a:pPr algn="l"/>
                      <a:r>
                        <a:rPr sz="1600" b="1" i="0">
                          <a:solidFill>
                            <a:srgbClr val="1B1F2A"/>
                          </a:solidFill>
                          <a:latin typeface="IBM Plex Sans"/>
                          <a:ea typeface="IBM Plex Sans"/>
                          <a:cs typeface="IBM Plex Sans"/>
                        </a:rPr>
                        <a:t>xₖ₊₁ = xₖ + Δt f(xₖ, tₖ₊₁)</a:t>
                      </a:r>
                    </a:p>
                  </a:txBody>
                  <a:tcPr marL="73152" marR="73152" marT="36576" marB="36576" anchor="ctr">
                    <a:lnL w="0">
                      <a:noFill/>
                    </a:lnL>
                    <a:lnR w="0">
                      <a:noFill/>
                    </a:lnR>
                    <a:lnT w="0">
                      <a:noFill/>
                    </a:lnT>
                    <a:lnB w="12700">
                      <a:solidFill>
                        <a:srgbClr val="C8C8C6"/>
                      </a:solidFill>
                    </a:lnB>
                    <a:solidFill>
                      <a:srgbClr val="FBFBF9"/>
                    </a:solidFill>
                  </a:tcPr>
                </a:tc>
                <a:tc>
                  <a:txBody>
                    <a:bodyPr wrap="square"/>
                    <a:lstStyle/>
                    <a:p>
                      <a:pPr algn="ctr"/>
                      <a:r>
                        <a:rPr sz="1600" b="1" i="0">
                          <a:solidFill>
                            <a:srgbClr val="1B1F2A"/>
                          </a:solidFill>
                          <a:latin typeface="IBM Plex Sans"/>
                          <a:ea typeface="IBM Plex Sans"/>
                          <a:cs typeface="IBM Plex Sans"/>
                        </a:rPr>
                        <a:t>1</a:t>
                      </a:r>
                    </a:p>
                  </a:txBody>
                  <a:tcPr marL="73152" marR="73152" marT="36576" marB="36576" anchor="ctr">
                    <a:lnL w="0">
                      <a:noFill/>
                    </a:lnL>
                    <a:lnR w="0">
                      <a:noFill/>
                    </a:lnR>
                    <a:lnT w="0">
                      <a:noFill/>
                    </a:lnT>
                    <a:lnB w="12700">
                      <a:solidFill>
                        <a:srgbClr val="C8C8C6"/>
                      </a:solidFill>
                    </a:lnB>
                    <a:solidFill>
                      <a:srgbClr val="FBFBF9"/>
                    </a:solidFill>
                  </a:tcPr>
                </a:tc>
                <a:tc>
                  <a:txBody>
                    <a:bodyPr wrap="square"/>
                    <a:lstStyle/>
                    <a:p>
                      <a:pPr algn="l"/>
                      <a:r>
                        <a:rPr sz="1600" b="1" i="0">
                          <a:solidFill>
                            <a:srgbClr val="1B1F2A"/>
                          </a:solidFill>
                          <a:latin typeface="IBM Plex Sans"/>
                          <a:ea typeface="IBM Plex Sans"/>
                          <a:cs typeface="IBM Plex Sans"/>
                        </a:rPr>
                        <a:t>implicit</a:t>
                      </a:r>
                    </a:p>
                  </a:txBody>
                  <a:tcPr marL="73152" marR="73152" marT="36576" marB="36576" anchor="ctr">
                    <a:lnL w="0">
                      <a:noFill/>
                    </a:lnL>
                    <a:lnR w="0">
                      <a:noFill/>
                    </a:lnR>
                    <a:lnT w="0">
                      <a:noFill/>
                    </a:lnT>
                    <a:lnB w="12700">
                      <a:solidFill>
                        <a:srgbClr val="C8C8C6"/>
                      </a:solidFill>
                    </a:lnB>
                    <a:solidFill>
                      <a:srgbClr val="FBFBF9"/>
                    </a:solidFill>
                  </a:tcPr>
                </a:tc>
              </a:tr>
              <a:tr h="475488">
                <a:tc>
                  <a:txBody>
                    <a:bodyPr wrap="square"/>
                    <a:lstStyle/>
                    <a:p>
                      <a:pPr algn="l"/>
                      <a:r>
                        <a:rPr sz="1600" b="0" i="0">
                          <a:solidFill>
                            <a:srgbClr val="1B1F2A"/>
                          </a:solidFill>
                          <a:latin typeface="IBM Plex Sans"/>
                          <a:ea typeface="IBM Plex Sans"/>
                          <a:cs typeface="IBM Plex Sans"/>
                        </a:rPr>
                        <a:t>RK2</a:t>
                      </a:r>
                    </a:p>
                  </a:txBody>
                  <a:tcPr marL="73152" marR="73152" marT="36576" marB="36576" anchor="ctr">
                    <a:lnL w="0">
                      <a:noFill/>
                    </a:lnL>
                    <a:lnR w="0">
                      <a:noFill/>
                    </a:lnR>
                    <a:lnT w="0">
                      <a:noFill/>
                    </a:lnT>
                    <a:lnB w="12700">
                      <a:solidFill>
                        <a:srgbClr val="C8C8C6"/>
                      </a:solidFill>
                    </a:lnB>
                    <a:solidFill>
                      <a:srgbClr val="FBFBF9"/>
                    </a:solidFill>
                  </a:tcPr>
                </a:tc>
                <a:tc>
                  <a:txBody>
                    <a:bodyPr wrap="square"/>
                    <a:lstStyle/>
                    <a:p>
                      <a:pPr algn="l"/>
                      <a:r>
                        <a:rPr sz="1600" b="0" i="0">
                          <a:solidFill>
                            <a:srgbClr val="1B1F2A"/>
                          </a:solidFill>
                          <a:latin typeface="IBM Plex Sans"/>
                          <a:ea typeface="IBM Plex Sans"/>
                          <a:cs typeface="IBM Plex Sans"/>
                        </a:rPr>
                        <a:t>average of 2 slopes</a:t>
                      </a:r>
                    </a:p>
                  </a:txBody>
                  <a:tcPr marL="73152" marR="73152" marT="36576" marB="36576" anchor="ctr">
                    <a:lnL w="0">
                      <a:noFill/>
                    </a:lnL>
                    <a:lnR w="0">
                      <a:noFill/>
                    </a:lnR>
                    <a:lnT w="0">
                      <a:noFill/>
                    </a:lnT>
                    <a:lnB w="12700">
                      <a:solidFill>
                        <a:srgbClr val="C8C8C6"/>
                      </a:solidFill>
                    </a:lnB>
                    <a:solidFill>
                      <a:srgbClr val="FBFBF9"/>
                    </a:solidFill>
                  </a:tcPr>
                </a:tc>
                <a:tc>
                  <a:txBody>
                    <a:bodyPr wrap="square"/>
                    <a:lstStyle/>
                    <a:p>
                      <a:pPr algn="ctr"/>
                      <a:r>
                        <a:rPr sz="1600" b="0" i="0">
                          <a:solidFill>
                            <a:srgbClr val="1B1F2A"/>
                          </a:solidFill>
                          <a:latin typeface="IBM Plex Sans"/>
                          <a:ea typeface="IBM Plex Sans"/>
                          <a:cs typeface="IBM Plex Sans"/>
                        </a:rPr>
                        <a:t>2</a:t>
                      </a:r>
                    </a:p>
                  </a:txBody>
                  <a:tcPr marL="73152" marR="73152" marT="36576" marB="36576" anchor="ctr">
                    <a:lnL w="0">
                      <a:noFill/>
                    </a:lnL>
                    <a:lnR w="0">
                      <a:noFill/>
                    </a:lnR>
                    <a:lnT w="0">
                      <a:noFill/>
                    </a:lnT>
                    <a:lnB w="12700">
                      <a:solidFill>
                        <a:srgbClr val="C8C8C6"/>
                      </a:solidFill>
                    </a:lnB>
                    <a:solidFill>
                      <a:srgbClr val="FBFBF9"/>
                    </a:solidFill>
                  </a:tcPr>
                </a:tc>
                <a:tc>
                  <a:txBody>
                    <a:bodyPr wrap="square"/>
                    <a:lstStyle/>
                    <a:p>
                      <a:pPr algn="l"/>
                      <a:r>
                        <a:rPr sz="1600" b="0" i="0">
                          <a:solidFill>
                            <a:srgbClr val="1B1F2A"/>
                          </a:solidFill>
                          <a:latin typeface="IBM Plex Sans"/>
                          <a:ea typeface="IBM Plex Sans"/>
                          <a:cs typeface="IBM Plex Sans"/>
                        </a:rPr>
                        <a:t>explicit</a:t>
                      </a:r>
                    </a:p>
                  </a:txBody>
                  <a:tcPr marL="73152" marR="73152" marT="36576" marB="36576" anchor="ctr">
                    <a:lnL w="0">
                      <a:noFill/>
                    </a:lnL>
                    <a:lnR w="0">
                      <a:noFill/>
                    </a:lnR>
                    <a:lnT w="0">
                      <a:noFill/>
                    </a:lnT>
                    <a:lnB w="12700">
                      <a:solidFill>
                        <a:srgbClr val="C8C8C6"/>
                      </a:solidFill>
                    </a:lnB>
                    <a:solidFill>
                      <a:srgbClr val="FBFBF9"/>
                    </a:solidFill>
                  </a:tcPr>
                </a:tc>
              </a:tr>
              <a:tr h="475488">
                <a:tc>
                  <a:txBody>
                    <a:bodyPr wrap="square"/>
                    <a:lstStyle/>
                    <a:p>
                      <a:pPr algn="l"/>
                      <a:r>
                        <a:rPr sz="1600" b="0" i="0">
                          <a:solidFill>
                            <a:srgbClr val="1B1F2A"/>
                          </a:solidFill>
                          <a:latin typeface="IBM Plex Sans"/>
                          <a:ea typeface="IBM Plex Sans"/>
                          <a:cs typeface="IBM Plex Sans"/>
                        </a:rPr>
                        <a:t>RK4 (added)</a:t>
                      </a:r>
                    </a:p>
                  </a:txBody>
                  <a:tcPr marL="73152" marR="73152" marT="36576" marB="36576" anchor="ctr">
                    <a:lnL w="0">
                      <a:noFill/>
                    </a:lnL>
                    <a:lnR w="0">
                      <a:noFill/>
                    </a:lnR>
                    <a:lnT w="0">
                      <a:noFill/>
                    </a:lnT>
                    <a:lnB w="12700">
                      <a:solidFill>
                        <a:srgbClr val="C8C8C6"/>
                      </a:solidFill>
                    </a:lnB>
                    <a:solidFill>
                      <a:srgbClr val="FBFBF9"/>
                    </a:solidFill>
                  </a:tcPr>
                </a:tc>
                <a:tc>
                  <a:txBody>
                    <a:bodyPr wrap="square"/>
                    <a:lstStyle/>
                    <a:p>
                      <a:pPr algn="l"/>
                      <a:r>
                        <a:rPr sz="1600" b="0" i="0">
                          <a:solidFill>
                            <a:srgbClr val="1B1F2A"/>
                          </a:solidFill>
                          <a:latin typeface="IBM Plex Sans"/>
                          <a:ea typeface="IBM Plex Sans"/>
                          <a:cs typeface="IBM Plex Sans"/>
                        </a:rPr>
                        <a:t>weighted average of 4 slopes</a:t>
                      </a:r>
                    </a:p>
                  </a:txBody>
                  <a:tcPr marL="73152" marR="73152" marT="36576" marB="36576" anchor="ctr">
                    <a:lnL w="0">
                      <a:noFill/>
                    </a:lnL>
                    <a:lnR w="0">
                      <a:noFill/>
                    </a:lnR>
                    <a:lnT w="0">
                      <a:noFill/>
                    </a:lnT>
                    <a:lnB w="12700">
                      <a:solidFill>
                        <a:srgbClr val="C8C8C6"/>
                      </a:solidFill>
                    </a:lnB>
                    <a:solidFill>
                      <a:srgbClr val="FBFBF9"/>
                    </a:solidFill>
                  </a:tcPr>
                </a:tc>
                <a:tc>
                  <a:txBody>
                    <a:bodyPr wrap="square"/>
                    <a:lstStyle/>
                    <a:p>
                      <a:pPr algn="ctr"/>
                      <a:r>
                        <a:rPr sz="1600" b="0" i="0">
                          <a:solidFill>
                            <a:srgbClr val="1B1F2A"/>
                          </a:solidFill>
                          <a:latin typeface="IBM Plex Sans"/>
                          <a:ea typeface="IBM Plex Sans"/>
                          <a:cs typeface="IBM Plex Sans"/>
                        </a:rPr>
                        <a:t>4</a:t>
                      </a:r>
                    </a:p>
                  </a:txBody>
                  <a:tcPr marL="73152" marR="73152" marT="36576" marB="36576" anchor="ctr">
                    <a:lnL w="0">
                      <a:noFill/>
                    </a:lnL>
                    <a:lnR w="0">
                      <a:noFill/>
                    </a:lnR>
                    <a:lnT w="0">
                      <a:noFill/>
                    </a:lnT>
                    <a:lnB w="12700">
                      <a:solidFill>
                        <a:srgbClr val="C8C8C6"/>
                      </a:solidFill>
                    </a:lnB>
                    <a:solidFill>
                      <a:srgbClr val="FBFBF9"/>
                    </a:solidFill>
                  </a:tcPr>
                </a:tc>
                <a:tc>
                  <a:txBody>
                    <a:bodyPr wrap="square"/>
                    <a:lstStyle/>
                    <a:p>
                      <a:pPr algn="l"/>
                      <a:r>
                        <a:rPr sz="1600" b="0" i="0">
                          <a:solidFill>
                            <a:srgbClr val="1B1F2A"/>
                          </a:solidFill>
                          <a:latin typeface="IBM Plex Sans"/>
                          <a:ea typeface="IBM Plex Sans"/>
                          <a:cs typeface="IBM Plex Sans"/>
                        </a:rPr>
                        <a:t>explicit</a:t>
                      </a:r>
                    </a:p>
                  </a:txBody>
                  <a:tcPr marL="73152" marR="73152" marT="36576" marB="36576" anchor="ctr">
                    <a:lnL w="0">
                      <a:noFill/>
                    </a:lnL>
                    <a:lnR w="0">
                      <a:noFill/>
                    </a:lnR>
                    <a:lnT w="0">
                      <a:noFill/>
                    </a:lnT>
                    <a:lnB w="12700">
                      <a:solidFill>
                        <a:srgbClr val="C8C8C6"/>
                      </a:solidFill>
                    </a:lnB>
                    <a:solidFill>
                      <a:srgbClr val="FBFBF9"/>
                    </a:solidFill>
                  </a:tcPr>
                </a:tc>
              </a:tr>
            </a:tbl>
          </a:graphicData>
        </a:graphic>
      </p:graphicFrame>
      <p:sp>
        <p:nvSpPr>
          <p:cNvPr id="8" name="TextBox 7"/>
          <p:cNvSpPr txBox="1"/>
          <p:nvPr/>
        </p:nvSpPr>
        <p:spPr>
          <a:xfrm>
            <a:off x="813816" y="5029200"/>
            <a:ext cx="10561320" cy="457200"/>
          </a:xfrm>
          <a:prstGeom prst="rect">
            <a:avLst/>
          </a:prstGeom>
          <a:noFill/>
        </p:spPr>
        <p:txBody>
          <a:bodyPr wrap="square" lIns="0" rIns="0" tIns="0" bIns="0" anchor="t">
            <a:spAutoFit/>
          </a:bodyPr>
          <a:lstStyle/>
          <a:p>
            <a:pPr algn="l">
              <a:spcAft>
                <a:spcPts val="800"/>
              </a:spcAft>
            </a:pPr>
            <a:r>
              <a:rPr sz="1600" b="0" i="0">
                <a:solidFill>
                  <a:srgbClr val="333A48"/>
                </a:solidFill>
                <a:latin typeface="IBM Plex Sans"/>
                <a:ea typeface="IBM Plex Sans"/>
                <a:cs typeface="IBM Plex Sans"/>
              </a:rPr>
              <a:t>Every slope costs one sparse LU, so cost = number of LUs.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BFBF9"/>
        </a:solidFill>
        <a:effectLst/>
      </p:bgPr>
    </p:bg>
    <p:spTree>
      <p:nvGrpSpPr>
        <p:cNvPr id="1" name=""/>
        <p:cNvGrpSpPr/>
        <p:nvPr/>
      </p:nvGrpSpPr>
      <p:grpSpPr/>
      <p:sp>
        <p:nvSpPr>
          <p:cNvPr id="2" name="TextBox 1"/>
          <p:cNvSpPr txBox="1"/>
          <p:nvPr/>
        </p:nvSpPr>
        <p:spPr>
          <a:xfrm>
            <a:off x="813816" y="713232"/>
            <a:ext cx="10881360" cy="429768"/>
          </a:xfrm>
          <a:prstGeom prst="rect">
            <a:avLst/>
          </a:prstGeom>
          <a:noFill/>
        </p:spPr>
        <p:txBody>
          <a:bodyPr wrap="square" lIns="0" rIns="0" tIns="0" bIns="0" anchor="t">
            <a:spAutoFit/>
          </a:bodyPr>
          <a:lstStyle/>
          <a:p>
            <a:pPr algn="l">
              <a:spcAft>
                <a:spcPts val="800"/>
              </a:spcAft>
            </a:pPr>
            <a:r>
              <a:rPr sz="2800" b="1" i="0">
                <a:solidFill>
                  <a:srgbClr val="1F3A5F"/>
                </a:solidFill>
                <a:latin typeface="IBM Plex Sans"/>
                <a:ea typeface="IBM Plex Sans"/>
                <a:cs typeface="IBM Plex Sans"/>
              </a:rPr>
              <a:t>One big step, worked by hand</a:t>
            </a:r>
          </a:p>
        </p:txBody>
      </p:sp>
      <p:pic>
        <p:nvPicPr>
          <p:cNvPr id="3" name="Picture 2" descr="image.png"/>
          <p:cNvPicPr>
            <a:picLocks noChangeAspect="1"/>
          </p:cNvPicPr>
          <p:nvPr/>
        </p:nvPicPr>
        <p:blipFill>
          <a:blip r:embed="rId2"/>
          <a:stretch>
            <a:fillRect/>
          </a:stretch>
        </p:blipFill>
        <p:spPr>
          <a:xfrm>
            <a:off x="812800" y="1221741"/>
            <a:ext cx="10566400" cy="20320"/>
          </a:xfrm>
          <a:prstGeom prst="rect">
            <a:avLst/>
          </a:prstGeom>
        </p:spPr>
      </p:pic>
      <p:sp>
        <p:nvSpPr>
          <p:cNvPr id="4" name="TextBox 3"/>
          <p:cNvSpPr txBox="1"/>
          <p:nvPr/>
        </p:nvSpPr>
        <p:spPr>
          <a:xfrm>
            <a:off x="813816" y="6236208"/>
            <a:ext cx="7845552" cy="237744"/>
          </a:xfrm>
          <a:prstGeom prst="rect">
            <a:avLst/>
          </a:prstGeom>
          <a:noFill/>
        </p:spPr>
        <p:txBody>
          <a:bodyPr wrap="square" lIns="0" rIns="0" tIns="0" bIns="0" anchor="t">
            <a:spAutoFit/>
          </a:bodyPr>
          <a:lstStyle/>
          <a:p>
            <a:pPr algn="l">
              <a:spcAft>
                <a:spcPts val="800"/>
              </a:spcAft>
            </a:pPr>
            <a:r>
              <a:rPr sz="1200" b="0" i="0">
                <a:solidFill>
                  <a:srgbClr val="6B7280"/>
                </a:solidFill>
                <a:latin typeface="IBM Plex Sans"/>
                <a:ea typeface="IBM Plex Sans"/>
                <a:cs typeface="IBM Plex Sans"/>
              </a:rPr>
              <a:t>Sizan's part · Lima-Silva &amp; Freitas (2024): reproduction and improvements</a:t>
            </a:r>
          </a:p>
        </p:txBody>
      </p:sp>
      <p:sp>
        <p:nvSpPr>
          <p:cNvPr id="5" name="TextBox 4"/>
          <p:cNvSpPr txBox="1"/>
          <p:nvPr/>
        </p:nvSpPr>
        <p:spPr>
          <a:xfrm>
            <a:off x="10058400" y="6236208"/>
            <a:ext cx="1316736" cy="237744"/>
          </a:xfrm>
          <a:prstGeom prst="rect">
            <a:avLst/>
          </a:prstGeom>
          <a:noFill/>
        </p:spPr>
        <p:txBody>
          <a:bodyPr wrap="square" lIns="0" rIns="0" tIns="0" bIns="0" anchor="t">
            <a:spAutoFit/>
          </a:bodyPr>
          <a:lstStyle/>
          <a:p>
            <a:pPr algn="r">
              <a:spcAft>
                <a:spcPts val="800"/>
              </a:spcAft>
            </a:pPr>
            <a:r>
              <a:rPr sz="1200" b="0" i="0">
                <a:solidFill>
                  <a:srgbClr val="6B7280"/>
                </a:solidFill>
                <a:latin typeface="IBM Plex Sans"/>
                <a:ea typeface="IBM Plex Sans"/>
                <a:cs typeface="IBM Plex Sans"/>
              </a:rPr>
              <a:t>4</a:t>
            </a:r>
          </a:p>
        </p:txBody>
      </p:sp>
      <p:pic>
        <p:nvPicPr>
          <p:cNvPr id="6" name="Picture 5" descr="scalar_step.png"/>
          <p:cNvPicPr>
            <a:picLocks noChangeAspect="1"/>
          </p:cNvPicPr>
          <p:nvPr/>
        </p:nvPicPr>
        <p:blipFill>
          <a:blip r:embed="rId3"/>
          <a:stretch>
            <a:fillRect/>
          </a:stretch>
        </p:blipFill>
        <p:spPr>
          <a:xfrm>
            <a:off x="813816" y="1463040"/>
            <a:ext cx="6583680" cy="3391593"/>
          </a:xfrm>
          <a:prstGeom prst="rect">
            <a:avLst/>
          </a:prstGeom>
        </p:spPr>
      </p:pic>
      <p:sp>
        <p:nvSpPr>
          <p:cNvPr id="7" name="TextBox 6"/>
          <p:cNvSpPr txBox="1"/>
          <p:nvPr/>
        </p:nvSpPr>
        <p:spPr>
          <a:xfrm>
            <a:off x="7726679" y="1600200"/>
            <a:ext cx="3657600" cy="3840480"/>
          </a:xfrm>
          <a:prstGeom prst="rect">
            <a:avLst/>
          </a:prstGeom>
          <a:noFill/>
        </p:spPr>
        <p:txBody>
          <a:bodyPr wrap="square" lIns="0" rIns="0" tIns="0" bIns="0" anchor="t">
            <a:spAutoFit/>
          </a:bodyPr>
          <a:lstStyle/>
          <a:p>
            <a:pPr algn="l">
              <a:spcAft>
                <a:spcPts val="200"/>
              </a:spcAft>
            </a:pPr>
            <a:r>
              <a:rPr sz="1700" b="1" i="0">
                <a:solidFill>
                  <a:srgbClr val="1B1F2A"/>
                </a:solidFill>
                <a:latin typeface="IBM Plex Sans"/>
                <a:ea typeface="IBM Plex Sans"/>
                <a:cs typeface="IBM Plex Sans"/>
              </a:rPr>
              <a:t>g(x) = x² − 2</a:t>
            </a:r>
          </a:p>
          <a:p>
            <a:pPr algn="l">
              <a:spcAft>
                <a:spcPts val="200"/>
              </a:spcAft>
            </a:pPr>
            <a:r>
              <a:rPr sz="1700" b="0" i="0">
                <a:solidFill>
                  <a:srgbClr val="1B1F2A"/>
                </a:solidFill>
                <a:latin typeface="IBM Plex Sans"/>
                <a:ea typeface="IBM Plex Sans"/>
                <a:cs typeface="IBM Plex Sans"/>
              </a:rPr>
              <a:t>start x = 1, K = 0.001</a:t>
            </a:r>
          </a:p>
          <a:p>
            <a:pPr algn="l">
              <a:spcAft>
                <a:spcPts val="200"/>
              </a:spcAft>
            </a:pPr>
            <a:r>
              <a:rPr sz="1700" b="0" i="0">
                <a:solidFill>
                  <a:srgbClr val="1B1F2A"/>
                </a:solidFill>
                <a:latin typeface="IBM Plex Sans"/>
                <a:ea typeface="IBM Plex Sans"/>
                <a:cs typeface="IBM Plex Sans"/>
              </a:rPr>
              <a:t>one BE step to t = 0.01, then one step to t = 1</a:t>
            </a:r>
          </a:p>
          <a:p>
            <a:pPr algn="l">
              <a:spcAft>
                <a:spcPts val="200"/>
              </a:spcAft>
            </a:pPr>
            <a:r>
              <a:rPr sz="1700" b="0" i="0">
                <a:solidFill>
                  <a:srgbClr val="1B1F2A"/>
                </a:solidFill>
                <a:latin typeface="IBM Plex Sans"/>
                <a:ea typeface="IBM Plex Sans"/>
                <a:cs typeface="IBM Plex Sans"/>
              </a:rPr>
              <a:t/>
            </a:r>
          </a:p>
          <a:p>
            <a:pPr algn="l">
              <a:spcAft>
                <a:spcPts val="200"/>
              </a:spcAft>
            </a:pPr>
            <a:r>
              <a:rPr sz="1700" b="1" i="0">
                <a:solidFill>
                  <a:srgbClr val="B54A3F"/>
                </a:solidFill>
                <a:latin typeface="IBM Plex Sans"/>
                <a:ea typeface="IBM Plex Sans"/>
                <a:cs typeface="IBM Plex Sans"/>
              </a:rPr>
              <a:t>FE → −4.34</a:t>
            </a:r>
          </a:p>
          <a:p>
            <a:pPr algn="l">
              <a:spcAft>
                <a:spcPts val="200"/>
              </a:spcAft>
            </a:pPr>
            <a:r>
              <a:rPr sz="1700" b="0" i="0">
                <a:solidFill>
                  <a:srgbClr val="1B1F2A"/>
                </a:solidFill>
                <a:latin typeface="IBM Plex Sans"/>
                <a:ea typeface="IBM Plex Sans"/>
                <a:cs typeface="IBM Plex Sans"/>
              </a:rPr>
              <a:t>Newton finds the wrong root, −√2</a:t>
            </a:r>
          </a:p>
          <a:p>
            <a:pPr algn="l">
              <a:spcAft>
                <a:spcPts val="200"/>
              </a:spcAft>
            </a:pPr>
            <a:r>
              <a:rPr sz="1700" b="0" i="0">
                <a:solidFill>
                  <a:srgbClr val="1B1F2A"/>
                </a:solidFill>
                <a:latin typeface="IBM Plex Sans"/>
                <a:ea typeface="IBM Plex Sans"/>
                <a:cs typeface="IBM Plex Sans"/>
              </a:rPr>
              <a:t/>
            </a:r>
          </a:p>
          <a:p>
            <a:pPr algn="l">
              <a:spcAft>
                <a:spcPts val="200"/>
              </a:spcAft>
            </a:pPr>
            <a:r>
              <a:rPr sz="1700" b="1" i="0">
                <a:solidFill>
                  <a:srgbClr val="2F8F5B"/>
                </a:solidFill>
                <a:latin typeface="IBM Plex Sans"/>
                <a:ea typeface="IBM Plex Sans"/>
                <a:cs typeface="IBM Plex Sans"/>
              </a:rPr>
              <a:t>BE → 1.416</a:t>
            </a:r>
          </a:p>
          <a:p>
            <a:pPr algn="l">
              <a:spcAft>
                <a:spcPts val="200"/>
              </a:spcAft>
            </a:pPr>
            <a:r>
              <a:rPr sz="1700" b="0" i="0">
                <a:solidFill>
                  <a:srgbClr val="1B1F2A"/>
                </a:solidFill>
                <a:latin typeface="IBM Plex Sans"/>
                <a:ea typeface="IBM Plex Sans"/>
                <a:cs typeface="IBM Plex Sans"/>
              </a:rPr>
              <a:t>Newton converges in 2 iterations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BFBF9"/>
        </a:solidFill>
        <a:effectLst/>
      </p:bgPr>
    </p:bg>
    <p:spTree>
      <p:nvGrpSpPr>
        <p:cNvPr id="1" name=""/>
        <p:cNvGrpSpPr/>
        <p:nvPr/>
      </p:nvGrpSpPr>
      <p:grpSpPr/>
      <p:sp>
        <p:nvSpPr>
          <p:cNvPr id="2" name="TextBox 1"/>
          <p:cNvSpPr txBox="1"/>
          <p:nvPr/>
        </p:nvSpPr>
        <p:spPr>
          <a:xfrm>
            <a:off x="813816" y="713232"/>
            <a:ext cx="10881360" cy="429768"/>
          </a:xfrm>
          <a:prstGeom prst="rect">
            <a:avLst/>
          </a:prstGeom>
          <a:noFill/>
        </p:spPr>
        <p:txBody>
          <a:bodyPr wrap="square" lIns="0" rIns="0" tIns="0" bIns="0" anchor="t">
            <a:spAutoFit/>
          </a:bodyPr>
          <a:lstStyle/>
          <a:p>
            <a:pPr algn="l">
              <a:spcAft>
                <a:spcPts val="800"/>
              </a:spcAft>
            </a:pPr>
            <a:r>
              <a:rPr sz="2800" b="1" i="0">
                <a:solidFill>
                  <a:srgbClr val="1F3A5F"/>
                </a:solidFill>
                <a:latin typeface="IBM Plex Sans"/>
                <a:ea typeface="IBM Plex Sans"/>
                <a:cs typeface="IBM Plex Sans"/>
              </a:rPr>
              <a:t>Why backward Euler wins</a:t>
            </a:r>
          </a:p>
        </p:txBody>
      </p:sp>
      <p:pic>
        <p:nvPicPr>
          <p:cNvPr id="3" name="Picture 2" descr="image.png"/>
          <p:cNvPicPr>
            <a:picLocks noChangeAspect="1"/>
          </p:cNvPicPr>
          <p:nvPr/>
        </p:nvPicPr>
        <p:blipFill>
          <a:blip r:embed="rId2"/>
          <a:stretch>
            <a:fillRect/>
          </a:stretch>
        </p:blipFill>
        <p:spPr>
          <a:xfrm>
            <a:off x="812800" y="1221741"/>
            <a:ext cx="10566400" cy="20320"/>
          </a:xfrm>
          <a:prstGeom prst="rect">
            <a:avLst/>
          </a:prstGeom>
        </p:spPr>
      </p:pic>
      <p:sp>
        <p:nvSpPr>
          <p:cNvPr id="4" name="TextBox 3"/>
          <p:cNvSpPr txBox="1"/>
          <p:nvPr/>
        </p:nvSpPr>
        <p:spPr>
          <a:xfrm>
            <a:off x="813816" y="6236208"/>
            <a:ext cx="7845552" cy="237744"/>
          </a:xfrm>
          <a:prstGeom prst="rect">
            <a:avLst/>
          </a:prstGeom>
          <a:noFill/>
        </p:spPr>
        <p:txBody>
          <a:bodyPr wrap="square" lIns="0" rIns="0" tIns="0" bIns="0" anchor="t">
            <a:spAutoFit/>
          </a:bodyPr>
          <a:lstStyle/>
          <a:p>
            <a:pPr algn="l">
              <a:spcAft>
                <a:spcPts val="800"/>
              </a:spcAft>
            </a:pPr>
            <a:r>
              <a:rPr sz="1200" b="0" i="0">
                <a:solidFill>
                  <a:srgbClr val="6B7280"/>
                </a:solidFill>
                <a:latin typeface="IBM Plex Sans"/>
                <a:ea typeface="IBM Plex Sans"/>
                <a:cs typeface="IBM Plex Sans"/>
              </a:rPr>
              <a:t>Sizan's part · Lima-Silva &amp; Freitas (2024): reproduction and improvements</a:t>
            </a:r>
          </a:p>
        </p:txBody>
      </p:sp>
      <p:sp>
        <p:nvSpPr>
          <p:cNvPr id="5" name="TextBox 4"/>
          <p:cNvSpPr txBox="1"/>
          <p:nvPr/>
        </p:nvSpPr>
        <p:spPr>
          <a:xfrm>
            <a:off x="10058400" y="6236208"/>
            <a:ext cx="1316736" cy="237744"/>
          </a:xfrm>
          <a:prstGeom prst="rect">
            <a:avLst/>
          </a:prstGeom>
          <a:noFill/>
        </p:spPr>
        <p:txBody>
          <a:bodyPr wrap="square" lIns="0" rIns="0" tIns="0" bIns="0" anchor="t">
            <a:spAutoFit/>
          </a:bodyPr>
          <a:lstStyle/>
          <a:p>
            <a:pPr algn="r">
              <a:spcAft>
                <a:spcPts val="800"/>
              </a:spcAft>
            </a:pPr>
            <a:r>
              <a:rPr sz="1200" b="0" i="0">
                <a:solidFill>
                  <a:srgbClr val="6B7280"/>
                </a:solidFill>
                <a:latin typeface="IBM Plex Sans"/>
                <a:ea typeface="IBM Plex Sans"/>
                <a:cs typeface="IBM Plex Sans"/>
              </a:rPr>
              <a:t>5</a:t>
            </a:r>
          </a:p>
        </p:txBody>
      </p:sp>
      <p:sp>
        <p:nvSpPr>
          <p:cNvPr id="6" name="TextBox 5"/>
          <p:cNvSpPr txBox="1"/>
          <p:nvPr/>
        </p:nvSpPr>
        <p:spPr>
          <a:xfrm>
            <a:off x="813816" y="1463040"/>
            <a:ext cx="4937760" cy="457200"/>
          </a:xfrm>
          <a:prstGeom prst="rect">
            <a:avLst/>
          </a:prstGeom>
          <a:noFill/>
        </p:spPr>
        <p:txBody>
          <a:bodyPr wrap="square" lIns="0" rIns="0" tIns="0" bIns="0" anchor="t">
            <a:spAutoFit/>
          </a:bodyPr>
          <a:lstStyle/>
          <a:p>
            <a:pPr algn="l">
              <a:spcAft>
                <a:spcPts val="800"/>
              </a:spcAft>
            </a:pPr>
            <a:r>
              <a:rPr sz="2000" b="1" i="0">
                <a:solidFill>
                  <a:srgbClr val="1F3A5F"/>
                </a:solidFill>
                <a:latin typeface="IBM Plex Sans"/>
                <a:ea typeface="IBM Plex Sans"/>
                <a:cs typeface="IBM Plex Sans"/>
              </a:rPr>
              <a:t>FE overshoots</a:t>
            </a:r>
          </a:p>
        </p:txBody>
      </p:sp>
      <p:pic>
        <p:nvPicPr>
          <p:cNvPr id="7" name="Picture 6" descr="s_over.png"/>
          <p:cNvPicPr>
            <a:picLocks noChangeAspect="1"/>
          </p:cNvPicPr>
          <p:nvPr/>
        </p:nvPicPr>
        <p:blipFill>
          <a:blip r:embed="rId3"/>
          <a:stretch>
            <a:fillRect/>
          </a:stretch>
        </p:blipFill>
        <p:spPr>
          <a:xfrm>
            <a:off x="813816" y="2057400"/>
            <a:ext cx="2837688" cy="545592"/>
          </a:xfrm>
          <a:prstGeom prst="rect">
            <a:avLst/>
          </a:prstGeom>
        </p:spPr>
      </p:pic>
      <p:sp>
        <p:nvSpPr>
          <p:cNvPr id="8" name="TextBox 7"/>
          <p:cNvSpPr txBox="1"/>
          <p:nvPr/>
        </p:nvSpPr>
        <p:spPr>
          <a:xfrm>
            <a:off x="813816" y="3291840"/>
            <a:ext cx="4846320" cy="1463040"/>
          </a:xfrm>
          <a:prstGeom prst="rect">
            <a:avLst/>
          </a:prstGeom>
          <a:noFill/>
        </p:spPr>
        <p:txBody>
          <a:bodyPr wrap="square" lIns="0" rIns="0" tIns="0" bIns="0" anchor="t">
            <a:spAutoFit/>
          </a:bodyPr>
          <a:lstStyle/>
          <a:p>
            <a:pPr algn="l" marL="228600" indent="-228600">
              <a:spcAft>
                <a:spcPts val="800"/>
              </a:spcAft>
              <a:buFont typeface="Arial"/>
              <a:buChar char="•"/>
            </a:pPr>
            <a:r>
              <a:rPr sz="1600" b="0" i="0">
                <a:solidFill>
                  <a:srgbClr val="1B1F2A"/>
                </a:solidFill>
                <a:latin typeface="IBM Plex Sans"/>
                <a:ea typeface="IBM Plex Sans"/>
                <a:cs typeface="IBM Plex Sans"/>
              </a:rPr>
              <a:t>FE uses Gₓ at the old time, about tₖ J: far too small</a:t>
            </a:r>
          </a:p>
          <a:p>
            <a:pPr algn="l" marL="228600" indent="-228600">
              <a:spcAft>
                <a:spcPts val="800"/>
              </a:spcAft>
              <a:buFont typeface="Arial"/>
              <a:buChar char="•"/>
            </a:pPr>
            <a:r>
              <a:rPr sz="1600" b="1" i="0">
                <a:solidFill>
                  <a:srgbClr val="1B1F2A"/>
                </a:solidFill>
                <a:latin typeface="IBM Plex Sans"/>
                <a:ea typeface="IBM Plex Sans"/>
                <a:cs typeface="IBM Plex Sans"/>
              </a:rPr>
              <a:t>step 0.01 → 0.51: about 51× too long</a:t>
            </a:r>
          </a:p>
        </p:txBody>
      </p:sp>
      <p:sp>
        <p:nvSpPr>
          <p:cNvPr id="9" name="TextBox 8"/>
          <p:cNvSpPr txBox="1"/>
          <p:nvPr/>
        </p:nvSpPr>
        <p:spPr>
          <a:xfrm>
            <a:off x="6355080" y="1463040"/>
            <a:ext cx="4937760" cy="457200"/>
          </a:xfrm>
          <a:prstGeom prst="rect">
            <a:avLst/>
          </a:prstGeom>
          <a:noFill/>
        </p:spPr>
        <p:txBody>
          <a:bodyPr wrap="square" lIns="0" rIns="0" tIns="0" bIns="0" anchor="t">
            <a:spAutoFit/>
          </a:bodyPr>
          <a:lstStyle/>
          <a:p>
            <a:pPr algn="l">
              <a:spcAft>
                <a:spcPts val="800"/>
              </a:spcAft>
            </a:pPr>
            <a:r>
              <a:rPr sz="2000" b="1" i="0">
                <a:solidFill>
                  <a:srgbClr val="1F3A5F"/>
                </a:solidFill>
                <a:latin typeface="IBM Plex Sans"/>
                <a:ea typeface="IBM Plex Sans"/>
                <a:cs typeface="IBM Plex Sans"/>
              </a:rPr>
              <a:t>BE is a Newton step</a:t>
            </a:r>
          </a:p>
        </p:txBody>
      </p:sp>
      <p:pic>
        <p:nvPicPr>
          <p:cNvPr id="10" name="Picture 9" descr="s_newton.png"/>
          <p:cNvPicPr>
            <a:picLocks noChangeAspect="1"/>
          </p:cNvPicPr>
          <p:nvPr/>
        </p:nvPicPr>
        <p:blipFill>
          <a:blip r:embed="rId4"/>
          <a:stretch>
            <a:fillRect/>
          </a:stretch>
        </p:blipFill>
        <p:spPr>
          <a:xfrm>
            <a:off x="6355080" y="2148840"/>
            <a:ext cx="4968240" cy="417576"/>
          </a:xfrm>
          <a:prstGeom prst="rect">
            <a:avLst/>
          </a:prstGeom>
        </p:spPr>
      </p:pic>
      <p:sp>
        <p:nvSpPr>
          <p:cNvPr id="11" name="TextBox 10"/>
          <p:cNvSpPr txBox="1"/>
          <p:nvPr/>
        </p:nvSpPr>
        <p:spPr>
          <a:xfrm>
            <a:off x="6355080" y="3291840"/>
            <a:ext cx="4846320" cy="1463040"/>
          </a:xfrm>
          <a:prstGeom prst="rect">
            <a:avLst/>
          </a:prstGeom>
          <a:noFill/>
        </p:spPr>
        <p:txBody>
          <a:bodyPr wrap="square" lIns="0" rIns="0" tIns="0" bIns="0" anchor="t">
            <a:spAutoFit/>
          </a:bodyPr>
          <a:lstStyle/>
          <a:p>
            <a:pPr algn="l" marL="228600" indent="-228600">
              <a:spcAft>
                <a:spcPts val="800"/>
              </a:spcAft>
              <a:buFont typeface="Arial"/>
              <a:buChar char="•"/>
            </a:pPr>
            <a:r>
              <a:rPr sz="1600" b="0" i="0">
                <a:solidFill>
                  <a:srgbClr val="1B1F2A"/>
                </a:solidFill>
                <a:latin typeface="IBM Plex Sans"/>
                <a:ea typeface="IBM Plex Sans"/>
                <a:cs typeface="IBM Plex Sans"/>
              </a:rPr>
              <a:t>because G is linear in t and G(xₖ, tₖ) = 0</a:t>
            </a:r>
          </a:p>
          <a:p>
            <a:pPr algn="l" marL="228600" indent="-228600">
              <a:spcAft>
                <a:spcPts val="800"/>
              </a:spcAft>
              <a:buFont typeface="Arial"/>
              <a:buChar char="•"/>
            </a:pPr>
            <a:r>
              <a:rPr sz="1600" b="1" i="0">
                <a:solidFill>
                  <a:srgbClr val="1B1F2A"/>
                </a:solidFill>
                <a:latin typeface="IBM Plex Sans"/>
                <a:ea typeface="IBM Plex Sans"/>
                <a:cs typeface="IBM Plex Sans"/>
              </a:rPr>
              <a:t>one Newton step on the next problem</a:t>
            </a:r>
          </a:p>
        </p:txBody>
      </p:sp>
      <p:sp>
        <p:nvSpPr>
          <p:cNvPr id="12" name="TextBox 11"/>
          <p:cNvSpPr txBox="1"/>
          <p:nvPr/>
        </p:nvSpPr>
        <p:spPr>
          <a:xfrm>
            <a:off x="813816" y="4983480"/>
            <a:ext cx="10561320" cy="457200"/>
          </a:xfrm>
          <a:prstGeom prst="rect">
            <a:avLst/>
          </a:prstGeom>
          <a:noFill/>
        </p:spPr>
        <p:txBody>
          <a:bodyPr wrap="square" lIns="0" rIns="0" tIns="0" bIns="0" anchor="t">
            <a:spAutoFit/>
          </a:bodyPr>
          <a:lstStyle/>
          <a:p>
            <a:pPr algn="l">
              <a:spcAft>
                <a:spcPts val="800"/>
              </a:spcAft>
            </a:pPr>
            <a:r>
              <a:rPr sz="1600" b="0" i="0">
                <a:solidFill>
                  <a:srgbClr val="333A48"/>
                </a:solidFill>
                <a:latin typeface="IBM Plex Sans"/>
                <a:ea typeface="IBM Plex Sans"/>
                <a:cs typeface="IBM Plex Sans"/>
              </a:rPr>
              <a:t>Table 5 steps grow slowly (ratio ≤ 6), so there FE survives.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BFBF9"/>
        </a:solidFill>
        <a:effectLst/>
      </p:bgPr>
    </p:bg>
    <p:spTree>
      <p:nvGrpSpPr>
        <p:cNvPr id="1" name=""/>
        <p:cNvGrpSpPr/>
        <p:nvPr/>
      </p:nvGrpSpPr>
      <p:grpSpPr/>
      <p:sp>
        <p:nvSpPr>
          <p:cNvPr id="2" name="TextBox 1"/>
          <p:cNvSpPr txBox="1"/>
          <p:nvPr/>
        </p:nvSpPr>
        <p:spPr>
          <a:xfrm>
            <a:off x="813816" y="713232"/>
            <a:ext cx="10881360" cy="429768"/>
          </a:xfrm>
          <a:prstGeom prst="rect">
            <a:avLst/>
          </a:prstGeom>
          <a:noFill/>
        </p:spPr>
        <p:txBody>
          <a:bodyPr wrap="square" lIns="0" rIns="0" tIns="0" bIns="0" anchor="t">
            <a:spAutoFit/>
          </a:bodyPr>
          <a:lstStyle/>
          <a:p>
            <a:pPr algn="l">
              <a:spcAft>
                <a:spcPts val="800"/>
              </a:spcAft>
            </a:pPr>
            <a:r>
              <a:rPr sz="2800" b="1" i="0">
                <a:solidFill>
                  <a:srgbClr val="1F3A5F"/>
                </a:solidFill>
                <a:latin typeface="IBM Plex Sans"/>
                <a:ea typeface="IBM Plex Sans"/>
                <a:cs typeface="IBM Plex Sans"/>
              </a:rPr>
              <a:t>Tables 2 to 4: reproduced</a:t>
            </a:r>
          </a:p>
        </p:txBody>
      </p:sp>
      <p:pic>
        <p:nvPicPr>
          <p:cNvPr id="3" name="Picture 2" descr="image.png"/>
          <p:cNvPicPr>
            <a:picLocks noChangeAspect="1"/>
          </p:cNvPicPr>
          <p:nvPr/>
        </p:nvPicPr>
        <p:blipFill>
          <a:blip r:embed="rId2"/>
          <a:stretch>
            <a:fillRect/>
          </a:stretch>
        </p:blipFill>
        <p:spPr>
          <a:xfrm>
            <a:off x="812800" y="1221741"/>
            <a:ext cx="10566400" cy="20320"/>
          </a:xfrm>
          <a:prstGeom prst="rect">
            <a:avLst/>
          </a:prstGeom>
        </p:spPr>
      </p:pic>
      <p:sp>
        <p:nvSpPr>
          <p:cNvPr id="4" name="TextBox 3"/>
          <p:cNvSpPr txBox="1"/>
          <p:nvPr/>
        </p:nvSpPr>
        <p:spPr>
          <a:xfrm>
            <a:off x="813816" y="6236208"/>
            <a:ext cx="7845552" cy="237744"/>
          </a:xfrm>
          <a:prstGeom prst="rect">
            <a:avLst/>
          </a:prstGeom>
          <a:noFill/>
        </p:spPr>
        <p:txBody>
          <a:bodyPr wrap="square" lIns="0" rIns="0" tIns="0" bIns="0" anchor="t">
            <a:spAutoFit/>
          </a:bodyPr>
          <a:lstStyle/>
          <a:p>
            <a:pPr algn="l">
              <a:spcAft>
                <a:spcPts val="800"/>
              </a:spcAft>
            </a:pPr>
            <a:r>
              <a:rPr sz="1200" b="0" i="0">
                <a:solidFill>
                  <a:srgbClr val="6B7280"/>
                </a:solidFill>
                <a:latin typeface="IBM Plex Sans"/>
                <a:ea typeface="IBM Plex Sans"/>
                <a:cs typeface="IBM Plex Sans"/>
              </a:rPr>
              <a:t>Sizan's part · Lima-Silva &amp; Freitas (2024): reproduction and improvements</a:t>
            </a:r>
          </a:p>
        </p:txBody>
      </p:sp>
      <p:sp>
        <p:nvSpPr>
          <p:cNvPr id="5" name="TextBox 4"/>
          <p:cNvSpPr txBox="1"/>
          <p:nvPr/>
        </p:nvSpPr>
        <p:spPr>
          <a:xfrm>
            <a:off x="10058400" y="6236208"/>
            <a:ext cx="1316736" cy="237744"/>
          </a:xfrm>
          <a:prstGeom prst="rect">
            <a:avLst/>
          </a:prstGeom>
          <a:noFill/>
        </p:spPr>
        <p:txBody>
          <a:bodyPr wrap="square" lIns="0" rIns="0" tIns="0" bIns="0" anchor="t">
            <a:spAutoFit/>
          </a:bodyPr>
          <a:lstStyle/>
          <a:p>
            <a:pPr algn="r">
              <a:spcAft>
                <a:spcPts val="800"/>
              </a:spcAft>
            </a:pPr>
            <a:r>
              <a:rPr sz="1200" b="0" i="0">
                <a:solidFill>
                  <a:srgbClr val="6B7280"/>
                </a:solidFill>
                <a:latin typeface="IBM Plex Sans"/>
                <a:ea typeface="IBM Plex Sans"/>
                <a:cs typeface="IBM Plex Sans"/>
              </a:rPr>
              <a:t>6</a:t>
            </a:r>
          </a:p>
        </p:txBody>
      </p:sp>
      <p:pic>
        <p:nvPicPr>
          <p:cNvPr id="6" name="Picture 5" descr="tables234.png"/>
          <p:cNvPicPr>
            <a:picLocks noChangeAspect="1"/>
          </p:cNvPicPr>
          <p:nvPr/>
        </p:nvPicPr>
        <p:blipFill>
          <a:blip r:embed="rId3"/>
          <a:stretch>
            <a:fillRect/>
          </a:stretch>
        </p:blipFill>
        <p:spPr>
          <a:xfrm>
            <a:off x="1545336" y="1325880"/>
            <a:ext cx="9052560" cy="3792289"/>
          </a:xfrm>
          <a:prstGeom prst="rect">
            <a:avLst/>
          </a:prstGeom>
        </p:spPr>
      </p:pic>
      <p:sp>
        <p:nvSpPr>
          <p:cNvPr id="7" name="TextBox 6"/>
          <p:cNvSpPr txBox="1"/>
          <p:nvPr/>
        </p:nvSpPr>
        <p:spPr>
          <a:xfrm>
            <a:off x="813816" y="5257800"/>
            <a:ext cx="10561320" cy="457200"/>
          </a:xfrm>
          <a:prstGeom prst="rect">
            <a:avLst/>
          </a:prstGeom>
          <a:noFill/>
        </p:spPr>
        <p:txBody>
          <a:bodyPr wrap="square" lIns="0" rIns="0" tIns="0" bIns="0" anchor="t">
            <a:spAutoFit/>
          </a:bodyPr>
          <a:lstStyle/>
          <a:p>
            <a:pPr algn="l">
              <a:spcAft>
                <a:spcPts val="800"/>
              </a:spcAft>
            </a:pPr>
            <a:r>
              <a:rPr sz="1700" b="0" i="0">
                <a:solidFill>
                  <a:srgbClr val="1B1F2A"/>
                </a:solidFill>
                <a:latin typeface="IBM Plex Sans"/>
                <a:ea typeface="IBM Plex Sans"/>
                <a:cs typeface="IBM Plex Sans"/>
              </a:rPr>
              <a:t>Newton converges after:  </a:t>
            </a:r>
            <a:r>
              <a:rPr sz="1700" b="1" i="0">
                <a:solidFill>
                  <a:srgbClr val="B54A3F"/>
                </a:solidFill>
                <a:latin typeface="IBM Plex Sans"/>
                <a:ea typeface="IBM Plex Sans"/>
                <a:cs typeface="IBM Plex Sans"/>
              </a:rPr>
              <a:t>FE 3 of 9</a:t>
            </a:r>
            <a:r>
              <a:rPr sz="1700" b="0" i="0">
                <a:solidFill>
                  <a:srgbClr val="1B1F2A"/>
                </a:solidFill>
                <a:latin typeface="IBM Plex Sans"/>
                <a:ea typeface="IBM Plex Sans"/>
                <a:cs typeface="IBM Plex Sans"/>
              </a:rPr>
              <a:t>   ·   </a:t>
            </a:r>
            <a:r>
              <a:rPr sz="1700" b="1" i="0">
                <a:solidFill>
                  <a:srgbClr val="B54A3F"/>
                </a:solidFill>
                <a:latin typeface="IBM Plex Sans"/>
                <a:ea typeface="IBM Plex Sans"/>
                <a:cs typeface="IBM Plex Sans"/>
              </a:rPr>
              <a:t>RK2 2 of 9</a:t>
            </a:r>
            <a:r>
              <a:rPr sz="1700" b="0" i="0">
                <a:solidFill>
                  <a:srgbClr val="1B1F2A"/>
                </a:solidFill>
                <a:latin typeface="IBM Plex Sans"/>
                <a:ea typeface="IBM Plex Sans"/>
                <a:cs typeface="IBM Plex Sans"/>
              </a:rPr>
              <a:t>   ·   </a:t>
            </a:r>
            <a:r>
              <a:rPr sz="1700" b="1" i="0">
                <a:solidFill>
                  <a:srgbClr val="2F8F5B"/>
                </a:solidFill>
                <a:latin typeface="IBM Plex Sans"/>
                <a:ea typeface="IBM Plex Sans"/>
                <a:cs typeface="IBM Plex Sans"/>
              </a:rPr>
              <a:t>BE 9 of 9</a:t>
            </a:r>
            <a:r>
              <a:rPr sz="1700" b="0" i="0">
                <a:solidFill>
                  <a:srgbClr val="1B1F2A"/>
                </a:solidFill>
                <a:latin typeface="IBM Plex Sans"/>
                <a:ea typeface="IBM Plex Sans"/>
                <a:cs typeface="IBM Plex Sans"/>
              </a:rPr>
              <a:t>   —  the same as the paper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BFBF9"/>
        </a:solidFill>
        <a:effectLst/>
      </p:bgPr>
    </p:bg>
    <p:spTree>
      <p:nvGrpSpPr>
        <p:cNvPr id="1" name=""/>
        <p:cNvGrpSpPr/>
        <p:nvPr/>
      </p:nvGrpSpPr>
      <p:grpSpPr/>
      <p:sp>
        <p:nvSpPr>
          <p:cNvPr id="2" name="TextBox 1"/>
          <p:cNvSpPr txBox="1"/>
          <p:nvPr/>
        </p:nvSpPr>
        <p:spPr>
          <a:xfrm>
            <a:off x="813816" y="713232"/>
            <a:ext cx="10881360" cy="429768"/>
          </a:xfrm>
          <a:prstGeom prst="rect">
            <a:avLst/>
          </a:prstGeom>
          <a:noFill/>
        </p:spPr>
        <p:txBody>
          <a:bodyPr wrap="square" lIns="0" rIns="0" tIns="0" bIns="0" anchor="t">
            <a:spAutoFit/>
          </a:bodyPr>
          <a:lstStyle/>
          <a:p>
            <a:pPr algn="l">
              <a:spcAft>
                <a:spcPts val="800"/>
              </a:spcAft>
            </a:pPr>
            <a:r>
              <a:rPr sz="2800" b="1" i="0">
                <a:solidFill>
                  <a:srgbClr val="1F3A5F"/>
                </a:solidFill>
                <a:latin typeface="IBM Plex Sans"/>
                <a:ea typeface="IBM Plex Sans"/>
                <a:cs typeface="IBM Plex Sans"/>
              </a:rPr>
              <a:t>How close is the reproduction?</a:t>
            </a:r>
          </a:p>
        </p:txBody>
      </p:sp>
      <p:pic>
        <p:nvPicPr>
          <p:cNvPr id="3" name="Picture 2" descr="image.png"/>
          <p:cNvPicPr>
            <a:picLocks noChangeAspect="1"/>
          </p:cNvPicPr>
          <p:nvPr/>
        </p:nvPicPr>
        <p:blipFill>
          <a:blip r:embed="rId2"/>
          <a:stretch>
            <a:fillRect/>
          </a:stretch>
        </p:blipFill>
        <p:spPr>
          <a:xfrm>
            <a:off x="812800" y="1221741"/>
            <a:ext cx="10566400" cy="20320"/>
          </a:xfrm>
          <a:prstGeom prst="rect">
            <a:avLst/>
          </a:prstGeom>
        </p:spPr>
      </p:pic>
      <p:sp>
        <p:nvSpPr>
          <p:cNvPr id="4" name="TextBox 3"/>
          <p:cNvSpPr txBox="1"/>
          <p:nvPr/>
        </p:nvSpPr>
        <p:spPr>
          <a:xfrm>
            <a:off x="813816" y="6236208"/>
            <a:ext cx="7845552" cy="237744"/>
          </a:xfrm>
          <a:prstGeom prst="rect">
            <a:avLst/>
          </a:prstGeom>
          <a:noFill/>
        </p:spPr>
        <p:txBody>
          <a:bodyPr wrap="square" lIns="0" rIns="0" tIns="0" bIns="0" anchor="t">
            <a:spAutoFit/>
          </a:bodyPr>
          <a:lstStyle/>
          <a:p>
            <a:pPr algn="l">
              <a:spcAft>
                <a:spcPts val="800"/>
              </a:spcAft>
            </a:pPr>
            <a:r>
              <a:rPr sz="1200" b="0" i="0">
                <a:solidFill>
                  <a:srgbClr val="6B7280"/>
                </a:solidFill>
                <a:latin typeface="IBM Plex Sans"/>
                <a:ea typeface="IBM Plex Sans"/>
                <a:cs typeface="IBM Plex Sans"/>
              </a:rPr>
              <a:t>Sizan's part · Lima-Silva &amp; Freitas (2024): reproduction and improvements</a:t>
            </a:r>
          </a:p>
        </p:txBody>
      </p:sp>
      <p:sp>
        <p:nvSpPr>
          <p:cNvPr id="5" name="TextBox 4"/>
          <p:cNvSpPr txBox="1"/>
          <p:nvPr/>
        </p:nvSpPr>
        <p:spPr>
          <a:xfrm>
            <a:off x="10058400" y="6236208"/>
            <a:ext cx="1316736" cy="237744"/>
          </a:xfrm>
          <a:prstGeom prst="rect">
            <a:avLst/>
          </a:prstGeom>
          <a:noFill/>
        </p:spPr>
        <p:txBody>
          <a:bodyPr wrap="square" lIns="0" rIns="0" tIns="0" bIns="0" anchor="t">
            <a:spAutoFit/>
          </a:bodyPr>
          <a:lstStyle/>
          <a:p>
            <a:pPr algn="r">
              <a:spcAft>
                <a:spcPts val="800"/>
              </a:spcAft>
            </a:pPr>
            <a:r>
              <a:rPr sz="1200" b="0" i="0">
                <a:solidFill>
                  <a:srgbClr val="6B7280"/>
                </a:solidFill>
                <a:latin typeface="IBM Plex Sans"/>
                <a:ea typeface="IBM Plex Sans"/>
                <a:cs typeface="IBM Plex Sans"/>
              </a:rPr>
              <a:t>7</a:t>
            </a:r>
          </a:p>
        </p:txBody>
      </p:sp>
      <p:sp>
        <p:nvSpPr>
          <p:cNvPr id="6" name="TextBox 5"/>
          <p:cNvSpPr txBox="1"/>
          <p:nvPr/>
        </p:nvSpPr>
        <p:spPr>
          <a:xfrm>
            <a:off x="813816" y="1737360"/>
            <a:ext cx="4754880" cy="822960"/>
          </a:xfrm>
          <a:prstGeom prst="rect">
            <a:avLst/>
          </a:prstGeom>
          <a:noFill/>
        </p:spPr>
        <p:txBody>
          <a:bodyPr wrap="square" lIns="0" rIns="0" tIns="0" bIns="0" anchor="t">
            <a:spAutoFit/>
          </a:bodyPr>
          <a:lstStyle/>
          <a:p>
            <a:pPr algn="l">
              <a:spcAft>
                <a:spcPts val="800"/>
              </a:spcAft>
            </a:pPr>
            <a:r>
              <a:rPr sz="4800" b="1" i="0">
                <a:solidFill>
                  <a:srgbClr val="1F3A5F"/>
                </a:solidFill>
                <a:latin typeface="IBM Plex Sans"/>
                <a:ea typeface="IBM Plex Sans"/>
                <a:cs typeface="IBM Plex Sans"/>
              </a:rPr>
              <a:t>246 / 255</a:t>
            </a:r>
          </a:p>
        </p:txBody>
      </p:sp>
      <p:sp>
        <p:nvSpPr>
          <p:cNvPr id="7" name="TextBox 6"/>
          <p:cNvSpPr txBox="1"/>
          <p:nvPr/>
        </p:nvSpPr>
        <p:spPr>
          <a:xfrm>
            <a:off x="813816" y="2606040"/>
            <a:ext cx="4754880" cy="731520"/>
          </a:xfrm>
          <a:prstGeom prst="rect">
            <a:avLst/>
          </a:prstGeom>
          <a:noFill/>
        </p:spPr>
        <p:txBody>
          <a:bodyPr wrap="square" lIns="0" rIns="0" tIns="0" bIns="0" anchor="t">
            <a:spAutoFit/>
          </a:bodyPr>
          <a:lstStyle/>
          <a:p>
            <a:pPr algn="l">
              <a:spcAft>
                <a:spcPts val="800"/>
              </a:spcAft>
            </a:pPr>
            <a:r>
              <a:rPr sz="1500" b="0" i="0">
                <a:solidFill>
                  <a:srgbClr val="333A48"/>
                </a:solidFill>
                <a:latin typeface="IBM Plex Sans"/>
                <a:ea typeface="IBM Plex Sans"/>
                <a:cs typeface="IBM Plex Sans"/>
              </a:rPr>
              <a:t>table cells within a factor of 2 of the paper (96%)</a:t>
            </a:r>
          </a:p>
        </p:txBody>
      </p:sp>
      <p:sp>
        <p:nvSpPr>
          <p:cNvPr id="8" name="TextBox 7"/>
          <p:cNvSpPr txBox="1"/>
          <p:nvPr/>
        </p:nvSpPr>
        <p:spPr>
          <a:xfrm>
            <a:off x="813816" y="3246120"/>
            <a:ext cx="4754880" cy="822960"/>
          </a:xfrm>
          <a:prstGeom prst="rect">
            <a:avLst/>
          </a:prstGeom>
          <a:noFill/>
        </p:spPr>
        <p:txBody>
          <a:bodyPr wrap="square" lIns="0" rIns="0" tIns="0" bIns="0" anchor="t">
            <a:spAutoFit/>
          </a:bodyPr>
          <a:lstStyle/>
          <a:p>
            <a:pPr algn="l">
              <a:spcAft>
                <a:spcPts val="800"/>
              </a:spcAft>
            </a:pPr>
            <a:r>
              <a:rPr sz="3600" b="1" i="0">
                <a:solidFill>
                  <a:srgbClr val="1F3A5F"/>
                </a:solidFill>
                <a:latin typeface="IBM Plex Sans"/>
                <a:ea typeface="IBM Plex Sans"/>
                <a:cs typeface="IBM Plex Sans"/>
              </a:rPr>
              <a:t>199 / 255</a:t>
            </a:r>
          </a:p>
        </p:txBody>
      </p:sp>
      <p:sp>
        <p:nvSpPr>
          <p:cNvPr id="9" name="TextBox 8"/>
          <p:cNvSpPr txBox="1"/>
          <p:nvPr/>
        </p:nvSpPr>
        <p:spPr>
          <a:xfrm>
            <a:off x="813816" y="4114800"/>
            <a:ext cx="4754880" cy="731520"/>
          </a:xfrm>
          <a:prstGeom prst="rect">
            <a:avLst/>
          </a:prstGeom>
          <a:noFill/>
        </p:spPr>
        <p:txBody>
          <a:bodyPr wrap="square" lIns="0" rIns="0" tIns="0" bIns="0" anchor="t">
            <a:spAutoFit/>
          </a:bodyPr>
          <a:lstStyle/>
          <a:p>
            <a:pPr algn="l">
              <a:spcAft>
                <a:spcPts val="800"/>
              </a:spcAft>
            </a:pPr>
            <a:r>
              <a:rPr sz="1500" b="0" i="0">
                <a:solidFill>
                  <a:srgbClr val="333A48"/>
                </a:solidFill>
                <a:latin typeface="IBM Plex Sans"/>
                <a:ea typeface="IBM Plex Sans"/>
                <a:cs typeface="IBM Plex Sans"/>
              </a:rPr>
              <a:t>within 10%, as close as two printed digits allow</a:t>
            </a:r>
          </a:p>
        </p:txBody>
      </p:sp>
      <p:sp>
        <p:nvSpPr>
          <p:cNvPr id="10" name="TextBox 9"/>
          <p:cNvSpPr txBox="1"/>
          <p:nvPr/>
        </p:nvSpPr>
        <p:spPr>
          <a:xfrm>
            <a:off x="813816" y="4663440"/>
            <a:ext cx="4206240" cy="822960"/>
          </a:xfrm>
          <a:prstGeom prst="rect">
            <a:avLst/>
          </a:prstGeom>
          <a:noFill/>
        </p:spPr>
        <p:txBody>
          <a:bodyPr wrap="square" lIns="0" rIns="0" tIns="0" bIns="0" anchor="t">
            <a:spAutoFit/>
          </a:bodyPr>
          <a:lstStyle/>
          <a:p>
            <a:pPr algn="l">
              <a:spcAft>
                <a:spcPts val="800"/>
              </a:spcAft>
            </a:pPr>
            <a:r>
              <a:rPr sz="1400" b="0" i="0">
                <a:solidFill>
                  <a:srgbClr val="6B7280"/>
                </a:solidFill>
                <a:latin typeface="IBM Plex Sans"/>
                <a:ea typeface="IBM Plex Sans"/>
                <a:cs typeface="IBM Plex Sans"/>
              </a:rPr>
              <a:t>Outliers: values of runs that already diverged, and one cell (9.7 vs 3.7) that looks like a typo.</a:t>
            </a:r>
          </a:p>
        </p:txBody>
      </p:sp>
      <p:pic>
        <p:nvPicPr>
          <p:cNvPr id="11" name="Picture 10" descr="fidelity.png"/>
          <p:cNvPicPr>
            <a:picLocks noChangeAspect="1"/>
          </p:cNvPicPr>
          <p:nvPr/>
        </p:nvPicPr>
        <p:blipFill>
          <a:blip r:embed="rId3"/>
          <a:stretch>
            <a:fillRect/>
          </a:stretch>
        </p:blipFill>
        <p:spPr>
          <a:xfrm>
            <a:off x="6035040" y="1325880"/>
            <a:ext cx="4730176" cy="416052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BFBF9"/>
        </a:solidFill>
        <a:effectLst/>
      </p:bgPr>
    </p:bg>
    <p:spTree>
      <p:nvGrpSpPr>
        <p:cNvPr id="1" name=""/>
        <p:cNvGrpSpPr/>
        <p:nvPr/>
      </p:nvGrpSpPr>
      <p:grpSpPr/>
      <p:sp>
        <p:nvSpPr>
          <p:cNvPr id="2" name="TextBox 1"/>
          <p:cNvSpPr txBox="1"/>
          <p:nvPr/>
        </p:nvSpPr>
        <p:spPr>
          <a:xfrm>
            <a:off x="813816" y="713232"/>
            <a:ext cx="10881360" cy="429768"/>
          </a:xfrm>
          <a:prstGeom prst="rect">
            <a:avLst/>
          </a:prstGeom>
          <a:noFill/>
        </p:spPr>
        <p:txBody>
          <a:bodyPr wrap="square" lIns="0" rIns="0" tIns="0" bIns="0" anchor="t">
            <a:spAutoFit/>
          </a:bodyPr>
          <a:lstStyle/>
          <a:p>
            <a:pPr algn="l">
              <a:spcAft>
                <a:spcPts val="800"/>
              </a:spcAft>
            </a:pPr>
            <a:r>
              <a:rPr sz="2800" b="1" i="0">
                <a:solidFill>
                  <a:srgbClr val="1F3A5F"/>
                </a:solidFill>
                <a:latin typeface="IBM Plex Sans"/>
                <a:ea typeface="IBM Plex Sans"/>
                <a:cs typeface="IBM Plex Sans"/>
              </a:rPr>
              <a:t>Figure 3 and Table 6: five-point paths</a:t>
            </a:r>
          </a:p>
        </p:txBody>
      </p:sp>
      <p:pic>
        <p:nvPicPr>
          <p:cNvPr id="3" name="Picture 2" descr="image.png"/>
          <p:cNvPicPr>
            <a:picLocks noChangeAspect="1"/>
          </p:cNvPicPr>
          <p:nvPr/>
        </p:nvPicPr>
        <p:blipFill>
          <a:blip r:embed="rId2"/>
          <a:stretch>
            <a:fillRect/>
          </a:stretch>
        </p:blipFill>
        <p:spPr>
          <a:xfrm>
            <a:off x="812800" y="1221741"/>
            <a:ext cx="10566400" cy="20320"/>
          </a:xfrm>
          <a:prstGeom prst="rect">
            <a:avLst/>
          </a:prstGeom>
        </p:spPr>
      </p:pic>
      <p:sp>
        <p:nvSpPr>
          <p:cNvPr id="4" name="TextBox 3"/>
          <p:cNvSpPr txBox="1"/>
          <p:nvPr/>
        </p:nvSpPr>
        <p:spPr>
          <a:xfrm>
            <a:off x="813816" y="6236208"/>
            <a:ext cx="7845552" cy="237744"/>
          </a:xfrm>
          <a:prstGeom prst="rect">
            <a:avLst/>
          </a:prstGeom>
          <a:noFill/>
        </p:spPr>
        <p:txBody>
          <a:bodyPr wrap="square" lIns="0" rIns="0" tIns="0" bIns="0" anchor="t">
            <a:spAutoFit/>
          </a:bodyPr>
          <a:lstStyle/>
          <a:p>
            <a:pPr algn="l">
              <a:spcAft>
                <a:spcPts val="800"/>
              </a:spcAft>
            </a:pPr>
            <a:r>
              <a:rPr sz="1200" b="0" i="0">
                <a:solidFill>
                  <a:srgbClr val="6B7280"/>
                </a:solidFill>
                <a:latin typeface="IBM Plex Sans"/>
                <a:ea typeface="IBM Plex Sans"/>
                <a:cs typeface="IBM Plex Sans"/>
              </a:rPr>
              <a:t>Sizan's part · Lima-Silva &amp; Freitas (2024): reproduction and improvements</a:t>
            </a:r>
          </a:p>
        </p:txBody>
      </p:sp>
      <p:sp>
        <p:nvSpPr>
          <p:cNvPr id="5" name="TextBox 4"/>
          <p:cNvSpPr txBox="1"/>
          <p:nvPr/>
        </p:nvSpPr>
        <p:spPr>
          <a:xfrm>
            <a:off x="10058400" y="6236208"/>
            <a:ext cx="1316736" cy="237744"/>
          </a:xfrm>
          <a:prstGeom prst="rect">
            <a:avLst/>
          </a:prstGeom>
          <a:noFill/>
        </p:spPr>
        <p:txBody>
          <a:bodyPr wrap="square" lIns="0" rIns="0" tIns="0" bIns="0" anchor="t">
            <a:spAutoFit/>
          </a:bodyPr>
          <a:lstStyle/>
          <a:p>
            <a:pPr algn="r">
              <a:spcAft>
                <a:spcPts val="800"/>
              </a:spcAft>
            </a:pPr>
            <a:r>
              <a:rPr sz="1200" b="0" i="0">
                <a:solidFill>
                  <a:srgbClr val="6B7280"/>
                </a:solidFill>
                <a:latin typeface="IBM Plex Sans"/>
                <a:ea typeface="IBM Plex Sans"/>
                <a:cs typeface="IBM Plex Sans"/>
              </a:rPr>
              <a:t>8</a:t>
            </a:r>
          </a:p>
        </p:txBody>
      </p:sp>
      <p:pic>
        <p:nvPicPr>
          <p:cNvPr id="6" name="Picture 5" descr="fig3b_pathway_t3_0.25.png"/>
          <p:cNvPicPr>
            <a:picLocks noChangeAspect="1"/>
          </p:cNvPicPr>
          <p:nvPr/>
        </p:nvPicPr>
        <p:blipFill>
          <a:blip r:embed="rId3"/>
          <a:stretch>
            <a:fillRect/>
          </a:stretch>
        </p:blipFill>
        <p:spPr>
          <a:xfrm>
            <a:off x="813816" y="1463040"/>
            <a:ext cx="5044440" cy="3566160"/>
          </a:xfrm>
          <a:prstGeom prst="rect">
            <a:avLst/>
          </a:prstGeom>
        </p:spPr>
      </p:pic>
      <p:sp>
        <p:nvSpPr>
          <p:cNvPr id="7" name="TextBox 6"/>
          <p:cNvSpPr txBox="1"/>
          <p:nvPr/>
        </p:nvSpPr>
        <p:spPr>
          <a:xfrm>
            <a:off x="6629400" y="1463040"/>
            <a:ext cx="4480560" cy="457200"/>
          </a:xfrm>
          <a:prstGeom prst="rect">
            <a:avLst/>
          </a:prstGeom>
          <a:noFill/>
        </p:spPr>
        <p:txBody>
          <a:bodyPr wrap="square" lIns="0" rIns="0" tIns="0" bIns="0" anchor="t">
            <a:spAutoFit/>
          </a:bodyPr>
          <a:lstStyle/>
          <a:p>
            <a:pPr algn="l">
              <a:spcAft>
                <a:spcPts val="800"/>
              </a:spcAft>
            </a:pPr>
            <a:r>
              <a:rPr sz="1600" b="1" i="0">
                <a:solidFill>
                  <a:srgbClr val="1F3A5F"/>
                </a:solidFill>
                <a:latin typeface="IBM Plex Sans"/>
                <a:ea typeface="IBM Plex Sans"/>
                <a:cs typeface="IBM Plex Sans"/>
              </a:rPr>
              <a:t>case109272, % of NR-MAT time</a:t>
            </a:r>
          </a:p>
        </p:txBody>
      </p:sp>
      <p:graphicFrame>
        <p:nvGraphicFramePr>
          <p:cNvPr id="8" name="Table 7"/>
          <p:cNvGraphicFramePr>
            <a:graphicFrameLocks noGrp="1"/>
          </p:cNvGraphicFramePr>
          <p:nvPr/>
        </p:nvGraphicFramePr>
        <p:xfrm>
          <a:off x="6629400" y="1965960"/>
          <a:ext cx="4206240" cy="1645920"/>
        </p:xfrm>
        <a:graphic>
          <a:graphicData uri="http://schemas.openxmlformats.org/drawingml/2006/table">
            <a:tbl>
              <a:tblPr firstRow="0" bandRow="0">
                <a:tableStyleId>{2D5ABB26-0587-4C30-8999-92F81FD0307C}</a:tableStyleId>
              </a:tblPr>
              <a:tblGrid>
                <a:gridCol w="1280160"/>
                <a:gridCol w="1463040"/>
                <a:gridCol w="1463040"/>
              </a:tblGrid>
              <a:tr h="411480">
                <a:tc>
                  <a:txBody>
                    <a:bodyPr wrap="square"/>
                    <a:lstStyle/>
                    <a:p>
                      <a:pPr algn="l"/>
                      <a:r>
                        <a:rPr sz="1500" b="1" i="0">
                          <a:solidFill>
                            <a:srgbClr val="1B1F2A"/>
                          </a:solidFill>
                          <a:latin typeface="IBM Plex Sans"/>
                          <a:ea typeface="IBM Plex Sans"/>
                          <a:cs typeface="IBM Plex Sans"/>
                        </a:rPr>
                        <a:t>t₃ = 0.20</a:t>
                      </a:r>
                    </a:p>
                  </a:txBody>
                  <a:tcPr marL="73152" marR="73152" marT="36576" marB="36576" anchor="ctr">
                    <a:lnL w="0">
                      <a:noFill/>
                    </a:lnL>
                    <a:lnR w="0">
                      <a:noFill/>
                    </a:lnR>
                    <a:lnT w="0">
                      <a:noFill/>
                    </a:lnT>
                    <a:lnB w="12700">
                      <a:solidFill>
                        <a:srgbClr val="C8C8C6"/>
                      </a:solidFill>
                    </a:lnB>
                    <a:solidFill>
                      <a:srgbClr val="E9E9E7"/>
                    </a:solidFill>
                  </a:tcPr>
                </a:tc>
                <a:tc>
                  <a:txBody>
                    <a:bodyPr wrap="square"/>
                    <a:lstStyle/>
                    <a:p>
                      <a:pPr algn="r"/>
                      <a:r>
                        <a:rPr sz="1500" b="1" i="0">
                          <a:solidFill>
                            <a:srgbClr val="1B1F2A"/>
                          </a:solidFill>
                          <a:latin typeface="IBM Plex Sans"/>
                          <a:ea typeface="IBM Plex Sans"/>
                          <a:cs typeface="IBM Plex Sans"/>
                        </a:rPr>
                        <a:t>Ours</a:t>
                      </a:r>
                    </a:p>
                  </a:txBody>
                  <a:tcPr marL="73152" marR="73152" marT="36576" marB="36576" anchor="ctr">
                    <a:lnL w="0">
                      <a:noFill/>
                    </a:lnL>
                    <a:lnR w="0">
                      <a:noFill/>
                    </a:lnR>
                    <a:lnT w="0">
                      <a:noFill/>
                    </a:lnT>
                    <a:lnB w="12700">
                      <a:solidFill>
                        <a:srgbClr val="C8C8C6"/>
                      </a:solidFill>
                    </a:lnB>
                    <a:solidFill>
                      <a:srgbClr val="E9E9E7"/>
                    </a:solidFill>
                  </a:tcPr>
                </a:tc>
                <a:tc>
                  <a:txBody>
                    <a:bodyPr wrap="square"/>
                    <a:lstStyle/>
                    <a:p>
                      <a:pPr algn="r"/>
                      <a:r>
                        <a:rPr sz="1500" b="1" i="0">
                          <a:solidFill>
                            <a:srgbClr val="1B1F2A"/>
                          </a:solidFill>
                          <a:latin typeface="IBM Plex Sans"/>
                          <a:ea typeface="IBM Plex Sans"/>
                          <a:cs typeface="IBM Plex Sans"/>
                        </a:rPr>
                        <a:t>Paper</a:t>
                      </a:r>
                    </a:p>
                  </a:txBody>
                  <a:tcPr marL="73152" marR="73152" marT="36576" marB="36576" anchor="ctr">
                    <a:lnL w="0">
                      <a:noFill/>
                    </a:lnL>
                    <a:lnR w="0">
                      <a:noFill/>
                    </a:lnR>
                    <a:lnT w="0">
                      <a:noFill/>
                    </a:lnT>
                    <a:lnB w="12700">
                      <a:solidFill>
                        <a:srgbClr val="C8C8C6"/>
                      </a:solidFill>
                    </a:lnB>
                    <a:solidFill>
                      <a:srgbClr val="E9E9E7"/>
                    </a:solidFill>
                  </a:tcPr>
                </a:tc>
              </a:tr>
              <a:tr h="411480">
                <a:tc>
                  <a:txBody>
                    <a:bodyPr wrap="square"/>
                    <a:lstStyle/>
                    <a:p>
                      <a:pPr algn="l"/>
                      <a:r>
                        <a:rPr sz="1500" b="0" i="0">
                          <a:solidFill>
                            <a:srgbClr val="1B1F2A"/>
                          </a:solidFill>
                          <a:latin typeface="IBM Plex Sans"/>
                          <a:ea typeface="IBM Plex Sans"/>
                          <a:cs typeface="IBM Plex Sans"/>
                        </a:rPr>
                        <a:t>FE</a:t>
                      </a:r>
                    </a:p>
                  </a:txBody>
                  <a:tcPr marL="73152" marR="73152" marT="36576" marB="36576" anchor="ctr">
                    <a:lnL w="0">
                      <a:noFill/>
                    </a:lnL>
                    <a:lnR w="0">
                      <a:noFill/>
                    </a:lnR>
                    <a:lnT w="0">
                      <a:noFill/>
                    </a:lnT>
                    <a:lnB w="12700">
                      <a:solidFill>
                        <a:srgbClr val="C8C8C6"/>
                      </a:solidFill>
                    </a:lnB>
                    <a:solidFill>
                      <a:srgbClr val="FBFBF9"/>
                    </a:solidFill>
                  </a:tcPr>
                </a:tc>
                <a:tc>
                  <a:txBody>
                    <a:bodyPr wrap="square"/>
                    <a:lstStyle/>
                    <a:p>
                      <a:pPr algn="r"/>
                      <a:r>
                        <a:rPr sz="1500" b="0" i="0">
                          <a:solidFill>
                            <a:srgbClr val="1B1F2A"/>
                          </a:solidFill>
                          <a:latin typeface="IBM Plex Sans"/>
                          <a:ea typeface="IBM Plex Sans"/>
                          <a:cs typeface="IBM Plex Sans"/>
                        </a:rPr>
                        <a:t>143%</a:t>
                      </a:r>
                    </a:p>
                  </a:txBody>
                  <a:tcPr marL="73152" marR="73152" marT="36576" marB="36576" anchor="ctr">
                    <a:lnL w="0">
                      <a:noFill/>
                    </a:lnL>
                    <a:lnR w="0">
                      <a:noFill/>
                    </a:lnR>
                    <a:lnT w="0">
                      <a:noFill/>
                    </a:lnT>
                    <a:lnB w="12700">
                      <a:solidFill>
                        <a:srgbClr val="C8C8C6"/>
                      </a:solidFill>
                    </a:lnB>
                    <a:solidFill>
                      <a:srgbClr val="FBFBF9"/>
                    </a:solidFill>
                  </a:tcPr>
                </a:tc>
                <a:tc>
                  <a:txBody>
                    <a:bodyPr wrap="square"/>
                    <a:lstStyle/>
                    <a:p>
                      <a:pPr algn="r"/>
                      <a:r>
                        <a:rPr sz="1500" b="0" i="0">
                          <a:solidFill>
                            <a:srgbClr val="1B1F2A"/>
                          </a:solidFill>
                          <a:latin typeface="IBM Plex Sans"/>
                          <a:ea typeface="IBM Plex Sans"/>
                          <a:cs typeface="IBM Plex Sans"/>
                        </a:rPr>
                        <a:t>146%</a:t>
                      </a:r>
                    </a:p>
                  </a:txBody>
                  <a:tcPr marL="73152" marR="73152" marT="36576" marB="36576" anchor="ctr">
                    <a:lnL w="0">
                      <a:noFill/>
                    </a:lnL>
                    <a:lnR w="0">
                      <a:noFill/>
                    </a:lnR>
                    <a:lnT w="0">
                      <a:noFill/>
                    </a:lnT>
                    <a:lnB w="12700">
                      <a:solidFill>
                        <a:srgbClr val="C8C8C6"/>
                      </a:solidFill>
                    </a:lnB>
                    <a:solidFill>
                      <a:srgbClr val="FBFBF9"/>
                    </a:solidFill>
                  </a:tcPr>
                </a:tc>
              </a:tr>
              <a:tr h="411480">
                <a:tc>
                  <a:txBody>
                    <a:bodyPr wrap="square"/>
                    <a:lstStyle/>
                    <a:p>
                      <a:pPr algn="l"/>
                      <a:r>
                        <a:rPr sz="1500" b="0" i="0">
                          <a:solidFill>
                            <a:srgbClr val="1B1F2A"/>
                          </a:solidFill>
                          <a:latin typeface="IBM Plex Sans"/>
                          <a:ea typeface="IBM Plex Sans"/>
                          <a:cs typeface="IBM Plex Sans"/>
                        </a:rPr>
                        <a:t>RK2</a:t>
                      </a:r>
                    </a:p>
                  </a:txBody>
                  <a:tcPr marL="73152" marR="73152" marT="36576" marB="36576" anchor="ctr">
                    <a:lnL w="0">
                      <a:noFill/>
                    </a:lnL>
                    <a:lnR w="0">
                      <a:noFill/>
                    </a:lnR>
                    <a:lnT w="0">
                      <a:noFill/>
                    </a:lnT>
                    <a:lnB w="12700">
                      <a:solidFill>
                        <a:srgbClr val="C8C8C6"/>
                      </a:solidFill>
                    </a:lnB>
                    <a:solidFill>
                      <a:srgbClr val="FBFBF9"/>
                    </a:solidFill>
                  </a:tcPr>
                </a:tc>
                <a:tc>
                  <a:txBody>
                    <a:bodyPr wrap="square"/>
                    <a:lstStyle/>
                    <a:p>
                      <a:pPr algn="r"/>
                      <a:r>
                        <a:rPr sz="1500" b="0" i="0">
                          <a:solidFill>
                            <a:srgbClr val="1B1F2A"/>
                          </a:solidFill>
                          <a:latin typeface="IBM Plex Sans"/>
                          <a:ea typeface="IBM Plex Sans"/>
                          <a:cs typeface="IBM Plex Sans"/>
                        </a:rPr>
                        <a:t>225%</a:t>
                      </a:r>
                    </a:p>
                  </a:txBody>
                  <a:tcPr marL="73152" marR="73152" marT="36576" marB="36576" anchor="ctr">
                    <a:lnL w="0">
                      <a:noFill/>
                    </a:lnL>
                    <a:lnR w="0">
                      <a:noFill/>
                    </a:lnR>
                    <a:lnT w="0">
                      <a:noFill/>
                    </a:lnT>
                    <a:lnB w="12700">
                      <a:solidFill>
                        <a:srgbClr val="C8C8C6"/>
                      </a:solidFill>
                    </a:lnB>
                    <a:solidFill>
                      <a:srgbClr val="FBFBF9"/>
                    </a:solidFill>
                  </a:tcPr>
                </a:tc>
                <a:tc>
                  <a:txBody>
                    <a:bodyPr wrap="square"/>
                    <a:lstStyle/>
                    <a:p>
                      <a:pPr algn="r"/>
                      <a:r>
                        <a:rPr sz="1500" b="0" i="0">
                          <a:solidFill>
                            <a:srgbClr val="1B1F2A"/>
                          </a:solidFill>
                          <a:latin typeface="IBM Plex Sans"/>
                          <a:ea typeface="IBM Plex Sans"/>
                          <a:cs typeface="IBM Plex Sans"/>
                        </a:rPr>
                        <a:t>230%</a:t>
                      </a:r>
                    </a:p>
                  </a:txBody>
                  <a:tcPr marL="73152" marR="73152" marT="36576" marB="36576" anchor="ctr">
                    <a:lnL w="0">
                      <a:noFill/>
                    </a:lnL>
                    <a:lnR w="0">
                      <a:noFill/>
                    </a:lnR>
                    <a:lnT w="0">
                      <a:noFill/>
                    </a:lnT>
                    <a:lnB w="12700">
                      <a:solidFill>
                        <a:srgbClr val="C8C8C6"/>
                      </a:solidFill>
                    </a:lnB>
                    <a:solidFill>
                      <a:srgbClr val="FBFBF9"/>
                    </a:solidFill>
                  </a:tcPr>
                </a:tc>
              </a:tr>
              <a:tr h="411480">
                <a:tc>
                  <a:txBody>
                    <a:bodyPr wrap="square"/>
                    <a:lstStyle/>
                    <a:p>
                      <a:pPr algn="l"/>
                      <a:r>
                        <a:rPr sz="1500" b="0" i="0">
                          <a:solidFill>
                            <a:srgbClr val="1B1F2A"/>
                          </a:solidFill>
                          <a:latin typeface="IBM Plex Sans"/>
                          <a:ea typeface="IBM Plex Sans"/>
                          <a:cs typeface="IBM Plex Sans"/>
                        </a:rPr>
                        <a:t>BE</a:t>
                      </a:r>
                    </a:p>
                  </a:txBody>
                  <a:tcPr marL="73152" marR="73152" marT="36576" marB="36576" anchor="ctr">
                    <a:lnL w="0">
                      <a:noFill/>
                    </a:lnL>
                    <a:lnR w="0">
                      <a:noFill/>
                    </a:lnR>
                    <a:lnT w="0">
                      <a:noFill/>
                    </a:lnT>
                    <a:lnB w="12700">
                      <a:solidFill>
                        <a:srgbClr val="C8C8C6"/>
                      </a:solidFill>
                    </a:lnB>
                    <a:solidFill>
                      <a:srgbClr val="FBFBF9"/>
                    </a:solidFill>
                  </a:tcPr>
                </a:tc>
                <a:tc>
                  <a:txBody>
                    <a:bodyPr wrap="square"/>
                    <a:lstStyle/>
                    <a:p>
                      <a:pPr algn="r"/>
                      <a:r>
                        <a:rPr sz="1500" b="0" i="0">
                          <a:solidFill>
                            <a:srgbClr val="1B1F2A"/>
                          </a:solidFill>
                          <a:latin typeface="IBM Plex Sans"/>
                          <a:ea typeface="IBM Plex Sans"/>
                          <a:cs typeface="IBM Plex Sans"/>
                        </a:rPr>
                        <a:t>163%</a:t>
                      </a:r>
                    </a:p>
                  </a:txBody>
                  <a:tcPr marL="73152" marR="73152" marT="36576" marB="36576" anchor="ctr">
                    <a:lnL w="0">
                      <a:noFill/>
                    </a:lnL>
                    <a:lnR w="0">
                      <a:noFill/>
                    </a:lnR>
                    <a:lnT w="0">
                      <a:noFill/>
                    </a:lnT>
                    <a:lnB w="12700">
                      <a:solidFill>
                        <a:srgbClr val="C8C8C6"/>
                      </a:solidFill>
                    </a:lnB>
                    <a:solidFill>
                      <a:srgbClr val="FBFBF9"/>
                    </a:solidFill>
                  </a:tcPr>
                </a:tc>
                <a:tc>
                  <a:txBody>
                    <a:bodyPr wrap="square"/>
                    <a:lstStyle/>
                    <a:p>
                      <a:pPr algn="r"/>
                      <a:r>
                        <a:rPr sz="1500" b="0" i="0">
                          <a:solidFill>
                            <a:srgbClr val="1B1F2A"/>
                          </a:solidFill>
                          <a:latin typeface="IBM Plex Sans"/>
                          <a:ea typeface="IBM Plex Sans"/>
                          <a:cs typeface="IBM Plex Sans"/>
                        </a:rPr>
                        <a:t>171%</a:t>
                      </a:r>
                    </a:p>
                  </a:txBody>
                  <a:tcPr marL="73152" marR="73152" marT="36576" marB="36576" anchor="ctr">
                    <a:lnL w="0">
                      <a:noFill/>
                    </a:lnL>
                    <a:lnR w="0">
                      <a:noFill/>
                    </a:lnR>
                    <a:lnT w="0">
                      <a:noFill/>
                    </a:lnT>
                    <a:lnB w="12700">
                      <a:solidFill>
                        <a:srgbClr val="C8C8C6"/>
                      </a:solidFill>
                    </a:lnB>
                    <a:solidFill>
                      <a:srgbClr val="FBFBF9"/>
                    </a:solidFill>
                  </a:tcPr>
                </a:tc>
              </a:tr>
            </a:tbl>
          </a:graphicData>
        </a:graphic>
      </p:graphicFrame>
      <p:sp>
        <p:nvSpPr>
          <p:cNvPr id="9" name="TextBox 8"/>
          <p:cNvSpPr txBox="1"/>
          <p:nvPr/>
        </p:nvSpPr>
        <p:spPr>
          <a:xfrm>
            <a:off x="6629400" y="3840480"/>
            <a:ext cx="4480560" cy="1463040"/>
          </a:xfrm>
          <a:prstGeom prst="rect">
            <a:avLst/>
          </a:prstGeom>
          <a:noFill/>
        </p:spPr>
        <p:txBody>
          <a:bodyPr wrap="square" lIns="0" rIns="0" tIns="0" bIns="0" anchor="t">
            <a:spAutoFit/>
          </a:bodyPr>
          <a:lstStyle/>
          <a:p>
            <a:pPr algn="l" marL="228600" indent="-228600">
              <a:spcAft>
                <a:spcPts val="800"/>
              </a:spcAft>
              <a:buFont typeface="Arial"/>
              <a:buChar char="•"/>
            </a:pPr>
            <a:r>
              <a:rPr sz="1500" b="0" i="0">
                <a:solidFill>
                  <a:srgbClr val="1B1F2A"/>
                </a:solidFill>
                <a:latin typeface="IBM Plex Sans"/>
                <a:ea typeface="IBM Plex Sans"/>
                <a:cs typeface="IBM Plex Sans"/>
              </a:rPr>
              <a:t>paper's failure reproduced (FE, t₃ = 0.25)</a:t>
            </a:r>
          </a:p>
          <a:p>
            <a:pPr algn="l" marL="228600" indent="-228600">
              <a:spcAft>
                <a:spcPts val="800"/>
              </a:spcAft>
              <a:buFont typeface="Arial"/>
              <a:buChar char="•"/>
            </a:pPr>
            <a:r>
              <a:rPr sz="1500" b="0" i="0">
                <a:solidFill>
                  <a:srgbClr val="1B1F2A"/>
                </a:solidFill>
                <a:latin typeface="IBM Plex Sans"/>
                <a:ea typeface="IBM Plex Sans"/>
                <a:cs typeface="IBM Plex Sans"/>
              </a:rPr>
              <a:t>median of 7 interleaved runs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BFBF9"/>
        </a:solidFill>
        <a:effectLst/>
      </p:bgPr>
    </p:bg>
    <p:spTree>
      <p:nvGrpSpPr>
        <p:cNvPr id="1" name=""/>
        <p:cNvGrpSpPr/>
        <p:nvPr/>
      </p:nvGrpSpPr>
      <p:grpSpPr/>
      <p:sp>
        <p:nvSpPr>
          <p:cNvPr id="2" name="TextBox 1"/>
          <p:cNvSpPr txBox="1"/>
          <p:nvPr/>
        </p:nvSpPr>
        <p:spPr>
          <a:xfrm>
            <a:off x="813816" y="713232"/>
            <a:ext cx="10881360" cy="429768"/>
          </a:xfrm>
          <a:prstGeom prst="rect">
            <a:avLst/>
          </a:prstGeom>
          <a:noFill/>
        </p:spPr>
        <p:txBody>
          <a:bodyPr wrap="square" lIns="0" rIns="0" tIns="0" bIns="0" anchor="t">
            <a:spAutoFit/>
          </a:bodyPr>
          <a:lstStyle/>
          <a:p>
            <a:pPr algn="l">
              <a:spcAft>
                <a:spcPts val="800"/>
              </a:spcAft>
            </a:pPr>
            <a:r>
              <a:rPr sz="2800" b="1" i="0">
                <a:solidFill>
                  <a:srgbClr val="1F3A5F"/>
                </a:solidFill>
                <a:latin typeface="IBM Plex Sans"/>
                <a:ea typeface="IBM Plex Sans"/>
                <a:cs typeface="IBM Plex Sans"/>
              </a:rPr>
              <a:t>A better integrator? RK4 and BE-chord</a:t>
            </a:r>
          </a:p>
        </p:txBody>
      </p:sp>
      <p:pic>
        <p:nvPicPr>
          <p:cNvPr id="3" name="Picture 2" descr="image.png"/>
          <p:cNvPicPr>
            <a:picLocks noChangeAspect="1"/>
          </p:cNvPicPr>
          <p:nvPr/>
        </p:nvPicPr>
        <p:blipFill>
          <a:blip r:embed="rId2"/>
          <a:stretch>
            <a:fillRect/>
          </a:stretch>
        </p:blipFill>
        <p:spPr>
          <a:xfrm>
            <a:off x="812800" y="1221741"/>
            <a:ext cx="10566400" cy="20320"/>
          </a:xfrm>
          <a:prstGeom prst="rect">
            <a:avLst/>
          </a:prstGeom>
        </p:spPr>
      </p:pic>
      <p:sp>
        <p:nvSpPr>
          <p:cNvPr id="4" name="TextBox 3"/>
          <p:cNvSpPr txBox="1"/>
          <p:nvPr/>
        </p:nvSpPr>
        <p:spPr>
          <a:xfrm>
            <a:off x="813816" y="6236208"/>
            <a:ext cx="7845552" cy="237744"/>
          </a:xfrm>
          <a:prstGeom prst="rect">
            <a:avLst/>
          </a:prstGeom>
          <a:noFill/>
        </p:spPr>
        <p:txBody>
          <a:bodyPr wrap="square" lIns="0" rIns="0" tIns="0" bIns="0" anchor="t">
            <a:spAutoFit/>
          </a:bodyPr>
          <a:lstStyle/>
          <a:p>
            <a:pPr algn="l">
              <a:spcAft>
                <a:spcPts val="800"/>
              </a:spcAft>
            </a:pPr>
            <a:r>
              <a:rPr sz="1200" b="0" i="0">
                <a:solidFill>
                  <a:srgbClr val="6B7280"/>
                </a:solidFill>
                <a:latin typeface="IBM Plex Sans"/>
                <a:ea typeface="IBM Plex Sans"/>
                <a:cs typeface="IBM Plex Sans"/>
              </a:rPr>
              <a:t>Sizan's part · Lima-Silva &amp; Freitas (2024): reproduction and improvements</a:t>
            </a:r>
          </a:p>
        </p:txBody>
      </p:sp>
      <p:sp>
        <p:nvSpPr>
          <p:cNvPr id="5" name="TextBox 4"/>
          <p:cNvSpPr txBox="1"/>
          <p:nvPr/>
        </p:nvSpPr>
        <p:spPr>
          <a:xfrm>
            <a:off x="10058400" y="6236208"/>
            <a:ext cx="1316736" cy="237744"/>
          </a:xfrm>
          <a:prstGeom prst="rect">
            <a:avLst/>
          </a:prstGeom>
          <a:noFill/>
        </p:spPr>
        <p:txBody>
          <a:bodyPr wrap="square" lIns="0" rIns="0" tIns="0" bIns="0" anchor="t">
            <a:spAutoFit/>
          </a:bodyPr>
          <a:lstStyle/>
          <a:p>
            <a:pPr algn="r">
              <a:spcAft>
                <a:spcPts val="800"/>
              </a:spcAft>
            </a:pPr>
            <a:r>
              <a:rPr sz="1200" b="0" i="0">
                <a:solidFill>
                  <a:srgbClr val="6B7280"/>
                </a:solidFill>
                <a:latin typeface="IBM Plex Sans"/>
                <a:ea typeface="IBM Plex Sans"/>
                <a:cs typeface="IBM Plex Sans"/>
              </a:rPr>
              <a:t>9</a:t>
            </a:r>
          </a:p>
        </p:txBody>
      </p:sp>
      <p:graphicFrame>
        <p:nvGraphicFramePr>
          <p:cNvPr id="6" name="Table 5"/>
          <p:cNvGraphicFramePr>
            <a:graphicFrameLocks noGrp="1"/>
          </p:cNvGraphicFramePr>
          <p:nvPr/>
        </p:nvGraphicFramePr>
        <p:xfrm>
          <a:off x="813816" y="1600200"/>
          <a:ext cx="10424160" cy="2011680"/>
        </p:xfrm>
        <a:graphic>
          <a:graphicData uri="http://schemas.openxmlformats.org/drawingml/2006/table">
            <a:tbl>
              <a:tblPr firstRow="0" bandRow="0">
                <a:tableStyleId>{2D5ABB26-0587-4C30-8999-92F81FD0307C}</a:tableStyleId>
              </a:tblPr>
              <a:tblGrid>
                <a:gridCol w="3291840"/>
                <a:gridCol w="2011680"/>
                <a:gridCol w="5120640"/>
              </a:tblGrid>
              <a:tr h="502920">
                <a:tc>
                  <a:txBody>
                    <a:bodyPr wrap="square"/>
                    <a:lstStyle/>
                    <a:p>
                      <a:pPr algn="l"/>
                      <a:r>
                        <a:rPr sz="1600" b="1" i="0">
                          <a:solidFill>
                            <a:srgbClr val="1B1F2A"/>
                          </a:solidFill>
                          <a:latin typeface="IBM Plex Sans"/>
                          <a:ea typeface="IBM Plex Sans"/>
                          <a:cs typeface="IBM Plex Sans"/>
                        </a:rPr>
                        <a:t>Step rule (fixed steps)</a:t>
                      </a:r>
                    </a:p>
                  </a:txBody>
                  <a:tcPr marL="73152" marR="73152" marT="36576" marB="36576" anchor="ctr">
                    <a:lnL w="0">
                      <a:noFill/>
                    </a:lnL>
                    <a:lnR w="0">
                      <a:noFill/>
                    </a:lnR>
                    <a:lnT w="0">
                      <a:noFill/>
                    </a:lnT>
                    <a:lnB w="12700">
                      <a:solidFill>
                        <a:srgbClr val="C8C8C6"/>
                      </a:solidFill>
                    </a:lnB>
                    <a:solidFill>
                      <a:srgbClr val="E9E9E7"/>
                    </a:solidFill>
                  </a:tcPr>
                </a:tc>
                <a:tc>
                  <a:txBody>
                    <a:bodyPr wrap="square"/>
                    <a:lstStyle/>
                    <a:p>
                      <a:pPr algn="r"/>
                      <a:r>
                        <a:rPr sz="1600" b="1" i="0">
                          <a:solidFill>
                            <a:srgbClr val="1B1F2A"/>
                          </a:solidFill>
                          <a:latin typeface="IBM Plex Sans"/>
                          <a:ea typeface="IBM Plex Sans"/>
                          <a:cs typeface="IBM Plex Sans"/>
                        </a:rPr>
                        <a:t>Solved of 170</a:t>
                      </a:r>
                    </a:p>
                  </a:txBody>
                  <a:tcPr marL="73152" marR="73152" marT="36576" marB="36576" anchor="ctr">
                    <a:lnL w="0">
                      <a:noFill/>
                    </a:lnL>
                    <a:lnR w="0">
                      <a:noFill/>
                    </a:lnR>
                    <a:lnT w="0">
                      <a:noFill/>
                    </a:lnT>
                    <a:lnB w="12700">
                      <a:solidFill>
                        <a:srgbClr val="C8C8C6"/>
                      </a:solidFill>
                    </a:lnB>
                    <a:solidFill>
                      <a:srgbClr val="E9E9E7"/>
                    </a:solidFill>
                  </a:tcPr>
                </a:tc>
                <a:tc>
                  <a:txBody>
                    <a:bodyPr wrap="square"/>
                    <a:lstStyle/>
                    <a:p>
                      <a:pPr algn="l"/>
                      <a:r>
                        <a:rPr sz="1600" b="1" i="0">
                          <a:solidFill>
                            <a:srgbClr val="1B1F2A"/>
                          </a:solidFill>
                          <a:latin typeface="IBM Plex Sans"/>
                          <a:ea typeface="IBM Plex Sans"/>
                          <a:cs typeface="IBM Plex Sans"/>
                        </a:rPr>
                        <a:t>Why</a:t>
                      </a:r>
                    </a:p>
                  </a:txBody>
                  <a:tcPr marL="73152" marR="73152" marT="36576" marB="36576" anchor="ctr">
                    <a:lnL w="0">
                      <a:noFill/>
                    </a:lnL>
                    <a:lnR w="0">
                      <a:noFill/>
                    </a:lnR>
                    <a:lnT w="0">
                      <a:noFill/>
                    </a:lnT>
                    <a:lnB w="12700">
                      <a:solidFill>
                        <a:srgbClr val="C8C8C6"/>
                      </a:solidFill>
                    </a:lnB>
                    <a:solidFill>
                      <a:srgbClr val="E9E9E7"/>
                    </a:solidFill>
                  </a:tcPr>
                </a:tc>
              </a:tr>
              <a:tr h="502920">
                <a:tc>
                  <a:txBody>
                    <a:bodyPr wrap="square"/>
                    <a:lstStyle/>
                    <a:p>
                      <a:pPr algn="l"/>
                      <a:r>
                        <a:rPr sz="1600" b="0" i="0">
                          <a:solidFill>
                            <a:srgbClr val="1B1F2A"/>
                          </a:solidFill>
                          <a:latin typeface="IBM Plex Sans"/>
                          <a:ea typeface="IBM Plex Sans"/>
                          <a:cs typeface="IBM Plex Sans"/>
                        </a:rPr>
                        <a:t>Backward Euler (paper)</a:t>
                      </a:r>
                    </a:p>
                  </a:txBody>
                  <a:tcPr marL="73152" marR="73152" marT="36576" marB="36576" anchor="ctr">
                    <a:lnL w="0">
                      <a:noFill/>
                    </a:lnL>
                    <a:lnR w="0">
                      <a:noFill/>
                    </a:lnR>
                    <a:lnT w="0">
                      <a:noFill/>
                    </a:lnT>
                    <a:lnB w="12700">
                      <a:solidFill>
                        <a:srgbClr val="C8C8C6"/>
                      </a:solidFill>
                    </a:lnB>
                    <a:solidFill>
                      <a:srgbClr val="FBFBF9"/>
                    </a:solidFill>
                  </a:tcPr>
                </a:tc>
                <a:tc>
                  <a:txBody>
                    <a:bodyPr wrap="square"/>
                    <a:lstStyle/>
                    <a:p>
                      <a:pPr algn="r"/>
                      <a:r>
                        <a:rPr sz="1600" b="0" i="0">
                          <a:solidFill>
                            <a:srgbClr val="2F8F5B"/>
                          </a:solidFill>
                          <a:latin typeface="IBM Plex Sans"/>
                          <a:ea typeface="IBM Plex Sans"/>
                          <a:cs typeface="IBM Plex Sans"/>
                        </a:rPr>
                        <a:t>127</a:t>
                      </a:r>
                    </a:p>
                  </a:txBody>
                  <a:tcPr marL="73152" marR="73152" marT="36576" marB="36576" anchor="ctr">
                    <a:lnL w="0">
                      <a:noFill/>
                    </a:lnL>
                    <a:lnR w="0">
                      <a:noFill/>
                    </a:lnR>
                    <a:lnT w="0">
                      <a:noFill/>
                    </a:lnT>
                    <a:lnB w="12700">
                      <a:solidFill>
                        <a:srgbClr val="C8C8C6"/>
                      </a:solidFill>
                    </a:lnB>
                    <a:solidFill>
                      <a:srgbClr val="FBFBF9"/>
                    </a:solidFill>
                  </a:tcPr>
                </a:tc>
                <a:tc>
                  <a:txBody>
                    <a:bodyPr wrap="square"/>
                    <a:lstStyle/>
                    <a:p>
                      <a:pPr algn="l"/>
                      <a:r>
                        <a:rPr sz="1600" b="0" i="0">
                          <a:solidFill>
                            <a:srgbClr val="1B1F2A"/>
                          </a:solidFill>
                          <a:latin typeface="IBM Plex Sans"/>
                          <a:ea typeface="IBM Plex Sans"/>
                          <a:cs typeface="IBM Plex Sans"/>
                        </a:rPr>
                        <a:t/>
                      </a:r>
                    </a:p>
                  </a:txBody>
                  <a:tcPr marL="73152" marR="73152" marT="36576" marB="36576" anchor="ctr">
                    <a:lnL w="0">
                      <a:noFill/>
                    </a:lnL>
                    <a:lnR w="0">
                      <a:noFill/>
                    </a:lnR>
                    <a:lnT w="0">
                      <a:noFill/>
                    </a:lnT>
                    <a:lnB w="12700">
                      <a:solidFill>
                        <a:srgbClr val="C8C8C6"/>
                      </a:solidFill>
                    </a:lnB>
                    <a:solidFill>
                      <a:srgbClr val="FBFBF9"/>
                    </a:solidFill>
                  </a:tcPr>
                </a:tc>
              </a:tr>
              <a:tr h="502920">
                <a:tc>
                  <a:txBody>
                    <a:bodyPr wrap="square"/>
                    <a:lstStyle/>
                    <a:p>
                      <a:pPr algn="l"/>
                      <a:r>
                        <a:rPr sz="1600" b="0" i="0">
                          <a:solidFill>
                            <a:srgbClr val="1B1F2A"/>
                          </a:solidFill>
                          <a:latin typeface="IBM Plex Sans"/>
                          <a:ea typeface="IBM Plex Sans"/>
                          <a:cs typeface="IBM Plex Sans"/>
                        </a:rPr>
                        <a:t>BE-chord (3 iterations, 1 LU)</a:t>
                      </a:r>
                    </a:p>
                  </a:txBody>
                  <a:tcPr marL="73152" marR="73152" marT="36576" marB="36576" anchor="ctr">
                    <a:lnL w="0">
                      <a:noFill/>
                    </a:lnL>
                    <a:lnR w="0">
                      <a:noFill/>
                    </a:lnR>
                    <a:lnT w="0">
                      <a:noFill/>
                    </a:lnT>
                    <a:lnB w="12700">
                      <a:solidFill>
                        <a:srgbClr val="C8C8C6"/>
                      </a:solidFill>
                    </a:lnB>
                    <a:solidFill>
                      <a:srgbClr val="FBFBF9"/>
                    </a:solidFill>
                  </a:tcPr>
                </a:tc>
                <a:tc>
                  <a:txBody>
                    <a:bodyPr wrap="square"/>
                    <a:lstStyle/>
                    <a:p>
                      <a:pPr algn="r"/>
                      <a:r>
                        <a:rPr sz="1600" b="0" i="0">
                          <a:solidFill>
                            <a:srgbClr val="B54A3F"/>
                          </a:solidFill>
                          <a:latin typeface="IBM Plex Sans"/>
                          <a:ea typeface="IBM Plex Sans"/>
                          <a:cs typeface="IBM Plex Sans"/>
                        </a:rPr>
                        <a:t>89</a:t>
                      </a:r>
                    </a:p>
                  </a:txBody>
                  <a:tcPr marL="73152" marR="73152" marT="36576" marB="36576" anchor="ctr">
                    <a:lnL w="0">
                      <a:noFill/>
                    </a:lnL>
                    <a:lnR w="0">
                      <a:noFill/>
                    </a:lnR>
                    <a:lnT w="0">
                      <a:noFill/>
                    </a:lnT>
                    <a:lnB w="12700">
                      <a:solidFill>
                        <a:srgbClr val="C8C8C6"/>
                      </a:solidFill>
                    </a:lnB>
                    <a:solidFill>
                      <a:srgbClr val="FBFBF9"/>
                    </a:solidFill>
                  </a:tcPr>
                </a:tc>
                <a:tc>
                  <a:txBody>
                    <a:bodyPr wrap="square"/>
                    <a:lstStyle/>
                    <a:p>
                      <a:pPr algn="l"/>
                      <a:r>
                        <a:rPr sz="1600" b="0" i="0">
                          <a:solidFill>
                            <a:srgbClr val="1B1F2A"/>
                          </a:solidFill>
                          <a:latin typeface="IBM Plex Sans"/>
                          <a:ea typeface="IBM Plex Sans"/>
                          <a:cs typeface="IBM Plex Sans"/>
                        </a:rPr>
                        <a:t>iteration does not contract for Δt ≈ 1</a:t>
                      </a:r>
                    </a:p>
                  </a:txBody>
                  <a:tcPr marL="73152" marR="73152" marT="36576" marB="36576" anchor="ctr">
                    <a:lnL w="0">
                      <a:noFill/>
                    </a:lnL>
                    <a:lnR w="0">
                      <a:noFill/>
                    </a:lnR>
                    <a:lnT w="0">
                      <a:noFill/>
                    </a:lnT>
                    <a:lnB w="12700">
                      <a:solidFill>
                        <a:srgbClr val="C8C8C6"/>
                      </a:solidFill>
                    </a:lnB>
                    <a:solidFill>
                      <a:srgbClr val="FBFBF9"/>
                    </a:solidFill>
                  </a:tcPr>
                </a:tc>
              </a:tr>
              <a:tr h="502920">
                <a:tc>
                  <a:txBody>
                    <a:bodyPr wrap="square"/>
                    <a:lstStyle/>
                    <a:p>
                      <a:pPr algn="l"/>
                      <a:r>
                        <a:rPr sz="1600" b="0" i="0">
                          <a:solidFill>
                            <a:srgbClr val="1B1F2A"/>
                          </a:solidFill>
                          <a:latin typeface="IBM Plex Sans"/>
                          <a:ea typeface="IBM Plex Sans"/>
                          <a:cs typeface="IBM Plex Sans"/>
                        </a:rPr>
                        <a:t>RK4</a:t>
                      </a:r>
                    </a:p>
                  </a:txBody>
                  <a:tcPr marL="73152" marR="73152" marT="36576" marB="36576" anchor="ctr">
                    <a:lnL w="0">
                      <a:noFill/>
                    </a:lnL>
                    <a:lnR w="0">
                      <a:noFill/>
                    </a:lnR>
                    <a:lnT w="0">
                      <a:noFill/>
                    </a:lnT>
                    <a:lnB w="12700">
                      <a:solidFill>
                        <a:srgbClr val="C8C8C6"/>
                      </a:solidFill>
                    </a:lnB>
                    <a:solidFill>
                      <a:srgbClr val="FBFBF9"/>
                    </a:solidFill>
                  </a:tcPr>
                </a:tc>
                <a:tc>
                  <a:txBody>
                    <a:bodyPr wrap="square"/>
                    <a:lstStyle/>
                    <a:p>
                      <a:pPr algn="r"/>
                      <a:r>
                        <a:rPr sz="1600" b="0" i="0">
                          <a:solidFill>
                            <a:srgbClr val="B54A3F"/>
                          </a:solidFill>
                          <a:latin typeface="IBM Plex Sans"/>
                          <a:ea typeface="IBM Plex Sans"/>
                          <a:cs typeface="IBM Plex Sans"/>
                        </a:rPr>
                        <a:t>13</a:t>
                      </a:r>
                    </a:p>
                  </a:txBody>
                  <a:tcPr marL="73152" marR="73152" marT="36576" marB="36576" anchor="ctr">
                    <a:lnL w="0">
                      <a:noFill/>
                    </a:lnL>
                    <a:lnR w="0">
                      <a:noFill/>
                    </a:lnR>
                    <a:lnT w="0">
                      <a:noFill/>
                    </a:lnT>
                    <a:lnB w="12700">
                      <a:solidFill>
                        <a:srgbClr val="C8C8C6"/>
                      </a:solidFill>
                    </a:lnB>
                    <a:solidFill>
                      <a:srgbClr val="FBFBF9"/>
                    </a:solidFill>
                  </a:tcPr>
                </a:tc>
                <a:tc>
                  <a:txBody>
                    <a:bodyPr wrap="square"/>
                    <a:lstStyle/>
                    <a:p>
                      <a:pPr algn="l"/>
                      <a:r>
                        <a:rPr sz="1600" b="0" i="0">
                          <a:solidFill>
                            <a:srgbClr val="1B1F2A"/>
                          </a:solidFill>
                          <a:latin typeface="IBM Plex Sans"/>
                          <a:ea typeface="IBM Plex Sans"/>
                          <a:cs typeface="IBM Plex Sans"/>
                        </a:rPr>
                        <a:t>explicit: every stage overshoots</a:t>
                      </a:r>
                    </a:p>
                  </a:txBody>
                  <a:tcPr marL="73152" marR="73152" marT="36576" marB="36576" anchor="ctr">
                    <a:lnL w="0">
                      <a:noFill/>
                    </a:lnL>
                    <a:lnR w="0">
                      <a:noFill/>
                    </a:lnR>
                    <a:lnT w="0">
                      <a:noFill/>
                    </a:lnT>
                    <a:lnB w="12700">
                      <a:solidFill>
                        <a:srgbClr val="C8C8C6"/>
                      </a:solidFill>
                    </a:lnB>
                    <a:solidFill>
                      <a:srgbClr val="FBFBF9"/>
                    </a:solidFill>
                  </a:tcPr>
                </a:tc>
              </a:tr>
            </a:tbl>
          </a:graphicData>
        </a:graphic>
      </p:graphicFrame>
      <p:sp>
        <p:nvSpPr>
          <p:cNvPr id="7" name="TextBox 6"/>
          <p:cNvSpPr txBox="1"/>
          <p:nvPr/>
        </p:nvSpPr>
        <p:spPr>
          <a:xfrm>
            <a:off x="813816" y="3886200"/>
            <a:ext cx="10561320" cy="822960"/>
          </a:xfrm>
          <a:prstGeom prst="rect">
            <a:avLst/>
          </a:prstGeom>
          <a:noFill/>
        </p:spPr>
        <p:txBody>
          <a:bodyPr wrap="square" lIns="0" rIns="0" tIns="0" bIns="0" anchor="t">
            <a:spAutoFit/>
          </a:bodyPr>
          <a:lstStyle/>
          <a:p>
            <a:pPr algn="l">
              <a:spcAft>
                <a:spcPts val="800"/>
              </a:spcAft>
            </a:pPr>
            <a:r>
              <a:rPr sz="1800" b="1" i="0">
                <a:solidFill>
                  <a:srgbClr val="1F3A5F"/>
                </a:solidFill>
                <a:latin typeface="IBM Plex Sans"/>
                <a:ea typeface="IBM Plex Sans"/>
                <a:cs typeface="IBM Plex Sans"/>
              </a:rPr>
              <a:t>Higher order does not help when the step is outside the stability region.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BFBF9"/>
        </a:solidFill>
        <a:effectLst/>
      </p:bgPr>
    </p:bg>
    <p:spTree>
      <p:nvGrpSpPr>
        <p:cNvPr id="1" name=""/>
        <p:cNvGrpSpPr/>
        <p:nvPr/>
      </p:nvGrpSpPr>
      <p:grpSpPr/>
      <p:sp>
        <p:nvSpPr>
          <p:cNvPr id="2" name="TextBox 1"/>
          <p:cNvSpPr txBox="1"/>
          <p:nvPr/>
        </p:nvSpPr>
        <p:spPr>
          <a:xfrm>
            <a:off x="813816" y="713232"/>
            <a:ext cx="10881360" cy="429768"/>
          </a:xfrm>
          <a:prstGeom prst="rect">
            <a:avLst/>
          </a:prstGeom>
          <a:noFill/>
        </p:spPr>
        <p:txBody>
          <a:bodyPr wrap="square" lIns="0" rIns="0" tIns="0" bIns="0" anchor="t">
            <a:spAutoFit/>
          </a:bodyPr>
          <a:lstStyle/>
          <a:p>
            <a:pPr algn="l">
              <a:spcAft>
                <a:spcPts val="800"/>
              </a:spcAft>
            </a:pPr>
            <a:r>
              <a:rPr sz="2800" b="1" i="0">
                <a:solidFill>
                  <a:srgbClr val="1F3A5F"/>
                </a:solidFill>
                <a:latin typeface="IBM Plex Sans"/>
                <a:ea typeface="IBM Plex Sans"/>
                <a:cs typeface="IBM Plex Sans"/>
              </a:rPr>
              <a:t>A fair test: every rule picks its own steps</a:t>
            </a:r>
          </a:p>
        </p:txBody>
      </p:sp>
      <p:pic>
        <p:nvPicPr>
          <p:cNvPr id="3" name="Picture 2" descr="image.png"/>
          <p:cNvPicPr>
            <a:picLocks noChangeAspect="1"/>
          </p:cNvPicPr>
          <p:nvPr/>
        </p:nvPicPr>
        <p:blipFill>
          <a:blip r:embed="rId2"/>
          <a:stretch>
            <a:fillRect/>
          </a:stretch>
        </p:blipFill>
        <p:spPr>
          <a:xfrm>
            <a:off x="812800" y="1221741"/>
            <a:ext cx="10566400" cy="20320"/>
          </a:xfrm>
          <a:prstGeom prst="rect">
            <a:avLst/>
          </a:prstGeom>
        </p:spPr>
      </p:pic>
      <p:sp>
        <p:nvSpPr>
          <p:cNvPr id="4" name="TextBox 3"/>
          <p:cNvSpPr txBox="1"/>
          <p:nvPr/>
        </p:nvSpPr>
        <p:spPr>
          <a:xfrm>
            <a:off x="813816" y="6236208"/>
            <a:ext cx="7845552" cy="237744"/>
          </a:xfrm>
          <a:prstGeom prst="rect">
            <a:avLst/>
          </a:prstGeom>
          <a:noFill/>
        </p:spPr>
        <p:txBody>
          <a:bodyPr wrap="square" lIns="0" rIns="0" tIns="0" bIns="0" anchor="t">
            <a:spAutoFit/>
          </a:bodyPr>
          <a:lstStyle/>
          <a:p>
            <a:pPr algn="l">
              <a:spcAft>
                <a:spcPts val="800"/>
              </a:spcAft>
            </a:pPr>
            <a:r>
              <a:rPr sz="1200" b="0" i="0">
                <a:solidFill>
                  <a:srgbClr val="6B7280"/>
                </a:solidFill>
                <a:latin typeface="IBM Plex Sans"/>
                <a:ea typeface="IBM Plex Sans"/>
                <a:cs typeface="IBM Plex Sans"/>
              </a:rPr>
              <a:t>Sizan's part · Lima-Silva &amp; Freitas (2024): reproduction and improvements</a:t>
            </a:r>
          </a:p>
        </p:txBody>
      </p:sp>
      <p:sp>
        <p:nvSpPr>
          <p:cNvPr id="5" name="TextBox 4"/>
          <p:cNvSpPr txBox="1"/>
          <p:nvPr/>
        </p:nvSpPr>
        <p:spPr>
          <a:xfrm>
            <a:off x="10058400" y="6236208"/>
            <a:ext cx="1316736" cy="237744"/>
          </a:xfrm>
          <a:prstGeom prst="rect">
            <a:avLst/>
          </a:prstGeom>
          <a:noFill/>
        </p:spPr>
        <p:txBody>
          <a:bodyPr wrap="square" lIns="0" rIns="0" tIns="0" bIns="0" anchor="t">
            <a:spAutoFit/>
          </a:bodyPr>
          <a:lstStyle/>
          <a:p>
            <a:pPr algn="r">
              <a:spcAft>
                <a:spcPts val="800"/>
              </a:spcAft>
            </a:pPr>
            <a:r>
              <a:rPr sz="1200" b="0" i="0">
                <a:solidFill>
                  <a:srgbClr val="6B7280"/>
                </a:solidFill>
                <a:latin typeface="IBM Plex Sans"/>
                <a:ea typeface="IBM Plex Sans"/>
                <a:cs typeface="IBM Plex Sans"/>
              </a:rPr>
              <a:t>10</a:t>
            </a:r>
          </a:p>
        </p:txBody>
      </p:sp>
      <p:sp>
        <p:nvSpPr>
          <p:cNvPr id="6" name="TextBox 5"/>
          <p:cNvSpPr txBox="1"/>
          <p:nvPr/>
        </p:nvSpPr>
        <p:spPr>
          <a:xfrm>
            <a:off x="813816" y="1463040"/>
            <a:ext cx="10561320" cy="457200"/>
          </a:xfrm>
          <a:prstGeom prst="rect">
            <a:avLst/>
          </a:prstGeom>
          <a:noFill/>
        </p:spPr>
        <p:txBody>
          <a:bodyPr wrap="square" lIns="0" rIns="0" tIns="0" bIns="0" anchor="t">
            <a:spAutoFit/>
          </a:bodyPr>
          <a:lstStyle/>
          <a:p>
            <a:pPr algn="l">
              <a:spcAft>
                <a:spcPts val="800"/>
              </a:spcAft>
            </a:pPr>
            <a:r>
              <a:rPr sz="1600" b="0" i="0">
                <a:solidFill>
                  <a:srgbClr val="333A48"/>
                </a:solidFill>
                <a:latin typeface="IBM Plex Sans"/>
                <a:ea typeface="IBM Plex Sans"/>
                <a:cs typeface="IBM Plex Sans"/>
              </a:rPr>
              <a:t>Mean LUs per run with Richardson step control (with Sadman)</a:t>
            </a:r>
          </a:p>
        </p:txBody>
      </p:sp>
      <p:graphicFrame>
        <p:nvGraphicFramePr>
          <p:cNvPr id="7" name="Chart 6"/>
          <p:cNvGraphicFramePr>
            <a:graphicFrameLocks noGrp="1"/>
          </p:cNvGraphicFramePr>
          <p:nvPr/>
        </p:nvGraphicFramePr>
        <p:xfrm>
          <a:off x="1271016" y="1920240"/>
          <a:ext cx="6583680" cy="3566160"/>
        </p:xfrm>
        <a:graphic>
          <a:graphicData uri="http://schemas.openxmlformats.org/drawingml/2006/chart">
            <c:chart xmlns:c="http://schemas.openxmlformats.org/drawingml/2006/chart" r:id="rId3"/>
          </a:graphicData>
        </a:graphic>
      </p:graphicFrame>
      <p:sp>
        <p:nvSpPr>
          <p:cNvPr id="8" name="TextBox 7"/>
          <p:cNvSpPr txBox="1"/>
          <p:nvPr/>
        </p:nvSpPr>
        <p:spPr>
          <a:xfrm>
            <a:off x="8138160" y="2377440"/>
            <a:ext cx="3200400" cy="2560320"/>
          </a:xfrm>
          <a:prstGeom prst="rect">
            <a:avLst/>
          </a:prstGeom>
          <a:noFill/>
        </p:spPr>
        <p:txBody>
          <a:bodyPr wrap="square" lIns="0" rIns="0" tIns="0" bIns="0" anchor="t">
            <a:spAutoFit/>
          </a:bodyPr>
          <a:lstStyle/>
          <a:p>
            <a:pPr algn="l">
              <a:spcAft>
                <a:spcPts val="400"/>
              </a:spcAft>
            </a:pPr>
            <a:r>
              <a:rPr sz="1700" b="0" i="0">
                <a:solidFill>
                  <a:srgbClr val="1B1F2A"/>
                </a:solidFill>
                <a:latin typeface="IBM Plex Sans"/>
                <a:ea typeface="IBM Plex Sans"/>
                <a:cs typeface="IBM Plex Sans"/>
              </a:rPr>
              <a:t>BE is still</a:t>
            </a:r>
            <a:r>
              <a:rPr sz="1700" b="0" i="0">
                <a:solidFill>
                  <a:srgbClr val="1B1F2A"/>
                </a:solidFill>
                <a:latin typeface="IBM Plex Sans"/>
                <a:ea typeface="IBM Plex Sans"/>
                <a:cs typeface="IBM Plex Sans"/>
              </a:rPr>
              <a:t/>
            </a:r>
          </a:p>
          <a:p>
            <a:pPr algn="l">
              <a:spcAft>
                <a:spcPts val="400"/>
              </a:spcAft>
            </a:pPr>
            <a:r>
              <a:rPr sz="3000" b="1" i="0">
                <a:solidFill>
                  <a:srgbClr val="1F3A5F"/>
                </a:solidFill>
                <a:latin typeface="IBM Plex Sans"/>
                <a:ea typeface="IBM Plex Sans"/>
                <a:cs typeface="IBM Plex Sans"/>
              </a:rPr>
              <a:t>3.5× to 8×</a:t>
            </a:r>
          </a:p>
          <a:p>
            <a:pPr algn="l">
              <a:spcAft>
                <a:spcPts val="400"/>
              </a:spcAft>
            </a:pPr>
            <a:r>
              <a:rPr sz="1700" b="0" i="0">
                <a:solidFill>
                  <a:srgbClr val="1B1F2A"/>
                </a:solidFill>
                <a:latin typeface="IBM Plex Sans"/>
                <a:ea typeface="IBM Plex Sans"/>
                <a:cs typeface="IBM Plex Sans"/>
              </a:rPr>
              <a:t>cheaper</a:t>
            </a:r>
          </a:p>
          <a:p>
            <a:pPr algn="l">
              <a:spcAft>
                <a:spcPts val="400"/>
              </a:spcAft>
            </a:pPr>
            <a:r>
              <a:rPr sz="1700" b="0" i="0">
                <a:solidFill>
                  <a:srgbClr val="1B1F2A"/>
                </a:solidFill>
                <a:latin typeface="IBM Plex Sans"/>
                <a:ea typeface="IBM Plex Sans"/>
                <a:cs typeface="IBM Plex Sans"/>
              </a:rPr>
              <a:t/>
            </a:r>
          </a:p>
          <a:p>
            <a:pPr algn="l">
              <a:spcAft>
                <a:spcPts val="400"/>
              </a:spcAft>
            </a:pPr>
            <a:r>
              <a:rPr sz="1700" b="0" i="0">
                <a:solidFill>
                  <a:srgbClr val="1B1F2A"/>
                </a:solidFill>
                <a:latin typeface="IBM Plex Sans"/>
                <a:ea typeface="IBM Plex Sans"/>
                <a:cs typeface="IBM Plex Sans"/>
              </a:rPr>
              <a:t>The ODE is stiff: implicit beats high order.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BFBF9"/>
        </a:solidFill>
        <a:effectLst/>
      </p:bgPr>
    </p:bg>
    <p:spTree>
      <p:nvGrpSpPr>
        <p:cNvPr id="1" name=""/>
        <p:cNvGrpSpPr/>
        <p:nvPr/>
      </p:nvGrpSpPr>
      <p:grpSpPr/>
      <p:sp>
        <p:nvSpPr>
          <p:cNvPr id="2" name="TextBox 1"/>
          <p:cNvSpPr txBox="1"/>
          <p:nvPr/>
        </p:nvSpPr>
        <p:spPr>
          <a:xfrm>
            <a:off x="813816" y="713232"/>
            <a:ext cx="10881360" cy="429768"/>
          </a:xfrm>
          <a:prstGeom prst="rect">
            <a:avLst/>
          </a:prstGeom>
          <a:noFill/>
        </p:spPr>
        <p:txBody>
          <a:bodyPr wrap="square" lIns="0" rIns="0" tIns="0" bIns="0" anchor="t">
            <a:spAutoFit/>
          </a:bodyPr>
          <a:lstStyle/>
          <a:p>
            <a:pPr algn="l">
              <a:spcAft>
                <a:spcPts val="800"/>
              </a:spcAft>
            </a:pPr>
            <a:r>
              <a:rPr sz="2800" b="1" i="0">
                <a:solidFill>
                  <a:srgbClr val="1F3A5F"/>
                </a:solidFill>
                <a:latin typeface="IBM Plex Sans"/>
                <a:ea typeface="IBM Plex Sans"/>
                <a:cs typeface="IBM Plex Sans"/>
              </a:rPr>
              <a:t>Golden-section search</a:t>
            </a:r>
          </a:p>
        </p:txBody>
      </p:sp>
      <p:pic>
        <p:nvPicPr>
          <p:cNvPr id="3" name="Picture 2" descr="image.png"/>
          <p:cNvPicPr>
            <a:picLocks noChangeAspect="1"/>
          </p:cNvPicPr>
          <p:nvPr/>
        </p:nvPicPr>
        <p:blipFill>
          <a:blip r:embed="rId2"/>
          <a:stretch>
            <a:fillRect/>
          </a:stretch>
        </p:blipFill>
        <p:spPr>
          <a:xfrm>
            <a:off x="812800" y="1221741"/>
            <a:ext cx="10566400" cy="20320"/>
          </a:xfrm>
          <a:prstGeom prst="rect">
            <a:avLst/>
          </a:prstGeom>
        </p:spPr>
      </p:pic>
      <p:sp>
        <p:nvSpPr>
          <p:cNvPr id="4" name="TextBox 3"/>
          <p:cNvSpPr txBox="1"/>
          <p:nvPr/>
        </p:nvSpPr>
        <p:spPr>
          <a:xfrm>
            <a:off x="813816" y="6236208"/>
            <a:ext cx="7845552" cy="237744"/>
          </a:xfrm>
          <a:prstGeom prst="rect">
            <a:avLst/>
          </a:prstGeom>
          <a:noFill/>
        </p:spPr>
        <p:txBody>
          <a:bodyPr wrap="square" lIns="0" rIns="0" tIns="0" bIns="0" anchor="t">
            <a:spAutoFit/>
          </a:bodyPr>
          <a:lstStyle/>
          <a:p>
            <a:pPr algn="l">
              <a:spcAft>
                <a:spcPts val="800"/>
              </a:spcAft>
            </a:pPr>
            <a:r>
              <a:rPr sz="1200" b="0" i="0">
                <a:solidFill>
                  <a:srgbClr val="6B7280"/>
                </a:solidFill>
                <a:latin typeface="IBM Plex Sans"/>
                <a:ea typeface="IBM Plex Sans"/>
                <a:cs typeface="IBM Plex Sans"/>
              </a:rPr>
              <a:t>Sizan's part · Lima-Silva &amp; Freitas (2024): reproduction and improvements</a:t>
            </a:r>
          </a:p>
        </p:txBody>
      </p:sp>
      <p:sp>
        <p:nvSpPr>
          <p:cNvPr id="5" name="TextBox 4"/>
          <p:cNvSpPr txBox="1"/>
          <p:nvPr/>
        </p:nvSpPr>
        <p:spPr>
          <a:xfrm>
            <a:off x="10058400" y="6236208"/>
            <a:ext cx="1316736" cy="237744"/>
          </a:xfrm>
          <a:prstGeom prst="rect">
            <a:avLst/>
          </a:prstGeom>
          <a:noFill/>
        </p:spPr>
        <p:txBody>
          <a:bodyPr wrap="square" lIns="0" rIns="0" tIns="0" bIns="0" anchor="t">
            <a:spAutoFit/>
          </a:bodyPr>
          <a:lstStyle/>
          <a:p>
            <a:pPr algn="r">
              <a:spcAft>
                <a:spcPts val="800"/>
              </a:spcAft>
            </a:pPr>
            <a:r>
              <a:rPr sz="1200" b="0" i="0">
                <a:solidFill>
                  <a:srgbClr val="6B7280"/>
                </a:solidFill>
                <a:latin typeface="IBM Plex Sans"/>
                <a:ea typeface="IBM Plex Sans"/>
                <a:cs typeface="IBM Plex Sans"/>
              </a:rPr>
              <a:t>11</a:t>
            </a:r>
          </a:p>
        </p:txBody>
      </p:sp>
      <p:cxnSp>
        <p:nvCxnSpPr>
          <p:cNvPr id="6" name="Connector 5"/>
          <p:cNvCxnSpPr/>
          <p:nvPr/>
        </p:nvCxnSpPr>
        <p:spPr>
          <a:xfrm>
            <a:off x="1088136" y="2148840"/>
            <a:ext cx="5486400" cy="0"/>
          </a:xfrm>
          <a:prstGeom prst="line">
            <a:avLst/>
          </a:prstGeom>
          <a:ln w="25400">
            <a:solidFill>
              <a:srgbClr val="1B1F2A"/>
            </a:solidFill>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1005840" y="2066544"/>
            <a:ext cx="164592" cy="164592"/>
          </a:xfrm>
          <a:prstGeom prst="ellipse">
            <a:avLst/>
          </a:prstGeom>
          <a:solidFill>
            <a:srgbClr val="1B1F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3816" y="2313432"/>
            <a:ext cx="548640" cy="365760"/>
          </a:xfrm>
          <a:prstGeom prst="rect">
            <a:avLst/>
          </a:prstGeom>
          <a:noFill/>
        </p:spPr>
        <p:txBody>
          <a:bodyPr wrap="square" lIns="0" rIns="0" tIns="0" bIns="0" anchor="t">
            <a:spAutoFit/>
          </a:bodyPr>
          <a:lstStyle/>
          <a:p>
            <a:pPr algn="ctr">
              <a:spcAft>
                <a:spcPts val="800"/>
              </a:spcAft>
            </a:pPr>
            <a:r>
              <a:rPr sz="1800" b="1" i="0">
                <a:solidFill>
                  <a:srgbClr val="1B1F2A"/>
                </a:solidFill>
                <a:latin typeface="IBM Plex Sans"/>
                <a:ea typeface="IBM Plex Sans"/>
                <a:cs typeface="IBM Plex Sans"/>
              </a:rPr>
              <a:t>a</a:t>
            </a:r>
          </a:p>
        </p:txBody>
      </p:sp>
      <p:sp>
        <p:nvSpPr>
          <p:cNvPr id="9" name="Oval 8"/>
          <p:cNvSpPr/>
          <p:nvPr/>
        </p:nvSpPr>
        <p:spPr>
          <a:xfrm>
            <a:off x="3101644" y="2066544"/>
            <a:ext cx="164592" cy="164592"/>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09620" y="2313432"/>
            <a:ext cx="548640" cy="365760"/>
          </a:xfrm>
          <a:prstGeom prst="rect">
            <a:avLst/>
          </a:prstGeom>
          <a:noFill/>
        </p:spPr>
        <p:txBody>
          <a:bodyPr wrap="square" lIns="0" rIns="0" tIns="0" bIns="0" anchor="t">
            <a:spAutoFit/>
          </a:bodyPr>
          <a:lstStyle/>
          <a:p>
            <a:pPr algn="ctr">
              <a:spcAft>
                <a:spcPts val="800"/>
              </a:spcAft>
            </a:pPr>
            <a:r>
              <a:rPr sz="1800" b="1" i="0">
                <a:solidFill>
                  <a:srgbClr val="1F3A5F"/>
                </a:solidFill>
                <a:latin typeface="IBM Plex Sans"/>
                <a:ea typeface="IBM Plex Sans"/>
                <a:cs typeface="IBM Plex Sans"/>
              </a:rPr>
              <a:t>c</a:t>
            </a:r>
          </a:p>
        </p:txBody>
      </p:sp>
      <p:sp>
        <p:nvSpPr>
          <p:cNvPr id="11" name="Oval 10"/>
          <p:cNvSpPr/>
          <p:nvPr/>
        </p:nvSpPr>
        <p:spPr>
          <a:xfrm>
            <a:off x="4396435" y="2066544"/>
            <a:ext cx="164592" cy="164592"/>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04411" y="2313432"/>
            <a:ext cx="548640" cy="365760"/>
          </a:xfrm>
          <a:prstGeom prst="rect">
            <a:avLst/>
          </a:prstGeom>
          <a:noFill/>
        </p:spPr>
        <p:txBody>
          <a:bodyPr wrap="square" lIns="0" rIns="0" tIns="0" bIns="0" anchor="t">
            <a:spAutoFit/>
          </a:bodyPr>
          <a:lstStyle/>
          <a:p>
            <a:pPr algn="ctr">
              <a:spcAft>
                <a:spcPts val="800"/>
              </a:spcAft>
            </a:pPr>
            <a:r>
              <a:rPr sz="1800" b="1" i="0">
                <a:solidFill>
                  <a:srgbClr val="1F3A5F"/>
                </a:solidFill>
                <a:latin typeface="IBM Plex Sans"/>
                <a:ea typeface="IBM Plex Sans"/>
                <a:cs typeface="IBM Plex Sans"/>
              </a:rPr>
              <a:t>d</a:t>
            </a:r>
          </a:p>
        </p:txBody>
      </p:sp>
      <p:sp>
        <p:nvSpPr>
          <p:cNvPr id="13" name="Oval 12"/>
          <p:cNvSpPr/>
          <p:nvPr/>
        </p:nvSpPr>
        <p:spPr>
          <a:xfrm>
            <a:off x="6492240" y="2066544"/>
            <a:ext cx="164592" cy="164592"/>
          </a:xfrm>
          <a:prstGeom prst="ellipse">
            <a:avLst/>
          </a:prstGeom>
          <a:solidFill>
            <a:srgbClr val="1B1F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0216" y="2313432"/>
            <a:ext cx="548640" cy="365760"/>
          </a:xfrm>
          <a:prstGeom prst="rect">
            <a:avLst/>
          </a:prstGeom>
          <a:noFill/>
        </p:spPr>
        <p:txBody>
          <a:bodyPr wrap="square" lIns="0" rIns="0" tIns="0" bIns="0" anchor="t">
            <a:spAutoFit/>
          </a:bodyPr>
          <a:lstStyle/>
          <a:p>
            <a:pPr algn="ctr">
              <a:spcAft>
                <a:spcPts val="800"/>
              </a:spcAft>
            </a:pPr>
            <a:r>
              <a:rPr sz="1800" b="1" i="0">
                <a:solidFill>
                  <a:srgbClr val="1B1F2A"/>
                </a:solidFill>
                <a:latin typeface="IBM Plex Sans"/>
                <a:ea typeface="IBM Plex Sans"/>
                <a:cs typeface="IBM Plex Sans"/>
              </a:rPr>
              <a:t>b</a:t>
            </a:r>
          </a:p>
        </p:txBody>
      </p:sp>
      <p:pic>
        <p:nvPicPr>
          <p:cNvPr id="15" name="Picture 14" descr="s_golden.png"/>
          <p:cNvPicPr>
            <a:picLocks noChangeAspect="1"/>
          </p:cNvPicPr>
          <p:nvPr/>
        </p:nvPicPr>
        <p:blipFill>
          <a:blip r:embed="rId3"/>
          <a:stretch>
            <a:fillRect/>
          </a:stretch>
        </p:blipFill>
        <p:spPr>
          <a:xfrm>
            <a:off x="813816" y="2971800"/>
            <a:ext cx="5812536" cy="411480"/>
          </a:xfrm>
          <a:prstGeom prst="rect">
            <a:avLst/>
          </a:prstGeom>
        </p:spPr>
      </p:pic>
      <p:sp>
        <p:nvSpPr>
          <p:cNvPr id="16" name="TextBox 15"/>
          <p:cNvSpPr txBox="1"/>
          <p:nvPr/>
        </p:nvSpPr>
        <p:spPr>
          <a:xfrm>
            <a:off x="813816" y="4023360"/>
            <a:ext cx="6035040" cy="1463040"/>
          </a:xfrm>
          <a:prstGeom prst="rect">
            <a:avLst/>
          </a:prstGeom>
          <a:noFill/>
        </p:spPr>
        <p:txBody>
          <a:bodyPr wrap="square" lIns="0" rIns="0" tIns="0" bIns="0" anchor="t">
            <a:spAutoFit/>
          </a:bodyPr>
          <a:lstStyle/>
          <a:p>
            <a:pPr algn="l" marL="228600" indent="-228600">
              <a:spcAft>
                <a:spcPts val="800"/>
              </a:spcAft>
              <a:buFont typeface="Arial"/>
              <a:buChar char="•"/>
            </a:pPr>
            <a:r>
              <a:rPr sz="1600" b="0" i="0">
                <a:solidFill>
                  <a:srgbClr val="1B1F2A"/>
                </a:solidFill>
                <a:latin typeface="IBM Plex Sans"/>
                <a:ea typeface="IBM Plex Sans"/>
                <a:cs typeface="IBM Plex Sans"/>
              </a:rPr>
              <a:t>keep [a, d] if f(c) ≤ f(d), else [c, b]</a:t>
            </a:r>
          </a:p>
          <a:p>
            <a:pPr algn="l" marL="228600" indent="-228600">
              <a:spcAft>
                <a:spcPts val="800"/>
              </a:spcAft>
              <a:buFont typeface="Arial"/>
              <a:buChar char="•"/>
            </a:pPr>
            <a:r>
              <a:rPr sz="1600" b="0" i="0">
                <a:solidFill>
                  <a:srgbClr val="1B1F2A"/>
                </a:solidFill>
                <a:latin typeface="IBM Plex Sans"/>
                <a:ea typeface="IBM Plex Sans"/>
                <a:cs typeface="IBM Plex Sans"/>
              </a:rPr>
              <a:t>one point is reused: one new solve per step</a:t>
            </a:r>
          </a:p>
        </p:txBody>
      </p:sp>
      <p:sp>
        <p:nvSpPr>
          <p:cNvPr id="17" name="TextBox 16"/>
          <p:cNvSpPr txBox="1"/>
          <p:nvPr/>
        </p:nvSpPr>
        <p:spPr>
          <a:xfrm>
            <a:off x="7863840" y="1645920"/>
            <a:ext cx="3566160" cy="3840480"/>
          </a:xfrm>
          <a:prstGeom prst="rect">
            <a:avLst/>
          </a:prstGeom>
          <a:noFill/>
        </p:spPr>
        <p:txBody>
          <a:bodyPr wrap="square" lIns="0" rIns="0" tIns="0" bIns="0" anchor="t">
            <a:spAutoFit/>
          </a:bodyPr>
          <a:lstStyle/>
          <a:p>
            <a:pPr algn="l">
              <a:spcAft>
                <a:spcPts val="200"/>
              </a:spcAft>
            </a:pPr>
            <a:r>
              <a:rPr sz="1700" b="1" i="0">
                <a:solidFill>
                  <a:srgbClr val="1F3A5F"/>
                </a:solidFill>
                <a:latin typeface="IBM Plex Sans"/>
                <a:ea typeface="IBM Plex Sans"/>
                <a:cs typeface="IBM Plex Sans"/>
              </a:rPr>
              <a:t>Minimise</a:t>
            </a:r>
          </a:p>
          <a:p>
            <a:pPr algn="l">
              <a:spcAft>
                <a:spcPts val="200"/>
              </a:spcAft>
            </a:pPr>
            <a:r>
              <a:rPr sz="1700" b="0" i="0">
                <a:solidFill>
                  <a:srgbClr val="1B1F2A"/>
                </a:solidFill>
                <a:latin typeface="IBM Plex Sans"/>
                <a:ea typeface="IBM Plex Sans"/>
                <a:cs typeface="IBM Plex Sans"/>
              </a:rPr>
              <a:t>number of LUs of the whole solve</a:t>
            </a:r>
          </a:p>
          <a:p>
            <a:pPr algn="l">
              <a:spcAft>
                <a:spcPts val="200"/>
              </a:spcAft>
            </a:pPr>
            <a:r>
              <a:rPr sz="1700" b="0" i="0">
                <a:solidFill>
                  <a:srgbClr val="1B1F2A"/>
                </a:solidFill>
                <a:latin typeface="IBM Plex Sans"/>
                <a:ea typeface="IBM Plex Sans"/>
                <a:cs typeface="IBM Plex Sans"/>
              </a:rPr>
              <a:t/>
            </a:r>
          </a:p>
          <a:p>
            <a:pPr algn="l">
              <a:spcAft>
                <a:spcPts val="200"/>
              </a:spcAft>
            </a:pPr>
            <a:r>
              <a:rPr sz="1700" b="1" i="0">
                <a:solidFill>
                  <a:srgbClr val="1F3A5F"/>
                </a:solidFill>
                <a:latin typeface="IBM Plex Sans"/>
                <a:ea typeface="IBM Plex Sans"/>
                <a:cs typeface="IBM Plex Sans"/>
              </a:rPr>
              <a:t>Over</a:t>
            </a:r>
          </a:p>
          <a:p>
            <a:pPr algn="l">
              <a:spcAft>
                <a:spcPts val="200"/>
              </a:spcAft>
            </a:pPr>
            <a:r>
              <a:rPr sz="1700" b="0" i="0">
                <a:solidFill>
                  <a:srgbClr val="1B1F2A"/>
                </a:solidFill>
                <a:latin typeface="IBM Plex Sans"/>
                <a:ea typeface="IBM Plex Sans"/>
                <a:cs typeface="IBM Plex Sans"/>
              </a:rPr>
              <a:t>log₁₀ δ ∈ [−4, 1], then log₁₀ Δt₀</a:t>
            </a:r>
          </a:p>
          <a:p>
            <a:pPr algn="l">
              <a:spcAft>
                <a:spcPts val="200"/>
              </a:spcAft>
            </a:pPr>
            <a:r>
              <a:rPr sz="1700" b="0" i="0">
                <a:solidFill>
                  <a:srgbClr val="1B1F2A"/>
                </a:solidFill>
                <a:latin typeface="IBM Plex Sans"/>
                <a:ea typeface="IBM Plex Sans"/>
                <a:cs typeface="IBM Plex Sans"/>
              </a:rPr>
              <a:t/>
            </a:r>
          </a:p>
          <a:p>
            <a:pPr algn="l">
              <a:spcAft>
                <a:spcPts val="200"/>
              </a:spcAft>
            </a:pPr>
            <a:r>
              <a:rPr sz="1700" b="1" i="0">
                <a:solidFill>
                  <a:srgbClr val="1F3A5F"/>
                </a:solidFill>
                <a:latin typeface="IBM Plex Sans"/>
                <a:ea typeface="IBM Plex Sans"/>
                <a:cs typeface="IBM Plex Sans"/>
              </a:rPr>
              <a:t>Cost</a:t>
            </a:r>
          </a:p>
          <a:p>
            <a:pPr algn="l">
              <a:spcAft>
                <a:spcPts val="200"/>
              </a:spcAft>
            </a:pPr>
            <a:r>
              <a:rPr sz="1700" b="0" i="0">
                <a:solidFill>
                  <a:srgbClr val="1B1F2A"/>
                </a:solidFill>
                <a:latin typeface="IBM Plex Sans"/>
                <a:ea typeface="IBM Plex Sans"/>
                <a:cs typeface="IBM Plex Sans"/>
              </a:rPr>
              <a:t>11 + 10 = 21 solves per grid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BFBF9"/>
        </a:solidFill>
        <a:effectLst/>
      </p:bgPr>
    </p:bg>
    <p:spTree>
      <p:nvGrpSpPr>
        <p:cNvPr id="1" name=""/>
        <p:cNvGrpSpPr/>
        <p:nvPr/>
      </p:nvGrpSpPr>
      <p:grpSpPr/>
      <p:sp>
        <p:nvSpPr>
          <p:cNvPr id="2" name="TextBox 1"/>
          <p:cNvSpPr txBox="1"/>
          <p:nvPr/>
        </p:nvSpPr>
        <p:spPr>
          <a:xfrm>
            <a:off x="813816" y="713232"/>
            <a:ext cx="10881360" cy="429768"/>
          </a:xfrm>
          <a:prstGeom prst="rect">
            <a:avLst/>
          </a:prstGeom>
          <a:noFill/>
        </p:spPr>
        <p:txBody>
          <a:bodyPr wrap="square" lIns="0" rIns="0" tIns="0" bIns="0" anchor="t">
            <a:spAutoFit/>
          </a:bodyPr>
          <a:lstStyle/>
          <a:p>
            <a:pPr algn="l">
              <a:spcAft>
                <a:spcPts val="800"/>
              </a:spcAft>
            </a:pPr>
            <a:r>
              <a:rPr sz="2800" b="1" i="0">
                <a:solidFill>
                  <a:srgbClr val="1F3A5F"/>
                </a:solidFill>
                <a:latin typeface="IBM Plex Sans"/>
                <a:ea typeface="IBM Plex Sans"/>
                <a:cs typeface="IBM Plex Sans"/>
              </a:rPr>
              <a:t>What tuning δ showed</a:t>
            </a:r>
          </a:p>
        </p:txBody>
      </p:sp>
      <p:pic>
        <p:nvPicPr>
          <p:cNvPr id="3" name="Picture 2" descr="image.png"/>
          <p:cNvPicPr>
            <a:picLocks noChangeAspect="1"/>
          </p:cNvPicPr>
          <p:nvPr/>
        </p:nvPicPr>
        <p:blipFill>
          <a:blip r:embed="rId2"/>
          <a:stretch>
            <a:fillRect/>
          </a:stretch>
        </p:blipFill>
        <p:spPr>
          <a:xfrm>
            <a:off x="812800" y="1221741"/>
            <a:ext cx="10566400" cy="20320"/>
          </a:xfrm>
          <a:prstGeom prst="rect">
            <a:avLst/>
          </a:prstGeom>
        </p:spPr>
      </p:pic>
      <p:sp>
        <p:nvSpPr>
          <p:cNvPr id="4" name="TextBox 3"/>
          <p:cNvSpPr txBox="1"/>
          <p:nvPr/>
        </p:nvSpPr>
        <p:spPr>
          <a:xfrm>
            <a:off x="813816" y="6236208"/>
            <a:ext cx="7845552" cy="237744"/>
          </a:xfrm>
          <a:prstGeom prst="rect">
            <a:avLst/>
          </a:prstGeom>
          <a:noFill/>
        </p:spPr>
        <p:txBody>
          <a:bodyPr wrap="square" lIns="0" rIns="0" tIns="0" bIns="0" anchor="t">
            <a:spAutoFit/>
          </a:bodyPr>
          <a:lstStyle/>
          <a:p>
            <a:pPr algn="l">
              <a:spcAft>
                <a:spcPts val="800"/>
              </a:spcAft>
            </a:pPr>
            <a:r>
              <a:rPr sz="1200" b="0" i="0">
                <a:solidFill>
                  <a:srgbClr val="6B7280"/>
                </a:solidFill>
                <a:latin typeface="IBM Plex Sans"/>
                <a:ea typeface="IBM Plex Sans"/>
                <a:cs typeface="IBM Plex Sans"/>
              </a:rPr>
              <a:t>Sizan's part · Lima-Silva &amp; Freitas (2024): reproduction and improvements</a:t>
            </a:r>
          </a:p>
        </p:txBody>
      </p:sp>
      <p:sp>
        <p:nvSpPr>
          <p:cNvPr id="5" name="TextBox 4"/>
          <p:cNvSpPr txBox="1"/>
          <p:nvPr/>
        </p:nvSpPr>
        <p:spPr>
          <a:xfrm>
            <a:off x="10058400" y="6236208"/>
            <a:ext cx="1316736" cy="237744"/>
          </a:xfrm>
          <a:prstGeom prst="rect">
            <a:avLst/>
          </a:prstGeom>
          <a:noFill/>
        </p:spPr>
        <p:txBody>
          <a:bodyPr wrap="square" lIns="0" rIns="0" tIns="0" bIns="0" anchor="t">
            <a:spAutoFit/>
          </a:bodyPr>
          <a:lstStyle/>
          <a:p>
            <a:pPr algn="r">
              <a:spcAft>
                <a:spcPts val="800"/>
              </a:spcAft>
            </a:pPr>
            <a:r>
              <a:rPr sz="1200" b="0" i="0">
                <a:solidFill>
                  <a:srgbClr val="6B7280"/>
                </a:solidFill>
                <a:latin typeface="IBM Plex Sans"/>
                <a:ea typeface="IBM Plex Sans"/>
                <a:cs typeface="IBM Plex Sans"/>
              </a:rPr>
              <a:t>12</a:t>
            </a:r>
          </a:p>
        </p:txBody>
      </p:sp>
      <p:pic>
        <p:nvPicPr>
          <p:cNvPr id="6" name="Picture 5" descr="tuning.png"/>
          <p:cNvPicPr>
            <a:picLocks noChangeAspect="1"/>
          </p:cNvPicPr>
          <p:nvPr/>
        </p:nvPicPr>
        <p:blipFill>
          <a:blip r:embed="rId3"/>
          <a:stretch>
            <a:fillRect/>
          </a:stretch>
        </p:blipFill>
        <p:spPr>
          <a:xfrm>
            <a:off x="722376" y="1371600"/>
            <a:ext cx="5342691" cy="4114800"/>
          </a:xfrm>
          <a:prstGeom prst="rect">
            <a:avLst/>
          </a:prstGeom>
        </p:spPr>
      </p:pic>
      <p:sp>
        <p:nvSpPr>
          <p:cNvPr id="7" name="TextBox 6"/>
          <p:cNvSpPr txBox="1"/>
          <p:nvPr/>
        </p:nvSpPr>
        <p:spPr>
          <a:xfrm>
            <a:off x="6720840" y="1463040"/>
            <a:ext cx="4572000" cy="457200"/>
          </a:xfrm>
          <a:prstGeom prst="rect">
            <a:avLst/>
          </a:prstGeom>
          <a:noFill/>
        </p:spPr>
        <p:txBody>
          <a:bodyPr wrap="square" lIns="0" rIns="0" tIns="0" bIns="0" anchor="t">
            <a:spAutoFit/>
          </a:bodyPr>
          <a:lstStyle/>
          <a:p>
            <a:pPr algn="l">
              <a:spcAft>
                <a:spcPts val="800"/>
              </a:spcAft>
            </a:pPr>
            <a:r>
              <a:rPr sz="1600" b="1" i="0">
                <a:solidFill>
                  <a:srgbClr val="1F3A5F"/>
                </a:solidFill>
                <a:latin typeface="IBM Plex Sans"/>
                <a:ea typeface="IBM Plex Sans"/>
                <a:cs typeface="IBM Plex Sans"/>
              </a:rPr>
              <a:t>Rules fitted on 9 grids, tested on 25</a:t>
            </a:r>
          </a:p>
        </p:txBody>
      </p:sp>
      <p:graphicFrame>
        <p:nvGraphicFramePr>
          <p:cNvPr id="8" name="Table 7"/>
          <p:cNvGraphicFramePr>
            <a:graphicFrameLocks noGrp="1"/>
          </p:cNvGraphicFramePr>
          <p:nvPr/>
        </p:nvGraphicFramePr>
        <p:xfrm>
          <a:off x="6720840" y="1965960"/>
          <a:ext cx="4206240" cy="2103120"/>
        </p:xfrm>
        <a:graphic>
          <a:graphicData uri="http://schemas.openxmlformats.org/drawingml/2006/table">
            <a:tbl>
              <a:tblPr firstRow="0" bandRow="0">
                <a:tableStyleId>{2D5ABB26-0587-4C30-8999-92F81FD0307C}</a:tableStyleId>
              </a:tblPr>
              <a:tblGrid>
                <a:gridCol w="2651760"/>
                <a:gridCol w="1554480"/>
              </a:tblGrid>
              <a:tr h="420624">
                <a:tc>
                  <a:txBody>
                    <a:bodyPr wrap="square"/>
                    <a:lstStyle/>
                    <a:p>
                      <a:pPr algn="l"/>
                      <a:r>
                        <a:rPr sz="1500" b="1" i="0">
                          <a:solidFill>
                            <a:srgbClr val="1B1F2A"/>
                          </a:solidFill>
                          <a:latin typeface="IBM Plex Sans"/>
                          <a:ea typeface="IBM Plex Sans"/>
                          <a:cs typeface="IBM Plex Sans"/>
                        </a:rPr>
                        <a:t>How δ is chosen</a:t>
                      </a:r>
                    </a:p>
                  </a:txBody>
                  <a:tcPr marL="73152" marR="73152" marT="36576" marB="36576" anchor="ctr">
                    <a:lnL w="0">
                      <a:noFill/>
                    </a:lnL>
                    <a:lnR w="0">
                      <a:noFill/>
                    </a:lnR>
                    <a:lnT w="0">
                      <a:noFill/>
                    </a:lnT>
                    <a:lnB w="12700">
                      <a:solidFill>
                        <a:srgbClr val="C8C8C6"/>
                      </a:solidFill>
                    </a:lnB>
                    <a:solidFill>
                      <a:srgbClr val="E9E9E7"/>
                    </a:solidFill>
                  </a:tcPr>
                </a:tc>
                <a:tc>
                  <a:txBody>
                    <a:bodyPr wrap="square"/>
                    <a:lstStyle/>
                    <a:p>
                      <a:pPr algn="r"/>
                      <a:r>
                        <a:rPr sz="1500" b="1" i="0">
                          <a:solidFill>
                            <a:srgbClr val="1B1F2A"/>
                          </a:solidFill>
                          <a:latin typeface="IBM Plex Sans"/>
                          <a:ea typeface="IBM Plex Sans"/>
                          <a:cs typeface="IBM Plex Sans"/>
                        </a:rPr>
                        <a:t>Test solved</a:t>
                      </a:r>
                    </a:p>
                  </a:txBody>
                  <a:tcPr marL="73152" marR="73152" marT="36576" marB="36576" anchor="ctr">
                    <a:lnL w="0">
                      <a:noFill/>
                    </a:lnL>
                    <a:lnR w="0">
                      <a:noFill/>
                    </a:lnR>
                    <a:lnT w="0">
                      <a:noFill/>
                    </a:lnT>
                    <a:lnB w="12700">
                      <a:solidFill>
                        <a:srgbClr val="C8C8C6"/>
                      </a:solidFill>
                    </a:lnB>
                    <a:solidFill>
                      <a:srgbClr val="E9E9E7"/>
                    </a:solidFill>
                  </a:tcPr>
                </a:tc>
              </a:tr>
              <a:tr h="420624">
                <a:tc>
                  <a:txBody>
                    <a:bodyPr wrap="square"/>
                    <a:lstStyle/>
                    <a:p>
                      <a:pPr algn="l"/>
                      <a:r>
                        <a:rPr sz="1500" b="0" i="0">
                          <a:solidFill>
                            <a:srgbClr val="1B1F2A"/>
                          </a:solidFill>
                          <a:latin typeface="IBM Plex Sans"/>
                          <a:ea typeface="IBM Plex Sans"/>
                          <a:cs typeface="IBM Plex Sans"/>
                        </a:rPr>
                        <a:t>paper, δ = 0.02</a:t>
                      </a:r>
                    </a:p>
                  </a:txBody>
                  <a:tcPr marL="73152" marR="73152" marT="36576" marB="36576" anchor="ctr">
                    <a:lnL w="0">
                      <a:noFill/>
                    </a:lnL>
                    <a:lnR w="0">
                      <a:noFill/>
                    </a:lnR>
                    <a:lnT w="0">
                      <a:noFill/>
                    </a:lnT>
                    <a:lnB w="12700">
                      <a:solidFill>
                        <a:srgbClr val="C8C8C6"/>
                      </a:solidFill>
                    </a:lnB>
                    <a:solidFill>
                      <a:srgbClr val="FBFBF9"/>
                    </a:solidFill>
                  </a:tcPr>
                </a:tc>
                <a:tc>
                  <a:txBody>
                    <a:bodyPr wrap="square"/>
                    <a:lstStyle/>
                    <a:p>
                      <a:pPr algn="r"/>
                      <a:r>
                        <a:rPr sz="1500" b="0" i="0">
                          <a:solidFill>
                            <a:srgbClr val="1B1F2A"/>
                          </a:solidFill>
                          <a:latin typeface="IBM Plex Sans"/>
                          <a:ea typeface="IBM Plex Sans"/>
                          <a:cs typeface="IBM Plex Sans"/>
                        </a:rPr>
                        <a:t>19 / 25</a:t>
                      </a:r>
                    </a:p>
                  </a:txBody>
                  <a:tcPr marL="73152" marR="73152" marT="36576" marB="36576" anchor="ctr">
                    <a:lnL w="0">
                      <a:noFill/>
                    </a:lnL>
                    <a:lnR w="0">
                      <a:noFill/>
                    </a:lnR>
                    <a:lnT w="0">
                      <a:noFill/>
                    </a:lnT>
                    <a:lnB w="12700">
                      <a:solidFill>
                        <a:srgbClr val="C8C8C6"/>
                      </a:solidFill>
                    </a:lnB>
                    <a:solidFill>
                      <a:srgbClr val="FBFBF9"/>
                    </a:solidFill>
                  </a:tcPr>
                </a:tc>
              </a:tr>
              <a:tr h="420624">
                <a:tc>
                  <a:txBody>
                    <a:bodyPr wrap="square"/>
                    <a:lstStyle/>
                    <a:p>
                      <a:pPr algn="l"/>
                      <a:r>
                        <a:rPr sz="1500" b="0" i="0">
                          <a:solidFill>
                            <a:srgbClr val="1B1F2A"/>
                          </a:solidFill>
                          <a:latin typeface="IBM Plex Sans"/>
                          <a:ea typeface="IBM Plex Sans"/>
                          <a:cs typeface="IBM Plex Sans"/>
                        </a:rPr>
                        <a:t>fixed, δ = 0.011</a:t>
                      </a:r>
                    </a:p>
                  </a:txBody>
                  <a:tcPr marL="73152" marR="73152" marT="36576" marB="36576" anchor="ctr">
                    <a:lnL w="0">
                      <a:noFill/>
                    </a:lnL>
                    <a:lnR w="0">
                      <a:noFill/>
                    </a:lnR>
                    <a:lnT w="0">
                      <a:noFill/>
                    </a:lnT>
                    <a:lnB w="12700">
                      <a:solidFill>
                        <a:srgbClr val="C8C8C6"/>
                      </a:solidFill>
                    </a:lnB>
                    <a:solidFill>
                      <a:srgbClr val="FBFBF9"/>
                    </a:solidFill>
                  </a:tcPr>
                </a:tc>
                <a:tc>
                  <a:txBody>
                    <a:bodyPr wrap="square"/>
                    <a:lstStyle/>
                    <a:p>
                      <a:pPr algn="r"/>
                      <a:r>
                        <a:rPr sz="1500" b="0" i="0">
                          <a:solidFill>
                            <a:srgbClr val="1B1F2A"/>
                          </a:solidFill>
                          <a:latin typeface="IBM Plex Sans"/>
                          <a:ea typeface="IBM Plex Sans"/>
                          <a:cs typeface="IBM Plex Sans"/>
                        </a:rPr>
                        <a:t>19 / 25</a:t>
                      </a:r>
                    </a:p>
                  </a:txBody>
                  <a:tcPr marL="73152" marR="73152" marT="36576" marB="36576" anchor="ctr">
                    <a:lnL w="0">
                      <a:noFill/>
                    </a:lnL>
                    <a:lnR w="0">
                      <a:noFill/>
                    </a:lnR>
                    <a:lnT w="0">
                      <a:noFill/>
                    </a:lnT>
                    <a:lnB w="12700">
                      <a:solidFill>
                        <a:srgbClr val="C8C8C6"/>
                      </a:solidFill>
                    </a:lnB>
                    <a:solidFill>
                      <a:srgbClr val="FBFBF9"/>
                    </a:solidFill>
                  </a:tcPr>
                </a:tc>
              </a:tr>
              <a:tr h="420624">
                <a:tc>
                  <a:txBody>
                    <a:bodyPr wrap="square"/>
                    <a:lstStyle/>
                    <a:p>
                      <a:pPr algn="l"/>
                      <a:r>
                        <a:rPr sz="1500" b="0" i="0">
                          <a:solidFill>
                            <a:srgbClr val="1B1F2A"/>
                          </a:solidFill>
                          <a:latin typeface="IBM Plex Sans"/>
                          <a:ea typeface="IBM Plex Sans"/>
                          <a:cs typeface="IBM Plex Sans"/>
                        </a:rPr>
                        <a:t>spectral, 1.86 |λ|min</a:t>
                      </a:r>
                    </a:p>
                  </a:txBody>
                  <a:tcPr marL="73152" marR="73152" marT="36576" marB="36576" anchor="ctr">
                    <a:lnL w="0">
                      <a:noFill/>
                    </a:lnL>
                    <a:lnR w="0">
                      <a:noFill/>
                    </a:lnR>
                    <a:lnT w="0">
                      <a:noFill/>
                    </a:lnT>
                    <a:lnB w="12700">
                      <a:solidFill>
                        <a:srgbClr val="C8C8C6"/>
                      </a:solidFill>
                    </a:lnB>
                    <a:solidFill>
                      <a:srgbClr val="FBFBF9"/>
                    </a:solidFill>
                  </a:tcPr>
                </a:tc>
                <a:tc>
                  <a:txBody>
                    <a:bodyPr wrap="square"/>
                    <a:lstStyle/>
                    <a:p>
                      <a:pPr algn="r"/>
                      <a:r>
                        <a:rPr sz="1500" b="0" i="0">
                          <a:solidFill>
                            <a:srgbClr val="1B1F2A"/>
                          </a:solidFill>
                          <a:latin typeface="IBM Plex Sans"/>
                          <a:ea typeface="IBM Plex Sans"/>
                          <a:cs typeface="IBM Plex Sans"/>
                        </a:rPr>
                        <a:t>20 / 25</a:t>
                      </a:r>
                    </a:p>
                  </a:txBody>
                  <a:tcPr marL="73152" marR="73152" marT="36576" marB="36576" anchor="ctr">
                    <a:lnL w="0">
                      <a:noFill/>
                    </a:lnL>
                    <a:lnR w="0">
                      <a:noFill/>
                    </a:lnR>
                    <a:lnT w="0">
                      <a:noFill/>
                    </a:lnT>
                    <a:lnB w="12700">
                      <a:solidFill>
                        <a:srgbClr val="C8C8C6"/>
                      </a:solidFill>
                    </a:lnB>
                    <a:solidFill>
                      <a:srgbClr val="FBFBF9"/>
                    </a:solidFill>
                  </a:tcPr>
                </a:tc>
              </a:tr>
              <a:tr h="420624">
                <a:tc>
                  <a:txBody>
                    <a:bodyPr wrap="square"/>
                    <a:lstStyle/>
                    <a:p>
                      <a:pPr algn="l"/>
                      <a:r>
                        <a:rPr sz="1500" b="0" i="0">
                          <a:solidFill>
                            <a:srgbClr val="1B1F2A"/>
                          </a:solidFill>
                          <a:latin typeface="IBM Plex Sans"/>
                          <a:ea typeface="IBM Plex Sans"/>
                          <a:cs typeface="IBM Plex Sans"/>
                        </a:rPr>
                        <a:t>golden search</a:t>
                      </a:r>
                    </a:p>
                  </a:txBody>
                  <a:tcPr marL="73152" marR="73152" marT="36576" marB="36576" anchor="ctr">
                    <a:lnL w="0">
                      <a:noFill/>
                    </a:lnL>
                    <a:lnR w="0">
                      <a:noFill/>
                    </a:lnR>
                    <a:lnT w="0">
                      <a:noFill/>
                    </a:lnT>
                    <a:lnB w="12700">
                      <a:solidFill>
                        <a:srgbClr val="C8C8C6"/>
                      </a:solidFill>
                    </a:lnB>
                    <a:solidFill>
                      <a:srgbClr val="FBFBF9"/>
                    </a:solidFill>
                  </a:tcPr>
                </a:tc>
                <a:tc>
                  <a:txBody>
                    <a:bodyPr wrap="square"/>
                    <a:lstStyle/>
                    <a:p>
                      <a:pPr algn="r"/>
                      <a:r>
                        <a:rPr sz="1500" b="0" i="0">
                          <a:solidFill>
                            <a:srgbClr val="2F8F5B"/>
                          </a:solidFill>
                          <a:latin typeface="IBM Plex Sans"/>
                          <a:ea typeface="IBM Plex Sans"/>
                          <a:cs typeface="IBM Plex Sans"/>
                        </a:rPr>
                        <a:t>23 / 25</a:t>
                      </a:r>
                    </a:p>
                  </a:txBody>
                  <a:tcPr marL="73152" marR="73152" marT="36576" marB="36576" anchor="ctr">
                    <a:lnL w="0">
                      <a:noFill/>
                    </a:lnL>
                    <a:lnR w="0">
                      <a:noFill/>
                    </a:lnR>
                    <a:lnT w="0">
                      <a:noFill/>
                    </a:lnT>
                    <a:lnB w="12700">
                      <a:solidFill>
                        <a:srgbClr val="C8C8C6"/>
                      </a:solidFill>
                    </a:lnB>
                    <a:solidFill>
                      <a:srgbClr val="FBFBF9"/>
                    </a:solidFill>
                  </a:tcPr>
                </a:tc>
              </a:tr>
            </a:tbl>
          </a:graphicData>
        </a:graphic>
      </p:graphicFrame>
      <p:sp>
        <p:nvSpPr>
          <p:cNvPr id="9" name="TextBox 8"/>
          <p:cNvSpPr txBox="1"/>
          <p:nvPr/>
        </p:nvSpPr>
        <p:spPr>
          <a:xfrm>
            <a:off x="6720840" y="4251960"/>
            <a:ext cx="4389120" cy="1188720"/>
          </a:xfrm>
          <a:prstGeom prst="rect">
            <a:avLst/>
          </a:prstGeom>
          <a:noFill/>
        </p:spPr>
        <p:txBody>
          <a:bodyPr wrap="square" lIns="0" rIns="0" tIns="0" bIns="0" anchor="t">
            <a:spAutoFit/>
          </a:bodyPr>
          <a:lstStyle/>
          <a:p>
            <a:pPr algn="l" marL="228600" indent="-228600">
              <a:spcAft>
                <a:spcPts val="800"/>
              </a:spcAft>
              <a:buFont typeface="Arial"/>
              <a:buChar char="•"/>
            </a:pPr>
            <a:r>
              <a:rPr sz="1500" b="0" i="0">
                <a:solidFill>
                  <a:srgbClr val="1B1F2A"/>
                </a:solidFill>
                <a:latin typeface="IBM Plex Sans"/>
                <a:ea typeface="IBM Plex Sans"/>
                <a:cs typeface="IBM Plex Sans"/>
              </a:rPr>
              <a:t>best δ: 0.025 to 4.8 on ill-conditioned grids</a:t>
            </a:r>
          </a:p>
          <a:p>
            <a:pPr algn="l" marL="228600" indent="-228600">
              <a:spcAft>
                <a:spcPts val="800"/>
              </a:spcAft>
              <a:buFont typeface="Arial"/>
              <a:buChar char="•"/>
            </a:pPr>
            <a:r>
              <a:rPr sz="1500" b="0" i="0">
                <a:solidFill>
                  <a:srgbClr val="1B1F2A"/>
                </a:solidFill>
                <a:latin typeface="IBM Plex Sans"/>
                <a:ea typeface="IBM Plex Sans"/>
                <a:cs typeface="IBM Plex Sans"/>
              </a:rPr>
              <a:t>search wins, but costs 21 solves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BFBF9"/>
        </a:solidFill>
        <a:effectLst/>
      </p:bgPr>
    </p:bg>
    <p:spTree>
      <p:nvGrpSpPr>
        <p:cNvPr id="1" name=""/>
        <p:cNvGrpSpPr/>
        <p:nvPr/>
      </p:nvGrpSpPr>
      <p:grpSpPr/>
      <p:sp>
        <p:nvSpPr>
          <p:cNvPr id="2" name="TextBox 1"/>
          <p:cNvSpPr txBox="1"/>
          <p:nvPr/>
        </p:nvSpPr>
        <p:spPr>
          <a:xfrm>
            <a:off x="813816" y="713232"/>
            <a:ext cx="10881360" cy="429768"/>
          </a:xfrm>
          <a:prstGeom prst="rect">
            <a:avLst/>
          </a:prstGeom>
          <a:noFill/>
        </p:spPr>
        <p:txBody>
          <a:bodyPr wrap="square" lIns="0" rIns="0" tIns="0" bIns="0" anchor="t">
            <a:spAutoFit/>
          </a:bodyPr>
          <a:lstStyle/>
          <a:p>
            <a:pPr algn="l">
              <a:spcAft>
                <a:spcPts val="800"/>
              </a:spcAft>
            </a:pPr>
            <a:r>
              <a:rPr sz="2800" b="1" i="0">
                <a:solidFill>
                  <a:srgbClr val="1F3A5F"/>
                </a:solidFill>
                <a:latin typeface="IBM Plex Sans"/>
                <a:ea typeface="IBM Plex Sans"/>
                <a:cs typeface="IBM Plex Sans"/>
              </a:rPr>
              <a:t>Summary</a:t>
            </a:r>
          </a:p>
        </p:txBody>
      </p:sp>
      <p:pic>
        <p:nvPicPr>
          <p:cNvPr id="3" name="Picture 2" descr="image.png"/>
          <p:cNvPicPr>
            <a:picLocks noChangeAspect="1"/>
          </p:cNvPicPr>
          <p:nvPr/>
        </p:nvPicPr>
        <p:blipFill>
          <a:blip r:embed="rId2"/>
          <a:stretch>
            <a:fillRect/>
          </a:stretch>
        </p:blipFill>
        <p:spPr>
          <a:xfrm>
            <a:off x="812800" y="1221741"/>
            <a:ext cx="10566400" cy="20320"/>
          </a:xfrm>
          <a:prstGeom prst="rect">
            <a:avLst/>
          </a:prstGeom>
        </p:spPr>
      </p:pic>
      <p:sp>
        <p:nvSpPr>
          <p:cNvPr id="4" name="TextBox 3"/>
          <p:cNvSpPr txBox="1"/>
          <p:nvPr/>
        </p:nvSpPr>
        <p:spPr>
          <a:xfrm>
            <a:off x="813816" y="6236208"/>
            <a:ext cx="7845552" cy="237744"/>
          </a:xfrm>
          <a:prstGeom prst="rect">
            <a:avLst/>
          </a:prstGeom>
          <a:noFill/>
        </p:spPr>
        <p:txBody>
          <a:bodyPr wrap="square" lIns="0" rIns="0" tIns="0" bIns="0" anchor="t">
            <a:spAutoFit/>
          </a:bodyPr>
          <a:lstStyle/>
          <a:p>
            <a:pPr algn="l">
              <a:spcAft>
                <a:spcPts val="800"/>
              </a:spcAft>
            </a:pPr>
            <a:r>
              <a:rPr sz="1200" b="0" i="0">
                <a:solidFill>
                  <a:srgbClr val="6B7280"/>
                </a:solidFill>
                <a:latin typeface="IBM Plex Sans"/>
                <a:ea typeface="IBM Plex Sans"/>
                <a:cs typeface="IBM Plex Sans"/>
              </a:rPr>
              <a:t>Sizan's part · Lima-Silva &amp; Freitas (2024): reproduction and improvements</a:t>
            </a:r>
          </a:p>
        </p:txBody>
      </p:sp>
      <p:sp>
        <p:nvSpPr>
          <p:cNvPr id="5" name="TextBox 4"/>
          <p:cNvSpPr txBox="1"/>
          <p:nvPr/>
        </p:nvSpPr>
        <p:spPr>
          <a:xfrm>
            <a:off x="10058400" y="6236208"/>
            <a:ext cx="1316736" cy="237744"/>
          </a:xfrm>
          <a:prstGeom prst="rect">
            <a:avLst/>
          </a:prstGeom>
          <a:noFill/>
        </p:spPr>
        <p:txBody>
          <a:bodyPr wrap="square" lIns="0" rIns="0" tIns="0" bIns="0" anchor="t">
            <a:spAutoFit/>
          </a:bodyPr>
          <a:lstStyle/>
          <a:p>
            <a:pPr algn="r">
              <a:spcAft>
                <a:spcPts val="800"/>
              </a:spcAft>
            </a:pPr>
            <a:r>
              <a:rPr sz="1200" b="0" i="0">
                <a:solidFill>
                  <a:srgbClr val="6B7280"/>
                </a:solidFill>
                <a:latin typeface="IBM Plex Sans"/>
                <a:ea typeface="IBM Plex Sans"/>
                <a:cs typeface="IBM Plex Sans"/>
              </a:rPr>
              <a:t>13</a:t>
            </a:r>
          </a:p>
        </p:txBody>
      </p:sp>
      <p:sp>
        <p:nvSpPr>
          <p:cNvPr id="6" name="TextBox 5"/>
          <p:cNvSpPr txBox="1"/>
          <p:nvPr/>
        </p:nvSpPr>
        <p:spPr>
          <a:xfrm>
            <a:off x="813816" y="1554480"/>
            <a:ext cx="10561320" cy="3200400"/>
          </a:xfrm>
          <a:prstGeom prst="rect">
            <a:avLst/>
          </a:prstGeom>
          <a:noFill/>
        </p:spPr>
        <p:txBody>
          <a:bodyPr wrap="square" lIns="0" rIns="0" tIns="0" bIns="0" anchor="t">
            <a:spAutoFit/>
          </a:bodyPr>
          <a:lstStyle/>
          <a:p>
            <a:pPr algn="l" marL="228600" indent="-228600">
              <a:spcAft>
                <a:spcPts val="1400"/>
              </a:spcAft>
              <a:buFont typeface="Arial"/>
              <a:buChar char="•"/>
            </a:pPr>
            <a:r>
              <a:rPr sz="1900" b="0" i="0">
                <a:solidFill>
                  <a:srgbClr val="1B1F2A"/>
                </a:solidFill>
                <a:latin typeface="IBM Plex Sans"/>
                <a:ea typeface="IBM Plex Sans"/>
                <a:cs typeface="IBM Plex Sans"/>
              </a:rPr>
              <a:t>Tables 2 to 6 and Figure 3 reproduced: 96% of cells within 2× of the paper</a:t>
            </a:r>
          </a:p>
          <a:p>
            <a:pPr algn="l" marL="228600" indent="-228600">
              <a:spcAft>
                <a:spcPts val="1400"/>
              </a:spcAft>
              <a:buFont typeface="Arial"/>
              <a:buChar char="•"/>
            </a:pPr>
            <a:r>
              <a:rPr sz="1900" b="0" i="0">
                <a:solidFill>
                  <a:srgbClr val="1B1F2A"/>
                </a:solidFill>
                <a:latin typeface="IBM Plex Sans"/>
                <a:ea typeface="IBM Plex Sans"/>
                <a:cs typeface="IBM Plex Sans"/>
              </a:rPr>
              <a:t>FE overshoots by tₖ₊₁ / tₖ; BE is a Newton step on the next problem</a:t>
            </a:r>
          </a:p>
          <a:p>
            <a:pPr algn="l" marL="228600" indent="-228600">
              <a:spcAft>
                <a:spcPts val="1400"/>
              </a:spcAft>
              <a:buFont typeface="Arial"/>
              <a:buChar char="•"/>
            </a:pPr>
            <a:r>
              <a:rPr sz="1900" b="0" i="0">
                <a:solidFill>
                  <a:srgbClr val="1B1F2A"/>
                </a:solidFill>
                <a:latin typeface="IBM Plex Sans"/>
                <a:ea typeface="IBM Plex Sans"/>
                <a:cs typeface="IBM Plex Sans"/>
              </a:rPr>
              <a:t>RK4 and BE-chord do worse; under error control BE is still the cheapest</a:t>
            </a:r>
          </a:p>
          <a:p>
            <a:pPr algn="l" marL="228600" indent="-228600">
              <a:spcAft>
                <a:spcPts val="1400"/>
              </a:spcAft>
              <a:buFont typeface="Arial"/>
              <a:buChar char="•"/>
            </a:pPr>
            <a:r>
              <a:rPr sz="1900" b="0" i="0">
                <a:solidFill>
                  <a:srgbClr val="1B1F2A"/>
                </a:solidFill>
                <a:latin typeface="IBM Plex Sans"/>
                <a:ea typeface="IBM Plex Sans"/>
                <a:cs typeface="IBM Plex Sans"/>
              </a:rPr>
              <a:t>The best δ differs per grid, and no simple rule predicts it</a:t>
            </a:r>
          </a:p>
        </p:txBody>
      </p:sp>
      <p:sp>
        <p:nvSpPr>
          <p:cNvPr id="7" name="TextBox 6"/>
          <p:cNvSpPr txBox="1"/>
          <p:nvPr/>
        </p:nvSpPr>
        <p:spPr>
          <a:xfrm>
            <a:off x="813816" y="4297680"/>
            <a:ext cx="10561320" cy="548640"/>
          </a:xfrm>
          <a:prstGeom prst="rect">
            <a:avLst/>
          </a:prstGeom>
          <a:noFill/>
        </p:spPr>
        <p:txBody>
          <a:bodyPr wrap="square" lIns="0" rIns="0" tIns="0" bIns="0" anchor="t">
            <a:spAutoFit/>
          </a:bodyPr>
          <a:lstStyle/>
          <a:p>
            <a:pPr algn="l">
              <a:spcAft>
                <a:spcPts val="800"/>
              </a:spcAft>
            </a:pPr>
            <a:r>
              <a:rPr sz="2200" b="1" i="0">
                <a:solidFill>
                  <a:srgbClr val="1F3A5F"/>
                </a:solidFill>
                <a:latin typeface="IBM Plex Sans"/>
                <a:ea typeface="IBM Plex Sans"/>
                <a:cs typeface="IBM Plex Sans"/>
              </a:rPr>
              <a:t>Thank you.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TotalTime>
  <Words>4258</Words>
  <Application>Microsoft Office PowerPoint</Application>
  <PresentationFormat>Widescreen</PresentationFormat>
  <Paragraphs>348</Paragraphs>
  <Slides>22</Slides>
  <Notes>22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Courier New</vt:lpstr>
      <vt:lpstr>IBM Plex Sans</vt:lpstr>
      <vt:lpstr>STIX Two Text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Dynamic Homotopy Power Flow</dc:title>
  <dc:subject>PptxGenJS Presentation</dc:subject>
  <dc:creator>PptxGenJS</dc:creator>
  <cp:lastModifiedBy>Jonayed Mohiuddin</cp:lastModifiedBy>
  <cp:revision>8</cp:revision>
  <dcterms:created xsi:type="dcterms:W3CDTF">2026-09-28T06:54:17Z</dcterms:created>
  <dcterms:modified xsi:type="dcterms:W3CDTF">2026-09-28T08:23:46Z</dcterms:modified>
</cp:coreProperties>
</file>