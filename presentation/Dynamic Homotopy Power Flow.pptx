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74" r:id="rId25"/>
    <p:sldId id="275" r:id="rId26"/>
    <p:sldId id="276" r:id="rId27"/>
    <p:sldId id="277" r:id="rId28"/>
    <p:sldId id="278" r:id="rId29"/>
    <p:sldId id="279" r:id="rId30"/>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6" d="100"/>
          <a:sy n="96" d="100"/>
        </p:scale>
        <p:origin x="149"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28155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implemented the paper from scratch in Python, reproduced its results, and then tested changes to the method. First the paper, then our implementation and reproduction, then the improvements.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our reproduction of the paper's Figure 1a: Newton on the paper's 2 by 2 example, started near a point where J is singular. The first step jumps the mismatch up by several orders of magnitude before it recovers. On the large grids it never recovers. The eigenvalue ratio was measured with our power method and inverse iteration.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continuation would stop at several values of t and solve each one fully with Newton. The paper does dynamic continuation instead: it turns the path into an ODE and takes only a few cheap steps.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x changes G by Gx dx and moving t changes it by Gt dt; along the path the two cancel. Gx is the Jacobian plus a multiple of the identity, so it stays sparse. LU counts dominate run time and do not depend on the machine, so they are a fair cost measure.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backward Euler solves x_k+1 = x_k + dt f(x_k+1, t_k+1). Writing it as a fixed point problem and iterating once from x_k keeps x_k but uses the new time inside Gx. That single change is what makes the method work, as the next slide shows.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Dividing the BE step by dt0 shows it is exactly a Newton step with J + delta I, delta = (1 - dt0) K / dt0, which is about 0.02 for the paper's values. The shift moves the small eigenvalues of J away from zero. For an eigen-direction with eigenvalue lambda, FE multiplies the error by 1 - lambda/delta, which is huge when lambda is much larger than delta, while BE multiplies it by delta/(lambda + delta). The 532 to 65 numbers are case18482; the 1e12 is from the paper's Section 4.2.1, which we reproduced.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our reproduction of the paper's Figure 4 on the 109,272-bus grid. Dotted lines are the two BE steps, solid lines the Newton iterations. Bus 6 ends at 1.0045 pu and 21.1 degrees, the same as in the paper. The ODE is not solved accurately; it only has to hand Newton a point it can converge from. FDXB is the fast decoupled method, which factorizes two constant matrices once.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table and figure of the paper has its own script, and each cell is printed as ours next to the paper's. Where FE and RK2 blow up they do so at the same step, only the size of the blow-up differs. The two Table 7 differences are GSH-NR on case27318 and BE with FDXB on case109272. Two small limit cases only match on a 100 MVA base although their files store 10 MVA.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 complex bus voltages rather than x, so the test does not depend on how angles are stored. This check is used for every result that follows.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ten changes suggested by the paper, its references and our proposal presentation. With all switches off the code gives exactly the paper's method, which a test checks. Three of the changes clearly help; they are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Staying close to the path keeps the method on the branch that starts at x0, which is why the wrong roots nearly disappear. It also makes the result almost independent of dt0. In the code it is a wrapper that works with any step rule.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reference 10, Iwamoto and Tamura. The cubic is solved exactly with a polynomial root finder, and we keep the real root in (0, 2] with the smallest model residual. On its own it saves LUs but does not prevent wrong roots (12). Combined with the corrector it gives the best trade-off in our study.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proposal presentation asked for steps chosen by an error estimate instead of by hand. The local error of an order p method is about C h^(p+1), so the difference between one full step and two half steps estimates it. The kept point is the extrapolated value, and the next step is scaled from the error. A path that needs more than 150 LUs is stopped. It is the only change that solves case6024 at the paper's own setting. The comparison of integrators under error control confirms the paper's claim that backward Euler is the right choice.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one study over the same 170 runs. Solved means correct root within 10 Newton iterations. Multiplier plus corrector is what we would use by default; Richardson is worth it when a case is known to be hard.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Solved counts are out of 170. The extra fixed-point iterations are the refinement the paper itself suggests after its equation 19. A fixed-point iteration only converges if the map is a contraction, which it is not for large steps. D in the scaled homotopy is the Jacobian diagonal.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studies were stated in our proposal presentation. In the maps, green is the reference root, yellow another root and grey a failure; the dots are the paper's settings and the dashed line is delta = 0.02. On case36964 no setting with dt0 of 0.1 or more works, which explains a failure the paper reports without explanation. Inverse iteration matched SciPy's ARPACK on 33 of 34 grids. A rule predicting delta from the smallest eigenvalue did not work.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turns a hard root-finding problem into a stiff ODE and follows it with two backward Euler steps, which act as a regularised Newton step. We reproduced it, found that a small residual does not guarantee the right root, and improved it with three classical numerical techniques.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 grid is a MATPOWER case file: one structure called mpc with the base power and three tables. A bus row holds the bus type and its load; a generator row the power it produces and the voltage it holds; a branch row the line's resistance, reactance, charging and transformer data. Powers are in MW and MVAr and are divided by baseMVA to get per-unit values. VM and VA are a stored voltage profile, which we use only for the reference solution. Below is our smallest example, simple2.mat, which the next slides follow by hand.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Renumbering is needed because bus labels in the files are arbitrary; the large grids use labels in the hundreds of thousands. A bus marked PV without a working generator becomes PQ. Each line is a pi model: its series admittance plus half the charging at each end, with a transformer ratio where present. The diagonal of Y is the sum of everything connected to the bus and the off-diagonal is minus the line admittance, so Y is very sparse. PYPOWER evaluates these formulas; there is no iterative method here. For the 2-bus grid: y = 1 / (0.1j) = -10j, and bus 2 must inject -0.5 - 0.2j per unit.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Each bus has four quantities: voltage size, voltage angle, active power and reactive power. Two are fixed by what is controlled there and two are unknown. The slack supplies the losses, which are not known in advance, so its powers are outputs; its voltage is the reference. A generator bus produces a set P and holds its voltage, so only its angle is unknown. A load bus has known P and Q, so its angle and size are unknown. The solver only looks for voltages; the unknown powers follow from them.</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Current comes from Ohm's law for the whole grid, I = YV, and the power a bus injects is its voltage times the conjugate of its current. Split into real and imaginary parts this gives the classical power flow equations. The mismatch is computed minus specified power. Only the balances that are real conditions are kept: P at PV and PQ buses, Q at PQ buses. That gives exactly as many equations as unknowns. In the code the whole mismatch is one line with a sparse matrix product. The Jacobian comes from exact derivative formulas and is tested against central finite differences.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file from before: a slack generator at bus 1, one line with reactance 0.1, and a 50 MW plus 20 MVAr load at bus 2. With G = 0 and B21 = 10 the power formulas reduce to the two equations shown. The first says the power arriving at bus 2 must equal the 0.5 taken out, so theta 2 must be negative. The second balances reactive power, which pulls |V2| a little below 1. At the flat start J is 10 times the identity, so the first Newton step is simply minus g over 10. The error roughly squares each iteration. The line absorbs 0.03 pu of reactive power, which the slack supplies. Our code prints the same numbers.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ill-conditioned grids are built by joining copies of real European PEGASE grids, for example case18482 is case9241pegase twice. The flat-start mismatch is the first number in the paper's Tables 2 to 5, so matching it checks the whole model. At the flat start almost no power flows, so the mismatch is about minus the specified power, which scales with one over the base: going from 100 to 10 MVA multiplies it by 10. In the figure a cross means Newton from the flat start fails, which is where the next slide picks up.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0.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1.xml"/><Relationship Id="rId4" Type="http://schemas.openxmlformats.org/officeDocument/2006/relationships/image" Target="../media/image12.png"/><Relationship Id="rId5"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2.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3.xml"/><Relationship Id="rId4" Type="http://schemas.openxmlformats.org/officeDocument/2006/relationships/image" Target="../media/image18.png"/><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4.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1584960"/>
            <a:ext cx="10883392" cy="1778000"/>
          </a:xfrm>
          <a:prstGeom prst="rect">
            <a:avLst/>
          </a:prstGeom>
          <a:noFill/>
          <a:ln/>
        </p:spPr>
        <p:txBody>
          <a:bodyPr wrap="square" lIns="0" tIns="0" rIns="0" bIns="0" rtlCol="0" anchor="t">
            <a:normAutofit/>
          </a:bodyPr>
          <a:lstStyle/>
          <a:p>
            <a:pPr marL="0" indent="0" algn="l">
              <a:lnSpc>
                <a:spcPts val="4600"/>
              </a:lnSpc>
              <a:buNone/>
            </a:pPr>
            <a:r>
              <a:rPr lang="en-US" sz="4000" b="1" dirty="0">
                <a:solidFill>
                  <a:srgbClr val="1F3A5F"/>
                </a:solidFill>
                <a:latin typeface="IBM Plex Sans" pitchFamily="34" charset="0"/>
                <a:ea typeface="IBM Plex Sans" pitchFamily="34" charset="-122"/>
                <a:cs typeface="IBM Plex Sans" pitchFamily="34" charset="-120"/>
              </a:rPr>
              <a:t>Dynamic Homotopy for Ill-Conditioned</a:t>
            </a:r>
            <a:endParaRPr lang="en-US" sz="4000" dirty="0"/>
          </a:p>
          <a:p>
            <a:pPr marL="0" indent="0" algn="l">
              <a:lnSpc>
                <a:spcPts val="4600"/>
              </a:lnSpc>
              <a:buNone/>
            </a:pPr>
            <a:r>
              <a:rPr lang="en-US" sz="4000" b="1" dirty="0">
                <a:solidFill>
                  <a:srgbClr val="1F3A5F"/>
                </a:solidFill>
                <a:latin typeface="IBM Plex Sans" pitchFamily="34" charset="0"/>
                <a:ea typeface="IBM Plex Sans" pitchFamily="34" charset="-122"/>
                <a:cs typeface="IBM Plex Sans" pitchFamily="34" charset="-120"/>
              </a:rPr>
              <a:t>Power Flow: Reproduction and Improvements</a:t>
            </a:r>
            <a:endParaRPr lang="en-US" sz="4000" dirty="0"/>
          </a:p>
        </p:txBody>
      </p:sp>
      <p:pic>
        <p:nvPicPr>
          <p:cNvPr id="3" name="Image 0" descr="line"/>
          <p:cNvPicPr>
            <a:picLocks noChangeAspect="1"/>
          </p:cNvPicPr>
          <p:nvPr/>
        </p:nvPicPr>
        <p:blipFill>
          <a:blip r:embed="rId3"/>
          <a:srcRect l="-2083" r="-2083"/>
          <a:stretch/>
        </p:blipFill>
        <p:spPr>
          <a:xfrm>
            <a:off x="812800" y="3566160"/>
            <a:ext cx="10566400" cy="30480"/>
          </a:xfrm>
          <a:prstGeom prst="rect">
            <a:avLst/>
          </a:prstGeom>
        </p:spPr>
      </p:pic>
      <p:sp>
        <p:nvSpPr>
          <p:cNvPr id="4" name="Text 1"/>
          <p:cNvSpPr/>
          <p:nvPr/>
        </p:nvSpPr>
        <p:spPr>
          <a:xfrm>
            <a:off x="812800" y="3825240"/>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Based on A. Lima-Silva and F. D. Freitas, "Exploring a Dynamic Homotopy Technique to Enhance the Convergence of Classical Power Flow Iterative Solvers in Ill-Conditioned Power System Models", </a:t>
            </a:r>
            <a:r>
              <a:rPr lang="en-US" sz="1600" i="1" dirty="0">
                <a:solidFill>
                  <a:srgbClr val="333A48"/>
                </a:solidFill>
                <a:latin typeface="IBM Plex Sans" pitchFamily="34" charset="0"/>
                <a:ea typeface="IBM Plex Sans" pitchFamily="34" charset="-122"/>
                <a:cs typeface="IBM Plex Sans" pitchFamily="34" charset="-120"/>
              </a:rPr>
              <a:t>Energies</a:t>
            </a:r>
            <a:r>
              <a:rPr lang="en-US" sz="1600" dirty="0">
                <a:solidFill>
                  <a:srgbClr val="333A48"/>
                </a:solidFill>
                <a:latin typeface="IBM Plex Sans" pitchFamily="34" charset="0"/>
                <a:ea typeface="IBM Plex Sans" pitchFamily="34" charset="-122"/>
                <a:cs typeface="IBM Plex Sans" pitchFamily="34" charset="-120"/>
              </a:rPr>
              <a:t> 17(18):4642, 2024</a:t>
            </a:r>
            <a:endParaRPr lang="en-US" sz="1600" dirty="0"/>
          </a:p>
        </p:txBody>
      </p:sp>
      <p:sp>
        <p:nvSpPr>
          <p:cNvPr id="5" name="Text 2"/>
          <p:cNvSpPr/>
          <p:nvPr/>
        </p:nvSpPr>
        <p:spPr>
          <a:xfrm>
            <a:off x="812800" y="4663440"/>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2105039, 2105040, 2105057, 2105058, 2105060</a:t>
            </a:r>
            <a:endParaRPr lang="en-US" sz="1600" dirty="0"/>
          </a:p>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CSE 402 Numerical Analysis Sessional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Newton-Raphson and why it fails here</a:t>
            </a:r>
            <a:endParaRPr lang="en-US" sz="2800" dirty="0"/>
          </a:p>
        </p:txBody>
      </p:sp>
      <p:pic>
        <p:nvPicPr>
          <p:cNvPr id="3" name="Image 0" descr="line"/>
          <p:cNvPicPr>
            <a:picLocks noChangeAspect="1"/>
          </p:cNvPicPr>
          <p:nvPr/>
        </p:nvPicPr>
        <p:blipFill>
          <a:blip r:embed="rId3"/>
          <a:srcRect t="-3333" b="-3333"/>
          <a:stretch/>
        </p:blipFill>
        <p:spPr>
          <a:xfrm>
            <a:off x="812800" y="1221741"/>
            <a:ext cx="10566400" cy="20320"/>
          </a:xfrm>
          <a:prstGeom prst="rect">
            <a:avLst/>
          </a:prstGeom>
        </p:spPr>
      </p:pic>
      <p:sp>
        <p:nvSpPr>
          <p:cNvPr id="4" name="Text 1"/>
          <p:cNvSpPr/>
          <p:nvPr/>
        </p:nvSpPr>
        <p:spPr>
          <a:xfrm>
            <a:off x="812800" y="2068830"/>
            <a:ext cx="5598668" cy="416560"/>
          </a:xfrm>
          <a:prstGeom prst="rect">
            <a:avLst/>
          </a:prstGeom>
          <a:noFill/>
          <a:ln/>
        </p:spPr>
        <p:txBody>
          <a:bodyPr wrap="square" lIns="0" tIns="0" rIns="0" bIns="0" rtlCol="0" anchor="t">
            <a:normAutofit/>
          </a:bodyPr>
          <a:lstStyle/>
          <a:p>
            <a:pPr marL="0" indent="0" algn="l">
              <a:lnSpc>
                <a:spcPts val="3080"/>
              </a:lnSpc>
              <a:buNone/>
            </a:pPr>
            <a:r>
              <a:rPr lang="en-US" sz="2200" dirty="0">
                <a:solidFill>
                  <a:srgbClr val="1B1F2A"/>
                </a:solidFill>
                <a:latin typeface="STIX Two Text" pitchFamily="34" charset="0"/>
                <a:ea typeface="STIX Two Text" pitchFamily="34" charset="-122"/>
                <a:cs typeface="STIX Two Text" pitchFamily="34" charset="-120"/>
              </a:rPr>
              <a:t>xᵢ₊₁ = xᵢ − J(xᵢ)⁻¹ g(xᵢ)</a:t>
            </a:r>
            <a:endParaRPr lang="en-US" sz="2200" dirty="0"/>
          </a:p>
        </p:txBody>
      </p:sp>
      <p:sp>
        <p:nvSpPr>
          <p:cNvPr id="5" name="Text 2"/>
          <p:cNvSpPr/>
          <p:nvPr/>
        </p:nvSpPr>
        <p:spPr>
          <a:xfrm>
            <a:off x="812800" y="2637791"/>
            <a:ext cx="5598668" cy="1739900"/>
          </a:xfrm>
          <a:prstGeom prst="rect">
            <a:avLst/>
          </a:prstGeom>
          <a:noFill/>
          <a:ln/>
        </p:spPr>
        <p:txBody>
          <a:bodyPr wrap="square" lIns="0" tIns="0" rIns="0" bIns="0" rtlCol="0" anchor="t">
            <a:normAutofit/>
          </a:bodyPr>
          <a:lstStyle/>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One sparse LU of J per iteration</a:t>
            </a:r>
            <a:endParaRPr lang="en-US" sz="1500" dirty="0"/>
          </a:p>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Stop at ‖g‖ &lt; 10⁻⁸, at most 10 iterations</a:t>
            </a:r>
            <a:endParaRPr lang="en-US" sz="1500" dirty="0"/>
          </a:p>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Quadratic convergence, but only locally</a:t>
            </a:r>
            <a:endParaRPr lang="en-US" sz="1500" dirty="0"/>
          </a:p>
          <a:p>
            <a:pPr marL="228600" indent="-182880" algn="l">
              <a:lnSpc>
                <a:spcPts val="2250"/>
              </a:lnSpc>
              <a:buSzPct val="100000"/>
              <a:buChar char="•"/>
            </a:pPr>
            <a:r>
              <a:rPr lang="en-US" sz="1500" dirty="0">
                <a:solidFill>
                  <a:srgbClr val="1B1F2A"/>
                </a:solidFill>
                <a:latin typeface="IBM Plex Sans" pitchFamily="34" charset="0"/>
                <a:ea typeface="IBM Plex Sans" pitchFamily="34" charset="-122"/>
                <a:cs typeface="IBM Plex Sans" pitchFamily="34" charset="-120"/>
              </a:rPr>
              <a:t>At the flat start J is nearly singular: |λ|max / |λ|min up to 1.2 × 10⁸</a:t>
            </a:r>
            <a:endParaRPr lang="en-US" sz="1500" dirty="0"/>
          </a:p>
        </p:txBody>
      </p:sp>
      <p:pic>
        <p:nvPicPr>
          <p:cNvPr id="6" name="Image 1" descr="Newton iterations on the paper's 2 by 2 example: the mismatch first jumps up and needs 8 to 11 iterations to converge"/>
          <p:cNvPicPr>
            <a:picLocks noChangeAspect="1"/>
          </p:cNvPicPr>
          <p:nvPr/>
        </p:nvPicPr>
        <p:blipFill>
          <a:blip r:embed="rId4"/>
          <a:srcRect t="-75" b="-75"/>
          <a:stretch/>
        </p:blipFill>
        <p:spPr>
          <a:xfrm>
            <a:off x="6553200" y="1496061"/>
            <a:ext cx="4826000" cy="3429000"/>
          </a:xfrm>
          <a:prstGeom prst="rect">
            <a:avLst/>
          </a:prstGeom>
        </p:spPr>
      </p:pic>
      <p:sp>
        <p:nvSpPr>
          <p:cNvPr id="7" name="Text 3"/>
          <p:cNvSpPr/>
          <p:nvPr/>
        </p:nvSpPr>
        <p:spPr>
          <a:xfrm>
            <a:off x="812800" y="6238241"/>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41"/>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The fixed-point homotopy</a:t>
            </a:r>
            <a:endParaRPr lang="en-US" sz="2800" dirty="0"/>
          </a:p>
        </p:txBody>
      </p:sp>
      <p:pic>
        <p:nvPicPr>
          <p:cNvPr id="3" name="Image 0" descr="line"/>
          <p:cNvPicPr>
            <a:picLocks noChangeAspect="1"/>
          </p:cNvPicPr>
          <p:nvPr/>
        </p:nvPicPr>
        <p:blipFill>
          <a:blip r:embed="rId3"/>
          <a:srcRect t="-3333" b="-3333"/>
          <a:stretch/>
        </p:blipFill>
        <p:spPr>
          <a:xfrm>
            <a:off x="812800" y="1221741"/>
            <a:ext cx="10566400" cy="20320"/>
          </a:xfrm>
          <a:prstGeom prst="rect">
            <a:avLst/>
          </a:prstGeom>
        </p:spPr>
      </p:pic>
      <p:sp>
        <p:nvSpPr>
          <p:cNvPr id="4" name="Text 1"/>
          <p:cNvSpPr/>
          <p:nvPr/>
        </p:nvSpPr>
        <p:spPr>
          <a:xfrm>
            <a:off x="812800" y="1496061"/>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Start from an easy problem with a known root and deform it into g:</a:t>
            </a:r>
            <a:endParaRPr lang="en-US" sz="1600" dirty="0"/>
          </a:p>
        </p:txBody>
      </p:sp>
      <p:sp>
        <p:nvSpPr>
          <p:cNvPr id="5" name="Text 2"/>
          <p:cNvSpPr/>
          <p:nvPr/>
        </p:nvSpPr>
        <p:spPr>
          <a:xfrm>
            <a:off x="654304" y="2054861"/>
            <a:ext cx="10883392" cy="452120"/>
          </a:xfrm>
          <a:prstGeom prst="rect">
            <a:avLst/>
          </a:prstGeom>
          <a:noFill/>
          <a:ln/>
        </p:spPr>
        <p:txBody>
          <a:bodyPr wrap="square" lIns="0" tIns="0" rIns="0" bIns="0" rtlCol="0" anchor="t">
            <a:normAutofit/>
          </a:bodyPr>
          <a:lstStyle/>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G(x, t) = t · g(x) + (1 − t) · K (x − x₀), t ∈ [0, 1]</a:t>
            </a:r>
            <a:endParaRPr lang="en-US" sz="2400" dirty="0"/>
          </a:p>
        </p:txBody>
      </p:sp>
      <p:sp>
        <p:nvSpPr>
          <p:cNvPr id="6" name="Text 3"/>
          <p:cNvSpPr/>
          <p:nvPr/>
        </p:nvSpPr>
        <p:spPr>
          <a:xfrm>
            <a:off x="812800" y="2735580"/>
            <a:ext cx="10883392" cy="132588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 = 0: G = K (x − x₀), root x₀ (the flat start)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 = 1: G = g(x), the real problem</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In between, the root moves along a smooth path x(t)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K weights the easy part; the paper uses K = 10⁻⁴</a:t>
            </a:r>
            <a:endParaRPr lang="en-US" sz="1600" dirty="0"/>
          </a:p>
        </p:txBody>
      </p:sp>
      <p:sp>
        <p:nvSpPr>
          <p:cNvPr id="7" name="Text 4"/>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5"/>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From the path to an ODE</a:t>
            </a:r>
            <a:endParaRPr lang="en-US" sz="2800" dirty="0"/>
          </a:p>
        </p:txBody>
      </p:sp>
      <p:pic>
        <p:nvPicPr>
          <p:cNvPr id="3" name="Image 0" descr="line"/>
          <p:cNvPicPr>
            <a:picLocks noChangeAspect="1"/>
          </p:cNvPicPr>
          <p:nvPr/>
        </p:nvPicPr>
        <p:blipFill>
          <a:blip r:embed="rId3"/>
          <a:srcRect t="-3333" b="-3333"/>
          <a:stretch/>
        </p:blipFill>
        <p:spPr>
          <a:xfrm>
            <a:off x="812800" y="1221739"/>
            <a:ext cx="10566400" cy="20320"/>
          </a:xfrm>
          <a:prstGeom prst="rect">
            <a:avLst/>
          </a:prstGeom>
        </p:spPr>
      </p:pic>
      <p:sp>
        <p:nvSpPr>
          <p:cNvPr id="4" name="Text 1"/>
          <p:cNvSpPr/>
          <p:nvPr/>
        </p:nvSpPr>
        <p:spPr>
          <a:xfrm>
            <a:off x="812800" y="1496061"/>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G(x(t), t) = 0 along the path. Differentiating with the chain rule:</a:t>
            </a:r>
            <a:endParaRPr lang="en-US" sz="1600" dirty="0"/>
          </a:p>
        </p:txBody>
      </p:sp>
      <p:sp>
        <p:nvSpPr>
          <p:cNvPr id="5" name="Text 2"/>
          <p:cNvSpPr/>
          <p:nvPr/>
        </p:nvSpPr>
        <p:spPr>
          <a:xfrm>
            <a:off x="654304" y="2054861"/>
            <a:ext cx="10883392" cy="970281"/>
          </a:xfrm>
          <a:prstGeom prst="rect">
            <a:avLst/>
          </a:prstGeom>
          <a:noFill/>
          <a:ln/>
        </p:spPr>
        <p:txBody>
          <a:bodyPr wrap="square" lIns="0" tIns="0" rIns="0" bIns="0" rtlCol="0" anchor="t">
            <a:normAutofit/>
          </a:bodyPr>
          <a:lstStyle/>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Gₓ ẋ + Gₜ = 0 </a:t>
            </a:r>
          </a:p>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 ẋ = −Gₓ⁻¹ Gₜ  ; x(0) = x₀</a:t>
            </a:r>
            <a:endParaRPr lang="en-US" sz="2400" dirty="0"/>
          </a:p>
        </p:txBody>
      </p:sp>
      <p:sp>
        <p:nvSpPr>
          <p:cNvPr id="6" name="Text 3"/>
          <p:cNvSpPr/>
          <p:nvPr/>
        </p:nvSpPr>
        <p:spPr>
          <a:xfrm>
            <a:off x="812800" y="2735582"/>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with</a:t>
            </a:r>
            <a:endParaRPr lang="en-US" sz="1600" dirty="0"/>
          </a:p>
        </p:txBody>
      </p:sp>
      <p:sp>
        <p:nvSpPr>
          <p:cNvPr id="7" name="Text 4"/>
          <p:cNvSpPr/>
          <p:nvPr/>
        </p:nvSpPr>
        <p:spPr>
          <a:xfrm>
            <a:off x="654304" y="3302501"/>
            <a:ext cx="10883392" cy="888004"/>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Gₓ = t J(x) + (1 − t) K I</a:t>
            </a:r>
          </a:p>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Gₜ = g(x) − K (x − x₀)</a:t>
            </a:r>
            <a:endParaRPr lang="en-US" sz="2200" dirty="0"/>
          </a:p>
        </p:txBody>
      </p:sp>
      <p:sp>
        <p:nvSpPr>
          <p:cNvPr id="8" name="Text 5"/>
          <p:cNvSpPr/>
          <p:nvPr/>
        </p:nvSpPr>
        <p:spPr>
          <a:xfrm>
            <a:off x="812800" y="4213612"/>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Root finding becomes an initial value problem </a:t>
            </a:r>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Each evaluation of ẋ is one sparse solve with Gₓ, i.e. one LU factorization</a:t>
            </a:r>
            <a:endParaRPr lang="en-US" sz="1600" dirty="0"/>
          </a:p>
        </p:txBody>
      </p:sp>
      <p:sp>
        <p:nvSpPr>
          <p:cNvPr id="9" name="Text 6"/>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0" name="Text 7"/>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Integration schemes used by the paper</a:t>
            </a:r>
            <a:endParaRPr lang="en-US" sz="2800" dirty="0"/>
          </a:p>
        </p:txBody>
      </p:sp>
      <p:pic>
        <p:nvPicPr>
          <p:cNvPr id="3" name="Image 0" descr="line"/>
          <p:cNvPicPr>
            <a:picLocks noChangeAspect="1"/>
          </p:cNvPicPr>
          <p:nvPr/>
        </p:nvPicPr>
        <p:blipFill>
          <a:blip r:embed="rId3"/>
          <a:srcRect t="-3333" b="-3333"/>
          <a:stretch/>
        </p:blipFill>
        <p:spPr>
          <a:xfrm>
            <a:off x="812800" y="1221739"/>
            <a:ext cx="10566400" cy="20320"/>
          </a:xfrm>
          <a:prstGeom prst="rect">
            <a:avLst/>
          </a:prstGeom>
        </p:spPr>
      </p:pic>
      <p:sp>
        <p:nvSpPr>
          <p:cNvPr id="4" name="Text 1"/>
          <p:cNvSpPr/>
          <p:nvPr/>
        </p:nvSpPr>
        <p:spPr>
          <a:xfrm>
            <a:off x="812800" y="1496061"/>
            <a:ext cx="10883392"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1F2A"/>
                </a:solidFill>
                <a:latin typeface="IBM Plex Sans" pitchFamily="34" charset="0"/>
                <a:ea typeface="IBM Plex Sans" pitchFamily="34" charset="-122"/>
                <a:cs typeface="IBM Plex Sans" pitchFamily="34" charset="-120"/>
              </a:rPr>
              <a:t>With f(x, t) = −Gₓ(x, t)⁻¹ Gₜ(x):</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30850788"/>
              </p:ext>
            </p:extLst>
          </p:nvPr>
        </p:nvGraphicFramePr>
        <p:xfrm>
          <a:off x="822960" y="2044699"/>
          <a:ext cx="10556240" cy="1640840"/>
        </p:xfrm>
        <a:graphic>
          <a:graphicData uri="http://schemas.openxmlformats.org/drawingml/2006/table">
            <a:tbl>
              <a:tblPr/>
              <a:tblGrid>
                <a:gridCol w="3166872">
                  <a:extLst>
                    <a:ext uri="{9D8B030D-6E8A-4147-A177-3AD203B41FA5}">
                      <a16:colId xmlns:a16="http://schemas.microsoft.com/office/drawing/2014/main" val="20000"/>
                    </a:ext>
                  </a:extLst>
                </a:gridCol>
                <a:gridCol w="4855870">
                  <a:extLst>
                    <a:ext uri="{9D8B030D-6E8A-4147-A177-3AD203B41FA5}">
                      <a16:colId xmlns:a16="http://schemas.microsoft.com/office/drawing/2014/main" val="20001"/>
                    </a:ext>
                  </a:extLst>
                </a:gridCol>
                <a:gridCol w="1266749">
                  <a:extLst>
                    <a:ext uri="{9D8B030D-6E8A-4147-A177-3AD203B41FA5}">
                      <a16:colId xmlns:a16="http://schemas.microsoft.com/office/drawing/2014/main" val="20002"/>
                    </a:ext>
                  </a:extLst>
                </a:gridCol>
                <a:gridCol w="1266749">
                  <a:extLst>
                    <a:ext uri="{9D8B030D-6E8A-4147-A177-3AD203B41FA5}">
                      <a16:colId xmlns:a16="http://schemas.microsoft.com/office/drawing/2014/main" val="20003"/>
                    </a:ext>
                  </a:extLst>
                </a:gridCol>
              </a:tblGrid>
              <a:tr h="410210">
                <a:tc>
                  <a:txBody>
                    <a:bodyPr/>
                    <a:lstStyle/>
                    <a:p>
                      <a:pPr marL="0" indent="0">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Scheme</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Step</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LUs</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Order</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Forward Euler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xₖ₊₁ = xₖ + Δt f(xₖ, tₖ)</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Backward Euler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xₖ₊₁ = xₖ + Δt f(xₖ, tₖ₊₁)</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RK2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xₖ₊₁ = xₖ + (Δt/2)(k₁ + k₂)</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p:nvPr/>
        </p:nvSpPr>
        <p:spPr>
          <a:xfrm>
            <a:off x="812800" y="3939539"/>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BE is implicit; the paper does a single fixed-point iteration from xₖ</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The only difference from FE is that Gₓ is evaluated at tₖ₊₁ instead of tₖ</a:t>
            </a:r>
            <a:endParaRPr lang="en-US" sz="1600" dirty="0"/>
          </a:p>
        </p:txBody>
      </p:sp>
      <p:sp>
        <p:nvSpPr>
          <p:cNvPr id="7" name="Text 3"/>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The first step: forward vs backward Euler</a:t>
            </a:r>
            <a:endParaRPr lang="en-US" sz="2800" dirty="0"/>
          </a:p>
        </p:txBody>
      </p:sp>
      <p:pic>
        <p:nvPicPr>
          <p:cNvPr id="3" name="Image 0" descr="line"/>
          <p:cNvPicPr>
            <a:picLocks noChangeAspect="1"/>
          </p:cNvPicPr>
          <p:nvPr/>
        </p:nvPicPr>
        <p:blipFill>
          <a:blip r:embed="rId3"/>
          <a:srcRect t="-3333" b="-3333"/>
          <a:stretch/>
        </p:blipFill>
        <p:spPr>
          <a:xfrm>
            <a:off x="812800" y="1221739"/>
            <a:ext cx="10566400" cy="20320"/>
          </a:xfrm>
          <a:prstGeom prst="rect">
            <a:avLst/>
          </a:prstGeom>
        </p:spPr>
      </p:pic>
      <p:sp>
        <p:nvSpPr>
          <p:cNvPr id="4" name="Text 1"/>
          <p:cNvSpPr/>
          <p:nvPr/>
        </p:nvSpPr>
        <p:spPr>
          <a:xfrm>
            <a:off x="812800" y="1496061"/>
            <a:ext cx="10883392"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1F2A"/>
                </a:solidFill>
                <a:latin typeface="IBM Plex Sans" pitchFamily="34" charset="0"/>
                <a:ea typeface="IBM Plex Sans" pitchFamily="34" charset="-122"/>
                <a:cs typeface="IBM Plex Sans" pitchFamily="34" charset="-120"/>
              </a:rPr>
              <a:t>At t = 0, x = x₀ we have Gₜ = g(x₀). The two schemes differ only in Gₓ.</a:t>
            </a:r>
            <a:endParaRPr lang="en-US" sz="1600" dirty="0"/>
          </a:p>
        </p:txBody>
      </p:sp>
      <p:sp>
        <p:nvSpPr>
          <p:cNvPr id="5" name="Text 2"/>
          <p:cNvSpPr/>
          <p:nvPr/>
        </p:nvSpPr>
        <p:spPr>
          <a:xfrm>
            <a:off x="812800" y="2034539"/>
            <a:ext cx="501656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1F2A"/>
                </a:solidFill>
                <a:latin typeface="IBM Plex Sans" pitchFamily="34" charset="0"/>
                <a:ea typeface="IBM Plex Sans" pitchFamily="34" charset="-122"/>
                <a:cs typeface="IBM Plex Sans" pitchFamily="34" charset="-120"/>
              </a:rPr>
              <a:t>Forward Euler</a:t>
            </a:r>
            <a:endParaRPr lang="en-US" sz="1800" dirty="0"/>
          </a:p>
        </p:txBody>
      </p:sp>
      <p:sp>
        <p:nvSpPr>
          <p:cNvPr id="6" name="Text 3"/>
          <p:cNvSpPr/>
          <p:nvPr/>
        </p:nvSpPr>
        <p:spPr>
          <a:xfrm>
            <a:off x="812800" y="24358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Gₓ(x₀, 0) = K I</a:t>
            </a:r>
            <a:endParaRPr lang="en-US" sz="2000" dirty="0"/>
          </a:p>
        </p:txBody>
      </p:sp>
      <p:sp>
        <p:nvSpPr>
          <p:cNvPr id="7" name="Text 4"/>
          <p:cNvSpPr/>
          <p:nvPr/>
        </p:nvSpPr>
        <p:spPr>
          <a:xfrm>
            <a:off x="812800" y="29184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x₁ = x₀ − (Δt₀/K) g(x₀) = x₀ − 50 g(x₀)</a:t>
            </a:r>
            <a:endParaRPr lang="en-US" sz="2000" dirty="0"/>
          </a:p>
        </p:txBody>
      </p:sp>
      <p:sp>
        <p:nvSpPr>
          <p:cNvPr id="9" name="Shape 6"/>
          <p:cNvSpPr/>
          <p:nvPr/>
        </p:nvSpPr>
        <p:spPr>
          <a:xfrm>
            <a:off x="5525105" y="2034539"/>
            <a:ext cx="45719" cy="1394461"/>
          </a:xfrm>
          <a:prstGeom prst="rect">
            <a:avLst/>
          </a:prstGeom>
          <a:solidFill>
            <a:srgbClr val="C9CFD8"/>
          </a:solidFill>
          <a:ln/>
        </p:spPr>
        <p:txBody>
          <a:bodyPr/>
          <a:lstStyle/>
          <a:p>
            <a:endParaRPr lang="en-US"/>
          </a:p>
        </p:txBody>
      </p:sp>
      <p:sp>
        <p:nvSpPr>
          <p:cNvPr id="10" name="Text 7"/>
          <p:cNvSpPr/>
          <p:nvPr/>
        </p:nvSpPr>
        <p:spPr>
          <a:xfrm>
            <a:off x="6508750" y="2034539"/>
            <a:ext cx="501656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1F2A"/>
                </a:solidFill>
                <a:latin typeface="IBM Plex Sans" pitchFamily="34" charset="0"/>
                <a:ea typeface="IBM Plex Sans" pitchFamily="34" charset="-122"/>
                <a:cs typeface="IBM Plex Sans" pitchFamily="34" charset="-120"/>
              </a:rPr>
              <a:t>Backward Euler</a:t>
            </a:r>
            <a:endParaRPr lang="en-US" sz="1800" dirty="0"/>
          </a:p>
        </p:txBody>
      </p:sp>
      <p:sp>
        <p:nvSpPr>
          <p:cNvPr id="11" name="Text 8"/>
          <p:cNvSpPr/>
          <p:nvPr/>
        </p:nvSpPr>
        <p:spPr>
          <a:xfrm>
            <a:off x="6508750" y="24358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Gₓ(x₀, Δt₀) = Δt₀ J + (1 − Δt₀) K I</a:t>
            </a:r>
            <a:endParaRPr lang="en-US" sz="2000" dirty="0"/>
          </a:p>
        </p:txBody>
      </p:sp>
      <p:sp>
        <p:nvSpPr>
          <p:cNvPr id="12" name="Text 9"/>
          <p:cNvSpPr/>
          <p:nvPr/>
        </p:nvSpPr>
        <p:spPr>
          <a:xfrm>
            <a:off x="6508750" y="2918461"/>
            <a:ext cx="5016564"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1B1F2A"/>
                </a:solidFill>
                <a:latin typeface="STIX Two Text" pitchFamily="34" charset="0"/>
                <a:ea typeface="STIX Two Text" pitchFamily="34" charset="-122"/>
                <a:cs typeface="STIX Two Text" pitchFamily="34" charset="-120"/>
              </a:rPr>
              <a:t>x₁ = x₀ − (J + δ I)⁻¹ g(x₀), δ ≈ K/Δt₀ = 0.02</a:t>
            </a:r>
            <a:endParaRPr lang="en-US" sz="2000" dirty="0"/>
          </a:p>
        </p:txBody>
      </p:sp>
      <p:sp>
        <p:nvSpPr>
          <p:cNvPr id="14" name="Text 11"/>
          <p:cNvSpPr/>
          <p:nvPr/>
        </p:nvSpPr>
        <p:spPr>
          <a:xfrm>
            <a:off x="812800" y="3685870"/>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The ODE is stiff at the start, so the implicit scheme is the stable one.</a:t>
            </a:r>
            <a:endParaRPr lang="en-US" sz="1600" dirty="0"/>
          </a:p>
        </p:txBody>
      </p:sp>
      <p:sp>
        <p:nvSpPr>
          <p:cNvPr id="15" name="Text 12"/>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6" name="Text 13"/>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386794"/>
          </a:xfrm>
          <a:prstGeom prst="rect">
            <a:avLst/>
          </a:prstGeom>
          <a:noFill/>
          <a:ln/>
        </p:spPr>
        <p:txBody>
          <a:bodyPr wrap="square" lIns="0" tIns="0" rIns="0" bIns="0" rtlCol="0" anchor="t">
            <a:normAutofit/>
          </a:bodyPr>
          <a:lstStyle/>
          <a:p>
            <a:pPr marL="0" indent="0" algn="l">
              <a:lnSpc>
                <a:spcPts val="2868"/>
              </a:lnSpc>
              <a:buNone/>
            </a:pPr>
            <a:r>
              <a:rPr lang="en-US" sz="2494" b="1" dirty="0">
                <a:solidFill>
                  <a:srgbClr val="1F3A5F"/>
                </a:solidFill>
                <a:latin typeface="IBM Plex Sans" pitchFamily="34" charset="0"/>
                <a:ea typeface="IBM Plex Sans" pitchFamily="34" charset="-122"/>
                <a:cs typeface="IBM Plex Sans" pitchFamily="34" charset="-120"/>
              </a:rPr>
              <a:t>The complete method</a:t>
            </a:r>
            <a:endParaRPr lang="en-US" sz="2494" dirty="0"/>
          </a:p>
        </p:txBody>
      </p:sp>
      <p:pic>
        <p:nvPicPr>
          <p:cNvPr id="3" name="Image 0" descr="line"/>
          <p:cNvPicPr>
            <a:picLocks noChangeAspect="1"/>
          </p:cNvPicPr>
          <p:nvPr/>
        </p:nvPicPr>
        <p:blipFill>
          <a:blip r:embed="rId3"/>
          <a:srcRect t="-3333" b="-3333"/>
          <a:stretch/>
        </p:blipFill>
        <p:spPr>
          <a:xfrm>
            <a:off x="812800" y="1174195"/>
            <a:ext cx="10566400" cy="20320"/>
          </a:xfrm>
          <a:prstGeom prst="rect">
            <a:avLst/>
          </a:prstGeom>
        </p:spPr>
      </p:pic>
      <p:sp>
        <p:nvSpPr>
          <p:cNvPr id="4" name="Text 1"/>
          <p:cNvSpPr/>
          <p:nvPr/>
        </p:nvSpPr>
        <p:spPr>
          <a:xfrm>
            <a:off x="812800" y="2388552"/>
            <a:ext cx="6514338" cy="1325880"/>
          </a:xfrm>
          <a:prstGeom prst="rect">
            <a:avLst/>
          </a:prstGeom>
          <a:noFill/>
          <a:ln/>
        </p:spPr>
        <p:txBody>
          <a:bodyPr wrap="square" lIns="0" tIns="0" rIns="0" bIns="0" rtlCol="0" anchor="t">
            <a:normAutofit/>
          </a:bodyPr>
          <a:lstStyle/>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Start at the flat start x₀, t = 0</a:t>
            </a:r>
            <a:endParaRPr lang="en-US" sz="1600" dirty="0"/>
          </a:p>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BE step to t = 0.005</a:t>
            </a:r>
            <a:endParaRPr lang="en-US" sz="1600" dirty="0"/>
          </a:p>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BE step to t = 1</a:t>
            </a:r>
            <a:endParaRPr lang="en-US" sz="1600" dirty="0"/>
          </a:p>
          <a:p>
            <a:pPr marL="243840" indent="-243840" algn="l">
              <a:lnSpc>
                <a:spcPts val="2560"/>
              </a:lnSpc>
              <a:buSzPct val="100000"/>
              <a:buFontTx/>
              <a:buAutoNum type="arabicPeriod"/>
            </a:pPr>
            <a:r>
              <a:rPr lang="en-US" sz="1600" dirty="0">
                <a:solidFill>
                  <a:srgbClr val="1B1F2A"/>
                </a:solidFill>
                <a:latin typeface="IBM Plex Sans" pitchFamily="34" charset="0"/>
                <a:ea typeface="IBM Plex Sans" pitchFamily="34" charset="-122"/>
                <a:cs typeface="IBM Plex Sans" pitchFamily="34" charset="-120"/>
              </a:rPr>
              <a:t>Newton-Raphson from x(1)</a:t>
            </a:r>
            <a:endParaRPr lang="en-US" sz="1600" dirty="0"/>
          </a:p>
        </p:txBody>
      </p:sp>
      <p:sp>
        <p:nvSpPr>
          <p:cNvPr id="5" name="Text 2"/>
          <p:cNvSpPr/>
          <p:nvPr/>
        </p:nvSpPr>
        <p:spPr>
          <a:xfrm>
            <a:off x="812800" y="3866834"/>
            <a:ext cx="6514338" cy="3111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333A48"/>
                </a:solidFill>
                <a:latin typeface="IBM Plex Sans" pitchFamily="34" charset="0"/>
                <a:ea typeface="IBM Plex Sans" pitchFamily="34" charset="-122"/>
                <a:cs typeface="IBM Plex Sans" pitchFamily="34" charset="-120"/>
              </a:rPr>
              <a:t>K = 10⁻⁴, Δt₀ = 0.005, path {0, 0.005, 1}</a:t>
            </a:r>
            <a:endParaRPr lang="en-US" sz="1500" dirty="0"/>
          </a:p>
        </p:txBody>
      </p:sp>
      <p:sp>
        <p:nvSpPr>
          <p:cNvPr id="6" name="Text 3"/>
          <p:cNvSpPr/>
          <p:nvPr/>
        </p:nvSpPr>
        <p:spPr>
          <a:xfrm>
            <a:off x="812800" y="4330384"/>
            <a:ext cx="6514338"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333A48"/>
                </a:solidFill>
                <a:latin typeface="IBM Plex Sans" pitchFamily="34" charset="0"/>
                <a:ea typeface="IBM Plex Sans" pitchFamily="34" charset="-122"/>
                <a:cs typeface="IBM Plex Sans" pitchFamily="34" charset="-120"/>
              </a:rPr>
              <a:t>Cost: 2 LUs for the path plus about 4 Newton iterations, where Newton alone diverges. The paper also finishes with FDXB instead of Newton.</a:t>
            </a:r>
            <a:endParaRPr lang="en-US" sz="1500" dirty="0"/>
          </a:p>
        </p:txBody>
      </p:sp>
      <p:pic>
        <p:nvPicPr>
          <p:cNvPr id="7" name="Image 1" descr="Voltages, angles and mismatch on the 109,272-bus grid: two BE steps (dotted) then Newton (solid) converging to 1e-11"/>
          <p:cNvPicPr>
            <a:picLocks noChangeAspect="1"/>
          </p:cNvPicPr>
          <p:nvPr/>
        </p:nvPicPr>
        <p:blipFill>
          <a:blip r:embed="rId4"/>
          <a:srcRect l="-1041" r="-1041"/>
          <a:stretch/>
        </p:blipFill>
        <p:spPr>
          <a:xfrm>
            <a:off x="7442200" y="1232297"/>
            <a:ext cx="3937000" cy="4826000"/>
          </a:xfrm>
          <a:prstGeom prst="rect">
            <a:avLst/>
          </a:prstGeom>
        </p:spPr>
      </p:pic>
      <p:sp>
        <p:nvSpPr>
          <p:cNvPr id="8"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9"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Reproduction of the paper's results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B1F2A"/>
                </a:solidFill>
                <a:latin typeface="IBM Plex Sans" pitchFamily="34" charset="0"/>
                <a:ea typeface="IBM Plex Sans" pitchFamily="34" charset="-122"/>
                <a:cs typeface="IBM Plex Sans" pitchFamily="34" charset="-120"/>
              </a:rPr>
              <a:t>Example, Table 4 (case18482, backward Euler): ‖g‖ along the path, then Newton</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026924"/>
          <a:ext cx="10556240" cy="1150620"/>
        </p:xfrm>
        <a:graphic>
          <a:graphicData uri="http://schemas.openxmlformats.org/drawingml/2006/table">
            <a:tbl>
              <a:tblPr/>
              <a:tblGrid>
                <a:gridCol w="1055624">
                  <a:extLst>
                    <a:ext uri="{9D8B030D-6E8A-4147-A177-3AD203B41FA5}">
                      <a16:colId xmlns:a16="http://schemas.microsoft.com/office/drawing/2014/main" val="20000"/>
                    </a:ext>
                  </a:extLst>
                </a:gridCol>
                <a:gridCol w="1055624">
                  <a:extLst>
                    <a:ext uri="{9D8B030D-6E8A-4147-A177-3AD203B41FA5}">
                      <a16:colId xmlns:a16="http://schemas.microsoft.com/office/drawing/2014/main" val="20001"/>
                    </a:ext>
                  </a:extLst>
                </a:gridCol>
                <a:gridCol w="1055624">
                  <a:extLst>
                    <a:ext uri="{9D8B030D-6E8A-4147-A177-3AD203B41FA5}">
                      <a16:colId xmlns:a16="http://schemas.microsoft.com/office/drawing/2014/main" val="20002"/>
                    </a:ext>
                  </a:extLst>
                </a:gridCol>
                <a:gridCol w="1055624">
                  <a:extLst>
                    <a:ext uri="{9D8B030D-6E8A-4147-A177-3AD203B41FA5}">
                      <a16:colId xmlns:a16="http://schemas.microsoft.com/office/drawing/2014/main" val="20003"/>
                    </a:ext>
                  </a:extLst>
                </a:gridCol>
                <a:gridCol w="1055624">
                  <a:extLst>
                    <a:ext uri="{9D8B030D-6E8A-4147-A177-3AD203B41FA5}">
                      <a16:colId xmlns:a16="http://schemas.microsoft.com/office/drawing/2014/main" val="20004"/>
                    </a:ext>
                  </a:extLst>
                </a:gridCol>
                <a:gridCol w="1055624">
                  <a:extLst>
                    <a:ext uri="{9D8B030D-6E8A-4147-A177-3AD203B41FA5}">
                      <a16:colId xmlns:a16="http://schemas.microsoft.com/office/drawing/2014/main" val="20005"/>
                    </a:ext>
                  </a:extLst>
                </a:gridCol>
                <a:gridCol w="1372311">
                  <a:extLst>
                    <a:ext uri="{9D8B030D-6E8A-4147-A177-3AD203B41FA5}">
                      <a16:colId xmlns:a16="http://schemas.microsoft.com/office/drawing/2014/main" val="20006"/>
                    </a:ext>
                  </a:extLst>
                </a:gridCol>
                <a:gridCol w="1372311">
                  <a:extLst>
                    <a:ext uri="{9D8B030D-6E8A-4147-A177-3AD203B41FA5}">
                      <a16:colId xmlns:a16="http://schemas.microsoft.com/office/drawing/2014/main" val="20007"/>
                    </a:ext>
                  </a:extLst>
                </a:gridCol>
                <a:gridCol w="1477874">
                  <a:extLst>
                    <a:ext uri="{9D8B030D-6E8A-4147-A177-3AD203B41FA5}">
                      <a16:colId xmlns:a16="http://schemas.microsoft.com/office/drawing/2014/main" val="20008"/>
                    </a:ext>
                  </a:extLst>
                </a:gridCol>
              </a:tblGrid>
              <a:tr h="383540">
                <a:tc>
                  <a:txBody>
                    <a:bodyPr/>
                    <a:lstStyle/>
                    <a:p>
                      <a:pPr marL="0" indent="0">
                        <a:lnSpc>
                          <a:spcPts val="1960"/>
                        </a:lnSpc>
                        <a:buNone/>
                      </a:pP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t = 0</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0.005</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0.01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0.51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NR 1</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NR 2</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NR 3</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Ours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533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65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7.2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0.042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1.5×10⁻⁵</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9.3×10⁻¹²</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Paper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532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65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7.2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3.7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1.5×10⁻⁵</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1.0×10⁻¹¹</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2"/>
          <p:cNvSpPr/>
          <p:nvPr/>
        </p:nvSpPr>
        <p:spPr>
          <a:xfrm>
            <a:off x="812800" y="3431542"/>
            <a:ext cx="10883392" cy="132588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Tables 2 to 5: 246 of 255 values within a factor of 2 of the paper</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FE and RK2 blow up at the same places as in the paper</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Table 7 iteration counts match on the 5 large grids except in 2 cells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Figures 4 and 5: same voltage paths and final state</a:t>
            </a:r>
            <a:endParaRPr lang="en-US" sz="1600" dirty="0"/>
          </a:p>
        </p:txBody>
      </p:sp>
      <p:sp>
        <p:nvSpPr>
          <p:cNvPr id="7" name="Text 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Checking which root is reached</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132588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Power flow equations have several roots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‖g(x)‖∞ &lt; 10⁻⁸ shows that x is a root, not that it is the intended one</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Reference root V(ref): Newton from the initial guess stored in the case file</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 run counts as correct only if</a:t>
            </a:r>
            <a:endParaRPr lang="en-US" sz="1600" dirty="0"/>
          </a:p>
        </p:txBody>
      </p:sp>
      <p:sp>
        <p:nvSpPr>
          <p:cNvPr id="5" name="Text 2"/>
          <p:cNvSpPr/>
          <p:nvPr/>
        </p:nvSpPr>
        <p:spPr>
          <a:xfrm>
            <a:off x="654304" y="3050542"/>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max over buses of |V − V(ref)| &lt; 10⁻⁴ pu</a:t>
            </a:r>
            <a:endParaRPr lang="en-US" sz="2200" dirty="0"/>
          </a:p>
        </p:txBody>
      </p:sp>
      <p:sp>
        <p:nvSpPr>
          <p:cNvPr id="6" name="Text 3"/>
          <p:cNvSpPr/>
          <p:nvPr/>
        </p:nvSpPr>
        <p:spPr>
          <a:xfrm>
            <a:off x="812800" y="3695700"/>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All converged runs in the paper's Table 7 pass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On our wider test set, 14 of the 141 converged runs of the paper's method reached a different root</a:t>
            </a:r>
            <a:endParaRPr lang="en-US" sz="1600" dirty="0"/>
          </a:p>
        </p:txBody>
      </p:sp>
      <p:sp>
        <p:nvSpPr>
          <p:cNvPr id="7"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Evaluation setup for the improvements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34 grids: the paper's 9 plus 25 more from the same Zenodo records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5 settings of (Δt₀, K), path {0, Δt₀, 1}, giving 170 runs per configuration:</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410460"/>
          <a:ext cx="7609840" cy="1534160"/>
        </p:xfrm>
        <a:graphic>
          <a:graphicData uri="http://schemas.openxmlformats.org/drawingml/2006/table">
            <a:tbl>
              <a:tblPr/>
              <a:tblGrid>
                <a:gridCol w="3043936">
                  <a:extLst>
                    <a:ext uri="{9D8B030D-6E8A-4147-A177-3AD203B41FA5}">
                      <a16:colId xmlns:a16="http://schemas.microsoft.com/office/drawing/2014/main" val="20000"/>
                    </a:ext>
                  </a:extLst>
                </a:gridCol>
                <a:gridCol w="2282952">
                  <a:extLst>
                    <a:ext uri="{9D8B030D-6E8A-4147-A177-3AD203B41FA5}">
                      <a16:colId xmlns:a16="http://schemas.microsoft.com/office/drawing/2014/main" val="20001"/>
                    </a:ext>
                  </a:extLst>
                </a:gridCol>
                <a:gridCol w="2282952">
                  <a:extLst>
                    <a:ext uri="{9D8B030D-6E8A-4147-A177-3AD203B41FA5}">
                      <a16:colId xmlns:a16="http://schemas.microsoft.com/office/drawing/2014/main" val="20002"/>
                    </a:ext>
                  </a:extLst>
                </a:gridCol>
              </a:tblGrid>
              <a:tr h="383540">
                <a:tc>
                  <a:txBody>
                    <a:bodyPr/>
                    <a:lstStyle/>
                    <a:p>
                      <a:pPr marL="0" indent="0">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Setting</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Δt₀</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K</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S1 (paper)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0.005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10⁻⁴</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S2, S3 (paper, Sec. 4.4)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0.05, 0.1</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10⁻³, 2×10⁻³</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S4 (weak K), S5 (strong K)</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0.005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10⁻⁵, 10⁻³</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p:nvPr/>
        </p:nvSpPr>
        <p:spPr>
          <a:xfrm>
            <a:off x="812800" y="4198621"/>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Solved: Newton converges within 10 iterations and reaches the reference root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Cost: LU factorizations per run. Each change is a separate on/off switch</a:t>
            </a:r>
            <a:endParaRPr lang="en-US" sz="1600" dirty="0"/>
          </a:p>
        </p:txBody>
      </p:sp>
      <p:sp>
        <p:nvSpPr>
          <p:cNvPr id="7" name="Text 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Improvement 1: predictor-corrector</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64"/>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Predictor: the BE step gives a point x̃ near, but not on, the path</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Corrector: one Newton step on G(x, tₖ₊₁) = 0 at the fixed new time</a:t>
            </a:r>
            <a:endParaRPr lang="en-US" sz="1600" dirty="0"/>
          </a:p>
        </p:txBody>
      </p:sp>
      <p:sp>
        <p:nvSpPr>
          <p:cNvPr id="5" name="Text 2"/>
          <p:cNvSpPr/>
          <p:nvPr/>
        </p:nvSpPr>
        <p:spPr>
          <a:xfrm>
            <a:off x="654304" y="2400300"/>
            <a:ext cx="10883392" cy="452120"/>
          </a:xfrm>
          <a:prstGeom prst="rect">
            <a:avLst/>
          </a:prstGeom>
          <a:noFill/>
          <a:ln/>
        </p:spPr>
        <p:txBody>
          <a:bodyPr wrap="square" lIns="0" tIns="0" rIns="0" bIns="0" rtlCol="0" anchor="t">
            <a:normAutofit/>
          </a:bodyPr>
          <a:lstStyle/>
          <a:p>
            <a:pPr marL="0" indent="0" algn="ctr">
              <a:lnSpc>
                <a:spcPts val="3360"/>
              </a:lnSpc>
              <a:buNone/>
            </a:pPr>
            <a:r>
              <a:rPr lang="en-US" sz="2400" dirty="0">
                <a:solidFill>
                  <a:srgbClr val="1B1F2A"/>
                </a:solidFill>
                <a:latin typeface="STIX Two Text" pitchFamily="34" charset="0"/>
                <a:ea typeface="STIX Two Text" pitchFamily="34" charset="-122"/>
                <a:cs typeface="STIX Two Text" pitchFamily="34" charset="-120"/>
              </a:rPr>
              <a:t>xₖ₊₁ = x̃ − Gₓ(x̃, tₖ₊₁)⁻¹ G(x̃, tₖ₊₁)</a:t>
            </a:r>
            <a:endParaRPr lang="en-US" sz="2400" dirty="0"/>
          </a:p>
        </p:txBody>
      </p:sp>
      <p:sp>
        <p:nvSpPr>
          <p:cNvPr id="6" name="Text 3"/>
          <p:cNvSpPr/>
          <p:nvPr/>
        </p:nvSpPr>
        <p:spPr>
          <a:xfrm>
            <a:off x="812800" y="3081021"/>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Standard scheme of continuation methods; one extra LU per step</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Result: 152 of 170 solved (paper: 127)</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Wrong roots drop from 14 to 2; 8.43 LUs per run (paper: 8.04)</a:t>
            </a:r>
            <a:endParaRPr lang="en-US" sz="1600" dirty="0"/>
          </a:p>
        </p:txBody>
      </p:sp>
      <p:sp>
        <p:nvSpPr>
          <p:cNvPr id="7"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8"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Improvement 2: optimal multiplier (Iwamoto)</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70664"/>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Damped Newton: take x + μΔx. With a = g(x), c = g(x + Δx) and JΔx = −a:</a:t>
            </a:r>
            <a:endParaRPr lang="en-US" sz="1600" dirty="0"/>
          </a:p>
        </p:txBody>
      </p:sp>
      <p:sp>
        <p:nvSpPr>
          <p:cNvPr id="5" name="Text 2"/>
          <p:cNvSpPr/>
          <p:nvPr/>
        </p:nvSpPr>
        <p:spPr>
          <a:xfrm>
            <a:off x="654304" y="2004064"/>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g(x + μΔx) ≈ (1 − μ) a + μ² c</a:t>
            </a:r>
            <a:endParaRPr lang="en-US" sz="2200" dirty="0"/>
          </a:p>
        </p:txBody>
      </p:sp>
      <p:sp>
        <p:nvSpPr>
          <p:cNvPr id="6" name="Text 3"/>
          <p:cNvSpPr/>
          <p:nvPr/>
        </p:nvSpPr>
        <p:spPr>
          <a:xfrm>
            <a:off x="812800" y="2623821"/>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Minimising the squared norm gives a cubic in μ:</a:t>
            </a:r>
            <a:endParaRPr lang="en-US" sz="1600" dirty="0"/>
          </a:p>
        </p:txBody>
      </p:sp>
      <p:sp>
        <p:nvSpPr>
          <p:cNvPr id="7" name="Text 4"/>
          <p:cNvSpPr/>
          <p:nvPr/>
        </p:nvSpPr>
        <p:spPr>
          <a:xfrm>
            <a:off x="654304" y="3157221"/>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2(c·c) μ³ − 3(a·c) μ² + (a·a + 2 a·c) μ − a·a = 0</a:t>
            </a:r>
            <a:endParaRPr lang="en-US" sz="2200" dirty="0"/>
          </a:p>
        </p:txBody>
      </p:sp>
      <p:sp>
        <p:nvSpPr>
          <p:cNvPr id="8" name="Text 5"/>
          <p:cNvSpPr/>
          <p:nvPr/>
        </p:nvSpPr>
        <p:spPr>
          <a:xfrm>
            <a:off x="812800" y="3776979"/>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No extra LU; μ → 1 near the root, so quadratic convergence is kept</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Alone: 7.14 LUs per run instead of 8.04 (about 11% fewer), 143 solved</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With the corrector: 152 solved at 7.57 LUs</a:t>
            </a:r>
            <a:endParaRPr lang="en-US" sz="1600" dirty="0"/>
          </a:p>
        </p:txBody>
      </p:sp>
      <p:sp>
        <p:nvSpPr>
          <p:cNvPr id="9" name="Text 6"/>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0" name="Text 7"/>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Improvement 3: Richardson step control</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70664"/>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Compare one step of size h with two of size h/2 (method of order p):</a:t>
            </a:r>
            <a:endParaRPr lang="en-US" sz="1600" dirty="0"/>
          </a:p>
        </p:txBody>
      </p:sp>
      <p:sp>
        <p:nvSpPr>
          <p:cNvPr id="5" name="Text 2"/>
          <p:cNvSpPr/>
          <p:nvPr/>
        </p:nvSpPr>
        <p:spPr>
          <a:xfrm>
            <a:off x="654304" y="2004064"/>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err ≈ ‖y(h/2) − y(h)‖∞ / (2ᵖ − 1)</a:t>
            </a:r>
            <a:endParaRPr lang="en-US" sz="2200" dirty="0"/>
          </a:p>
        </p:txBody>
      </p:sp>
      <p:sp>
        <p:nvSpPr>
          <p:cNvPr id="6" name="Text 3"/>
          <p:cNvSpPr/>
          <p:nvPr/>
        </p:nvSpPr>
        <p:spPr>
          <a:xfrm>
            <a:off x="654304" y="2623821"/>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accept if err ≤ tol, y ≈ y(h/2) + (y(h/2) − y(h)) / (2ᵖ − 1)</a:t>
            </a:r>
            <a:endParaRPr lang="en-US" sz="2200" dirty="0"/>
          </a:p>
        </p:txBody>
      </p:sp>
      <p:sp>
        <p:nvSpPr>
          <p:cNvPr id="7" name="Text 4"/>
          <p:cNvSpPr/>
          <p:nvPr/>
        </p:nvSpPr>
        <p:spPr>
          <a:xfrm>
            <a:off x="654304" y="3243579"/>
            <a:ext cx="10883392" cy="416560"/>
          </a:xfrm>
          <a:prstGeom prst="rect">
            <a:avLst/>
          </a:prstGeom>
          <a:noFill/>
          <a:ln/>
        </p:spPr>
        <p:txBody>
          <a:bodyPr wrap="square" lIns="0" tIns="0" rIns="0" bIns="0" rtlCol="0" anchor="t">
            <a:normAutofit/>
          </a:bodyPr>
          <a:lstStyle/>
          <a:p>
            <a:pPr marL="0" indent="0" algn="ctr">
              <a:lnSpc>
                <a:spcPts val="3080"/>
              </a:lnSpc>
              <a:buNone/>
            </a:pPr>
            <a:r>
              <a:rPr lang="en-US" sz="2200" dirty="0">
                <a:solidFill>
                  <a:srgbClr val="1B1F2A"/>
                </a:solidFill>
                <a:latin typeface="STIX Two Text" pitchFamily="34" charset="0"/>
                <a:ea typeface="STIX Two Text" pitchFamily="34" charset="-122"/>
                <a:cs typeface="STIX Two Text" pitchFamily="34" charset="-120"/>
              </a:rPr>
              <a:t>next h = 0.9 · h · (tol / err)^(1/(p+1))</a:t>
            </a:r>
            <a:endParaRPr lang="en-US" sz="2200" dirty="0"/>
          </a:p>
        </p:txBody>
      </p:sp>
      <p:sp>
        <p:nvSpPr>
          <p:cNvPr id="8" name="Text 5"/>
          <p:cNvSpPr/>
          <p:nvPr/>
        </p:nvSpPr>
        <p:spPr>
          <a:xfrm>
            <a:off x="812800" y="3863342"/>
            <a:ext cx="10883392" cy="100076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151 of 170 solved; 156 with the multiplier, the most of any configuration</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Solves some of the hardest cases, at 20 to 30% more LUs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Under error control BE is still cheapest: 10.6 LUs vs FE 37, RK2 48, RK4 87</a:t>
            </a:r>
            <a:endParaRPr lang="en-US" sz="1600" dirty="0"/>
          </a:p>
        </p:txBody>
      </p:sp>
      <p:sp>
        <p:nvSpPr>
          <p:cNvPr id="9" name="Text 6"/>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10" name="Text 7"/>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Results on the 170 runs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506224"/>
          <a:ext cx="10556239" cy="2871470"/>
        </p:xfrm>
        <a:graphic>
          <a:graphicData uri="http://schemas.openxmlformats.org/drawingml/2006/table">
            <a:tbl>
              <a:tblPr/>
              <a:tblGrid>
                <a:gridCol w="4855870">
                  <a:extLst>
                    <a:ext uri="{9D8B030D-6E8A-4147-A177-3AD203B41FA5}">
                      <a16:colId xmlns:a16="http://schemas.microsoft.com/office/drawing/2014/main" val="20000"/>
                    </a:ext>
                  </a:extLst>
                </a:gridCol>
                <a:gridCol w="1900123">
                  <a:extLst>
                    <a:ext uri="{9D8B030D-6E8A-4147-A177-3AD203B41FA5}">
                      <a16:colId xmlns:a16="http://schemas.microsoft.com/office/drawing/2014/main" val="20001"/>
                    </a:ext>
                  </a:extLst>
                </a:gridCol>
                <a:gridCol w="1900123">
                  <a:extLst>
                    <a:ext uri="{9D8B030D-6E8A-4147-A177-3AD203B41FA5}">
                      <a16:colId xmlns:a16="http://schemas.microsoft.com/office/drawing/2014/main" val="20002"/>
                    </a:ext>
                  </a:extLst>
                </a:gridCol>
                <a:gridCol w="1900123">
                  <a:extLst>
                    <a:ext uri="{9D8B030D-6E8A-4147-A177-3AD203B41FA5}">
                      <a16:colId xmlns:a16="http://schemas.microsoft.com/office/drawing/2014/main" val="20003"/>
                    </a:ext>
                  </a:extLst>
                </a:gridCol>
              </a:tblGrid>
              <a:tr h="410210">
                <a:tc>
                  <a:txBody>
                    <a:bodyPr/>
                    <a:lstStyle/>
                    <a:p>
                      <a:pPr marL="0" indent="0">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Configuration</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Solved</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Wrong root</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2100"/>
                        </a:lnSpc>
                        <a:buNone/>
                      </a:pPr>
                      <a:r>
                        <a:rPr lang="en-US" sz="1500" b="1" dirty="0">
                          <a:solidFill>
                            <a:srgbClr val="1B1F2A"/>
                          </a:solidFill>
                          <a:latin typeface="IBM Plex Sans" pitchFamily="34" charset="0"/>
                          <a:ea typeface="IBM Plex Sans" pitchFamily="34" charset="-122"/>
                          <a:cs typeface="IBM Plex Sans" pitchFamily="34" charset="-120"/>
                        </a:rPr>
                        <a:t>LUs per run</a:t>
                      </a:r>
                      <a:endParaRPr lang="en-US" sz="1500" dirty="0">
                        <a:latin typeface="IBM Plex Sans" charset="0"/>
                        <a:ea typeface="IBM Plex Sans" charset="0"/>
                        <a:cs typeface="IBM Plex Sans" charset="0"/>
                      </a:endParaRPr>
                    </a:p>
                  </a:txBody>
                  <a:tcPr marL="66675" marR="66675" marT="66675" marB="6667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Paper's method</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127</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14</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8.04</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Corrector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8.43</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Multiplier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143</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7.14</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Multiplier + corrector</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152</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3</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7.57</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Richardson (BE)</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151</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10.6</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5"/>
                  </a:ext>
                </a:extLst>
              </a:tr>
              <a:tr h="410210">
                <a:tc>
                  <a:txBody>
                    <a:bodyPr/>
                    <a:lstStyle/>
                    <a:p>
                      <a:pPr marL="0" indent="0">
                        <a:lnSpc>
                          <a:spcPts val="2100"/>
                        </a:lnSpc>
                        <a:buNone/>
                      </a:pPr>
                      <a:r>
                        <a:rPr lang="en-US" sz="1500" dirty="0">
                          <a:solidFill>
                            <a:srgbClr val="1B1F2A"/>
                          </a:solidFill>
                          <a:latin typeface="IBM Plex Sans" pitchFamily="34" charset="0"/>
                          <a:ea typeface="IBM Plex Sans" pitchFamily="34" charset="-122"/>
                          <a:cs typeface="IBM Plex Sans" pitchFamily="34" charset="-120"/>
                        </a:rPr>
                        <a:t>Multiplier + Richardson</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156</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8</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100"/>
                        </a:lnSpc>
                        <a:buNone/>
                      </a:pPr>
                      <a:r>
                        <a:rPr lang="en-US" sz="1500" dirty="0">
                          <a:solidFill>
                            <a:srgbClr val="1B1F2A"/>
                          </a:solidFill>
                          <a:latin typeface="IBM Plex Sans" pitchFamily="34" charset="0"/>
                          <a:ea typeface="IBM Plex Sans" pitchFamily="34" charset="-122"/>
                          <a:cs typeface="IBM Plex Sans" pitchFamily="34" charset="-120"/>
                        </a:rPr>
                        <a:t>9.75</a:t>
                      </a:r>
                      <a:endParaRPr lang="en-US" sz="1500" dirty="0">
                        <a:latin typeface="IBM Plex Sans" charset="0"/>
                        <a:ea typeface="IBM Plex Sans" charset="0"/>
                        <a:cs typeface="IBM Plex Sans" charset="0"/>
                      </a:endParaRP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1"/>
          <p:cNvSpPr/>
          <p:nvPr/>
        </p:nvSpPr>
        <p:spPr>
          <a:xfrm>
            <a:off x="812800" y="4631692"/>
            <a:ext cx="10883392" cy="675640"/>
          </a:xfrm>
          <a:prstGeom prst="rect">
            <a:avLst/>
          </a:prstGeom>
          <a:noFill/>
          <a:ln/>
        </p:spPr>
        <p:txBody>
          <a:bodyPr wrap="square" lIns="0" tIns="0" rIns="0" bIns="0" rtlCol="0" anchor="t">
            <a:normAutofit/>
          </a:bodyPr>
          <a:lstStyle/>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Corrector: fewer wrong roots. Multiplier: lower cost. Richardson: the hardest cases</a:t>
            </a:r>
            <a:endParaRPr lang="en-US" sz="1600" dirty="0"/>
          </a:p>
          <a:p>
            <a:pPr marL="243840" indent="-196342" algn="l">
              <a:lnSpc>
                <a:spcPts val="2560"/>
              </a:lnSpc>
              <a:buSzPct val="100000"/>
              <a:buChar char="•"/>
            </a:pPr>
            <a:r>
              <a:rPr lang="en-US" sz="1600" dirty="0">
                <a:solidFill>
                  <a:srgbClr val="1B1F2A"/>
                </a:solidFill>
                <a:latin typeface="IBM Plex Sans" pitchFamily="34" charset="0"/>
                <a:ea typeface="IBM Plex Sans" pitchFamily="34" charset="-122"/>
                <a:cs typeface="IBM Plex Sans" pitchFamily="34" charset="-120"/>
              </a:rPr>
              <a:t>Multiplier + corrector solves 25 more runs than the paper at lower cost</a:t>
            </a:r>
            <a:endParaRPr lang="en-US" sz="1600" dirty="0"/>
          </a:p>
        </p:txBody>
      </p:sp>
      <p:sp>
        <p:nvSpPr>
          <p:cNvPr id="6" name="Text 2"/>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7"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Changes that did not help</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506218"/>
          <a:ext cx="10556240" cy="2301240"/>
        </p:xfrm>
        <a:graphic>
          <a:graphicData uri="http://schemas.openxmlformats.org/drawingml/2006/table">
            <a:tbl>
              <a:tblPr/>
              <a:tblGrid>
                <a:gridCol w="3800246">
                  <a:extLst>
                    <a:ext uri="{9D8B030D-6E8A-4147-A177-3AD203B41FA5}">
                      <a16:colId xmlns:a16="http://schemas.microsoft.com/office/drawing/2014/main" val="20000"/>
                    </a:ext>
                  </a:extLst>
                </a:gridCol>
                <a:gridCol w="1266749">
                  <a:extLst>
                    <a:ext uri="{9D8B030D-6E8A-4147-A177-3AD203B41FA5}">
                      <a16:colId xmlns:a16="http://schemas.microsoft.com/office/drawing/2014/main" val="20001"/>
                    </a:ext>
                  </a:extLst>
                </a:gridCol>
                <a:gridCol w="5489245">
                  <a:extLst>
                    <a:ext uri="{9D8B030D-6E8A-4147-A177-3AD203B41FA5}">
                      <a16:colId xmlns:a16="http://schemas.microsoft.com/office/drawing/2014/main" val="20002"/>
                    </a:ext>
                  </a:extLst>
                </a:gridCol>
              </a:tblGrid>
              <a:tr h="383540">
                <a:tc>
                  <a:txBody>
                    <a:bodyPr/>
                    <a:lstStyle/>
                    <a:p>
                      <a:pPr marL="0" indent="0">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Change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gn="r">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Solved</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marL="0" indent="0">
                        <a:lnSpc>
                          <a:spcPts val="1960"/>
                        </a:lnSpc>
                        <a:buNone/>
                      </a:pPr>
                      <a:r>
                        <a:rPr lang="en-US" sz="1400" b="1" dirty="0">
                          <a:solidFill>
                            <a:srgbClr val="1B1F2A"/>
                          </a:solidFill>
                          <a:latin typeface="IBM Plex Sans" pitchFamily="34" charset="0"/>
                          <a:ea typeface="IBM Plex Sans" pitchFamily="34" charset="-122"/>
                          <a:cs typeface="IBM Plex Sans" pitchFamily="34" charset="-120"/>
                        </a:rPr>
                        <a:t>Reason</a:t>
                      </a:r>
                      <a:endParaRPr lang="en-US" sz="1400" dirty="0">
                        <a:latin typeface="IBM Plex Sans" charset="0"/>
                        <a:ea typeface="IBM Plex Sans" charset="0"/>
                        <a:cs typeface="IBM Plex Sans" charset="0"/>
                      </a:endParaRPr>
                    </a:p>
                  </a:txBody>
                  <a:tcPr marL="62230" marR="62230" marT="62230" marB="6223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RK4 with fixed steps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Explicit; higher order does not fix stiffness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BE with 3 fixed-point iterations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89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Not a contraction for large Δt, iterates drift</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Newton homotopy g(x) − (1 − t) g(x₀)</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75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Gₓ = J, no K I shift, J stays near-singular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Scaled homotopy K D (x − x₀)</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129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Almost the same as the paper (127)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Adaptive step halving</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1960"/>
                        </a:lnSpc>
                        <a:buNone/>
                      </a:pPr>
                      <a:r>
                        <a:rPr lang="en-US" sz="1400" dirty="0">
                          <a:solidFill>
                            <a:srgbClr val="1B1F2A"/>
                          </a:solidFill>
                          <a:latin typeface="IBM Plex Sans" pitchFamily="34" charset="0"/>
                          <a:ea typeface="IBM Plex Sans" pitchFamily="34" charset="-122"/>
                          <a:cs typeface="IBM Plex Sans" pitchFamily="34" charset="-120"/>
                        </a:rPr>
                        <a:t>132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960"/>
                        </a:lnSpc>
                        <a:buNone/>
                      </a:pPr>
                      <a:r>
                        <a:rPr lang="en-US" sz="1400" dirty="0">
                          <a:solidFill>
                            <a:srgbClr val="1B1F2A"/>
                          </a:solidFill>
                          <a:latin typeface="IBM Plex Sans" pitchFamily="34" charset="0"/>
                          <a:ea typeface="IBM Plex Sans" pitchFamily="34" charset="-122"/>
                          <a:cs typeface="IBM Plex Sans" pitchFamily="34" charset="-120"/>
                        </a:rPr>
                        <a:t>Small gain; rejected steps still cost LUs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1"/>
          <p:cNvSpPr/>
          <p:nvPr/>
        </p:nvSpPr>
        <p:spPr>
          <a:xfrm>
            <a:off x="812800" y="4061458"/>
            <a:ext cx="10883392" cy="3302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1B1F2A"/>
                </a:solidFill>
                <a:latin typeface="IBM Plex Sans" pitchFamily="34" charset="0"/>
                <a:ea typeface="IBM Plex Sans" pitchFamily="34" charset="-122"/>
                <a:cs typeface="IBM Plex Sans" pitchFamily="34" charset="-120"/>
              </a:rPr>
              <a:t>The Newton homotopy result shows that the K I shift is what makes the paper's method work.</a:t>
            </a:r>
            <a:endParaRPr lang="en-US" sz="1600" dirty="0"/>
          </a:p>
        </p:txBody>
      </p:sp>
      <p:sp>
        <p:nvSpPr>
          <p:cNvPr id="6" name="Text 2"/>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7"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26482"/>
          </a:xfrm>
          <a:prstGeom prst="rect">
            <a:avLst/>
          </a:prstGeom>
          <a:noFill/>
          <a:ln/>
        </p:spPr>
        <p:txBody>
          <a:bodyPr wrap="square" lIns="0" tIns="0" rIns="0" bIns="0" rtlCol="0" anchor="t">
            <a:normAutofit/>
          </a:bodyPr>
          <a:lstStyle/>
          <a:p>
            <a:pPr marL="0" indent="0" algn="l">
              <a:lnSpc>
                <a:spcPts val="3170"/>
              </a:lnSpc>
              <a:buNone/>
            </a:pPr>
            <a:r>
              <a:rPr lang="en-US" sz="2756" b="1" dirty="0">
                <a:solidFill>
                  <a:srgbClr val="1F3A5F"/>
                </a:solidFill>
                <a:latin typeface="IBM Plex Sans" pitchFamily="34" charset="0"/>
                <a:ea typeface="IBM Plex Sans" pitchFamily="34" charset="-122"/>
                <a:cs typeface="IBM Plex Sans" pitchFamily="34" charset="-120"/>
              </a:rPr>
              <a:t>Studies from our proposal presentation</a:t>
            </a:r>
            <a:endParaRPr lang="en-US" sz="2756" dirty="0"/>
          </a:p>
        </p:txBody>
      </p:sp>
      <p:pic>
        <p:nvPicPr>
          <p:cNvPr id="3" name="Image 0" descr="line"/>
          <p:cNvPicPr>
            <a:picLocks noChangeAspect="1"/>
          </p:cNvPicPr>
          <p:nvPr/>
        </p:nvPicPr>
        <p:blipFill>
          <a:blip r:embed="rId3"/>
          <a:srcRect t="-3333" b="-3333"/>
          <a:stretch/>
        </p:blipFill>
        <p:spPr>
          <a:xfrm>
            <a:off x="812800" y="1213879"/>
            <a:ext cx="10566400" cy="20320"/>
          </a:xfrm>
          <a:prstGeom prst="rect">
            <a:avLst/>
          </a:prstGeom>
        </p:spPr>
      </p:pic>
      <p:sp>
        <p:nvSpPr>
          <p:cNvPr id="4" name="Text 1"/>
          <p:cNvSpPr/>
          <p:nvPr/>
        </p:nvSpPr>
        <p:spPr>
          <a:xfrm>
            <a:off x="812800" y="2452216"/>
            <a:ext cx="5467858" cy="2425700"/>
          </a:xfrm>
          <a:prstGeom prst="rect">
            <a:avLst/>
          </a:prstGeom>
          <a:noFill/>
          <a:ln/>
        </p:spPr>
        <p:txBody>
          <a:bodyPr wrap="square" lIns="0" tIns="0" rIns="0" bIns="0" rtlCol="0" anchor="t">
            <a:normAutofit/>
          </a:bodyPr>
          <a:lstStyle/>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Power method and shifted inverse iteration: |λ|min of J is 4×10⁻⁴ to 6×10⁻³; the shift δ = 0.02 lowers the eigenvalue ratio from 1.2×10⁸ to about 2×10⁶</a:t>
            </a:r>
            <a:endParaRPr lang="en-US" sz="1400" dirty="0"/>
          </a:p>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Sweep over (K, Δt₀), right: the method works in a band of constant δ = K/Δt₀</a:t>
            </a:r>
            <a:endParaRPr lang="en-US" sz="1400" dirty="0"/>
          </a:p>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Golden-section search for δ: 23 of 25 new grids solved instead of 19, but costs about 21 solves</a:t>
            </a:r>
            <a:endParaRPr lang="en-US" sz="1400" dirty="0"/>
          </a:p>
          <a:p>
            <a:pPr marL="213360" indent="-175768" algn="l">
              <a:lnSpc>
                <a:spcPts val="2100"/>
              </a:lnSpc>
              <a:buSzPct val="100000"/>
              <a:buChar char="•"/>
            </a:pPr>
            <a:r>
              <a:rPr lang="en-US" sz="1400" dirty="0">
                <a:solidFill>
                  <a:srgbClr val="1B1F2A"/>
                </a:solidFill>
                <a:latin typeface="IBM Plex Sans" pitchFamily="34" charset="0"/>
                <a:ea typeface="IBM Plex Sans" pitchFamily="34" charset="-122"/>
                <a:cs typeface="IBM Plex Sans" pitchFamily="34" charset="-120"/>
              </a:rPr>
              <a:t>Our own Gauss / LU with pivoting: same iterates to 5×10⁻¹², but 424 s vs 0.04 s (no sparsity)</a:t>
            </a:r>
            <a:endParaRPr lang="en-US" sz="1400" dirty="0"/>
          </a:p>
        </p:txBody>
      </p:sp>
      <p:pic>
        <p:nvPicPr>
          <p:cNvPr id="5" name="Image 1" descr="Outcome of the paper's method over a grid of K and dt0 for four grids: green reference root, yellow other root, grey failure"/>
          <p:cNvPicPr>
            <a:picLocks noChangeAspect="1"/>
          </p:cNvPicPr>
          <p:nvPr/>
        </p:nvPicPr>
        <p:blipFill>
          <a:blip r:embed="rId4"/>
          <a:srcRect t="-377" b="-377"/>
          <a:stretch/>
        </p:blipFill>
        <p:spPr>
          <a:xfrm>
            <a:off x="6426200" y="1429941"/>
            <a:ext cx="4953000" cy="4445000"/>
          </a:xfrm>
          <a:prstGeom prst="rect">
            <a:avLst/>
          </a:prstGeom>
        </p:spPr>
      </p:pic>
      <p:sp>
        <p:nvSpPr>
          <p:cNvPr id="6" name="Text 2"/>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Lima-Silva &amp; Freitas (2024): reproduction and improvements</a:t>
            </a:r>
            <a:endParaRPr lang="en-US" sz="1200" dirty="0"/>
          </a:p>
        </p:txBody>
      </p:sp>
      <p:sp>
        <p:nvSpPr>
          <p:cNvPr id="7"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F3A5F"/>
                </a:solidFill>
                <a:latin typeface="IBM Plex Sans" pitchFamily="34" charset="0"/>
                <a:ea typeface="IBM Plex Sans" pitchFamily="34" charset="-122"/>
                <a:cs typeface="IBM Plex Sans" pitchFamily="34" charset="-120"/>
              </a:rPr>
              <a:t>Conclusions</a:t>
            </a:r>
            <a:endParaRPr lang="en-US" sz="2800" dirty="0"/>
          </a:p>
        </p:txBody>
      </p:sp>
      <p:pic>
        <p:nvPicPr>
          <p:cNvPr id="3" name="Image 0" descr="line"/>
          <p:cNvPicPr>
            <a:picLocks noChangeAspect="1"/>
          </p:cNvPicPr>
          <p:nvPr/>
        </p:nvPicPr>
        <p:blipFill>
          <a:blip r:embed="rId3"/>
          <a:srcRect t="-3333" b="-3333"/>
          <a:stretch/>
        </p:blipFill>
        <p:spPr>
          <a:xfrm>
            <a:off x="812800" y="1221742"/>
            <a:ext cx="10566400" cy="20320"/>
          </a:xfrm>
          <a:prstGeom prst="rect">
            <a:avLst/>
          </a:prstGeom>
        </p:spPr>
      </p:pic>
      <p:sp>
        <p:nvSpPr>
          <p:cNvPr id="4" name="Text 1"/>
          <p:cNvSpPr/>
          <p:nvPr/>
        </p:nvSpPr>
        <p:spPr>
          <a:xfrm>
            <a:off x="812800" y="1496058"/>
            <a:ext cx="10883392" cy="2098040"/>
          </a:xfrm>
          <a:prstGeom prst="rect">
            <a:avLst/>
          </a:prstGeom>
          <a:noFill/>
          <a:ln/>
        </p:spPr>
        <p:txBody>
          <a:bodyPr wrap="square" lIns="0" tIns="0" rIns="0" bIns="0" rtlCol="0" anchor="t">
            <a:normAutofit/>
          </a:bodyPr>
          <a:lstStyle/>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The paper's first BE step is a Newton step on J + δI, which is why it works where Newton fails</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We reproduced the method and its tables from scratch in Python</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A converged run is not always the intended root; we check every run against a reference</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Predictor-corrector, optimal multiplier and Richardson step control raise the solved runs from 127 to 152 to 156 of 170</a:t>
            </a:r>
            <a:endParaRPr lang="en-US" sz="1600" dirty="0"/>
          </a:p>
          <a:p>
            <a:pPr marL="243840" indent="-196342" algn="l">
              <a:lnSpc>
                <a:spcPts val="2720"/>
              </a:lnSpc>
              <a:buSzPct val="100000"/>
              <a:buChar char="•"/>
            </a:pPr>
            <a:r>
              <a:rPr lang="en-US" sz="1600" dirty="0">
                <a:solidFill>
                  <a:srgbClr val="1B1F2A"/>
                </a:solidFill>
                <a:latin typeface="IBM Plex Sans" pitchFamily="34" charset="0"/>
                <a:ea typeface="IBM Plex Sans" pitchFamily="34" charset="-122"/>
                <a:cs typeface="IBM Plex Sans" pitchFamily="34" charset="-120"/>
              </a:rPr>
              <a:t>Backward Euler remains the cheapest integrator, even with error control</a:t>
            </a:r>
            <a:endParaRPr lang="en-US" sz="1600" dirty="0"/>
          </a:p>
        </p:txBody>
      </p:sp>
      <p:sp>
        <p:nvSpPr>
          <p:cNvPr id="5" name="Text 2"/>
          <p:cNvSpPr/>
          <p:nvPr/>
        </p:nvSpPr>
        <p:spPr>
          <a:xfrm>
            <a:off x="812800" y="3822700"/>
            <a:ext cx="10883392"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F3A5F"/>
                </a:solidFill>
                <a:latin typeface="IBM Plex Sans" pitchFamily="34" charset="0"/>
                <a:ea typeface="IBM Plex Sans" pitchFamily="34" charset="-122"/>
                <a:cs typeface="IBM Plex Sans" pitchFamily="34" charset="-120"/>
              </a:rPr>
              <a:t>Thank you. Questions?</a:t>
            </a:r>
            <a:endParaRPr lang="en-US" sz="1800" dirty="0"/>
          </a:p>
        </p:txBody>
      </p:sp>
      <p:sp>
        <p:nvSpPr>
          <p:cNvPr id="6" name="Text 3"/>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TextBox 1"/>
          <p:cNvSpPr txBox="1"/>
          <p:nvPr/>
        </p:nvSpPr>
        <p:spPr>
          <a:xfrm>
            <a:off x="813816" y="713232"/>
            <a:ext cx="10881360" cy="429768"/>
          </a:xfrm>
          <a:prstGeom prst="rect">
            <a:avLst/>
          </a:prstGeom>
          <a:noFill/>
        </p:spPr>
        <p:txBody>
          <a:bodyPr wrap="square" lIns="0" rIns="0" tIns="0" bIns="0">
            <a:spAutoFit/>
          </a:bodyPr>
          <a:lstStyle/>
          <a:p>
            <a:pPr algn="l" marL="0" indent="0">
              <a:buNone/>
            </a:pPr>
            <a:r>
              <a:rPr sz="2800" b="1" i="0">
                <a:solidFill>
                  <a:srgbClr val="1F3A5F"/>
                </a:solidFill>
                <a:latin typeface="IBM Plex Sans"/>
                <a:ea typeface="IBM Plex Sans"/>
                <a:cs typeface="IBM Plex Sans"/>
              </a:rPr>
              <a:t>What is stored in a .mat case file</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rIns="0" tIns="0" bIns="0">
            <a:spAutoFit/>
          </a:bodyPr>
          <a:lstStyle/>
          <a:p>
            <a:pPr algn="l" marL="0" indent="0">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rIns="0" tIns="0" bIns="0">
            <a:spAutoFit/>
          </a:bodyPr>
          <a:lstStyle/>
          <a:p>
            <a:pPr algn="r" marL="0" indent="0">
              <a:buNone/>
            </a:pPr>
            <a:r>
              <a:rPr sz="1200" b="0" i="0">
                <a:solidFill>
                  <a:srgbClr val="6B7280"/>
                </a:solidFill>
                <a:latin typeface="IBM Plex Sans"/>
                <a:ea typeface="IBM Plex Sans"/>
                <a:cs typeface="IBM Plex Sans"/>
              </a:rPr>
              <a:t>2</a:t>
            </a:r>
          </a:p>
        </p:txBody>
      </p:sp>
      <p:sp>
        <p:nvSpPr>
          <p:cNvPr id="6" name="TextBox 5"/>
          <p:cNvSpPr txBox="1"/>
          <p:nvPr/>
        </p:nvSpPr>
        <p:spPr>
          <a:xfrm>
            <a:off x="813816" y="1463040"/>
            <a:ext cx="10881360" cy="329184"/>
          </a:xfrm>
          <a:prstGeom prst="rect">
            <a:avLst/>
          </a:prstGeom>
          <a:noFill/>
        </p:spPr>
        <p:txBody>
          <a:bodyPr wrap="square" lIns="0" rIns="0" tIns="0" bIns="0">
            <a:spAutoFit/>
          </a:bodyPr>
          <a:lstStyle/>
          <a:p>
            <a:pPr algn="l" marL="0" indent="0">
              <a:buNone/>
            </a:pPr>
            <a:r>
              <a:rPr sz="1600" b="0" i="0">
                <a:solidFill>
                  <a:srgbClr val="1B1F2A"/>
                </a:solidFill>
                <a:latin typeface="IBM Plex Sans"/>
                <a:ea typeface="IBM Plex Sans"/>
                <a:cs typeface="IBM Plex Sans"/>
              </a:rPr>
              <a:t>Each grid is one MATPOWER file: a structure mpc with baseMVA and three tables</a:t>
            </a:r>
          </a:p>
        </p:txBody>
      </p:sp>
      <p:graphicFrame>
        <p:nvGraphicFramePr>
          <p:cNvPr id="7" name="Table 6"/>
          <p:cNvGraphicFramePr>
            <a:graphicFrameLocks noGrp="1"/>
          </p:cNvGraphicFramePr>
          <p:nvPr/>
        </p:nvGraphicFramePr>
        <p:xfrm>
          <a:off x="822960" y="1901952"/>
          <a:ext cx="10552176" cy="1828800"/>
        </p:xfrm>
        <a:graphic>
          <a:graphicData uri="http://schemas.openxmlformats.org/drawingml/2006/table">
            <a:tbl>
              <a:tblPr/>
              <a:tblGrid>
                <a:gridCol w="1463040"/>
                <a:gridCol w="2286000"/>
                <a:gridCol w="6803136"/>
              </a:tblGrid>
              <a:tr h="365760">
                <a:tc>
                  <a:txBody>
                    <a:bodyPr/>
                    <a:lstStyle/>
                    <a:p>
                      <a:r>
                        <a:rPr sz="1400" b="1" i="0">
                          <a:solidFill>
                            <a:srgbClr val="1B1F2A"/>
                          </a:solidFill>
                          <a:latin typeface="IBM Plex Sans"/>
                          <a:ea typeface="IBM Plex Sans"/>
                          <a:cs typeface="IBM Plex Sans"/>
                        </a:rPr>
                        <a:t>Table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One row per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Columns we use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r>
              <a:tr h="365760">
                <a:tc>
                  <a:txBody>
                    <a:bodyPr/>
                    <a:lstStyle/>
                    <a:p>
                      <a:r>
                        <a:rPr sz="1400" b="0" i="0">
                          <a:solidFill>
                            <a:srgbClr val="1B1F2A"/>
                          </a:solidFill>
                          <a:latin typeface="IBM Plex Sans"/>
                          <a:ea typeface="IBM Plex Sans"/>
                          <a:cs typeface="IBM Plex Sans"/>
                        </a:rPr>
                        <a:t>bus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bus (node)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number, type (1 = PQ, 2 = PV, 3 = slack), load PD, QD, shunt GS, BS, stored VM, VA</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65760">
                <a:tc>
                  <a:txBody>
                    <a:bodyPr/>
                    <a:lstStyle/>
                    <a:p>
                      <a:r>
                        <a:rPr sz="1400" b="0" i="0">
                          <a:solidFill>
                            <a:srgbClr val="1B1F2A"/>
                          </a:solidFill>
                          <a:latin typeface="IBM Plex Sans"/>
                          <a:ea typeface="IBM Plex Sans"/>
                          <a:cs typeface="IBM Plex Sans"/>
                        </a:rPr>
                        <a:t>gen</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generator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bus, output PG, QG, held voltage VG, status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65760">
                <a:tc>
                  <a:txBody>
                    <a:bodyPr/>
                    <a:lstStyle/>
                    <a:p>
                      <a:r>
                        <a:rPr sz="1400" b="0" i="0">
                          <a:solidFill>
                            <a:srgbClr val="1B1F2A"/>
                          </a:solidFill>
                          <a:latin typeface="IBM Plex Sans"/>
                          <a:ea typeface="IBM Plex Sans"/>
                          <a:cs typeface="IBM Plex Sans"/>
                        </a:rPr>
                        <a:t>branch</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line or transformer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from bus, to bus, r, x, charging b, tap ratio, phase shift, status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65760">
                <a:tc>
                  <a:txBody>
                    <a:bodyPr/>
                    <a:lstStyle/>
                    <a:p>
                      <a:r>
                        <a:rPr sz="1400" b="0" i="0">
                          <a:solidFill>
                            <a:srgbClr val="1B1F2A"/>
                          </a:solidFill>
                          <a:latin typeface="IBM Plex Sans"/>
                          <a:ea typeface="IBM Plex Sans"/>
                          <a:cs typeface="IBM Plex Sans"/>
                        </a:rPr>
                        <a:t>baseMVA</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whole grid</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usually 100: MW and MVAr are divided by it (per unit)</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8" name="TextBox 7"/>
          <p:cNvSpPr txBox="1"/>
          <p:nvPr/>
        </p:nvSpPr>
        <p:spPr>
          <a:xfrm>
            <a:off x="813816" y="3913632"/>
            <a:ext cx="10881360" cy="274320"/>
          </a:xfrm>
          <a:prstGeom prst="rect">
            <a:avLst/>
          </a:prstGeom>
          <a:noFill/>
        </p:spPr>
        <p:txBody>
          <a:bodyPr wrap="square" lIns="0" rIns="0" tIns="0" bIns="0">
            <a:spAutoFit/>
          </a:bodyPr>
          <a:lstStyle/>
          <a:p>
            <a:pPr algn="l" marL="0" indent="0">
              <a:buNone/>
            </a:pPr>
            <a:r>
              <a:rPr sz="1500" b="0" i="0">
                <a:solidFill>
                  <a:srgbClr val="333A48"/>
                </a:solidFill>
                <a:latin typeface="IBM Plex Sans"/>
                <a:ea typeface="IBM Plex Sans"/>
                <a:cs typeface="IBM Plex Sans"/>
              </a:rPr>
              <a:t>Our smallest example, simple2.mat (base 100 MVA):</a:t>
            </a:r>
          </a:p>
        </p:txBody>
      </p:sp>
      <p:sp>
        <p:nvSpPr>
          <p:cNvPr id="9" name="TextBox 8"/>
          <p:cNvSpPr txBox="1"/>
          <p:nvPr/>
        </p:nvSpPr>
        <p:spPr>
          <a:xfrm>
            <a:off x="813816" y="4261104"/>
            <a:ext cx="10552176" cy="1463040"/>
          </a:xfrm>
          <a:prstGeom prst="rect">
            <a:avLst/>
          </a:prstGeom>
          <a:solidFill>
            <a:srgbClr val="F1EFEA"/>
          </a:solidFill>
        </p:spPr>
        <p:txBody>
          <a:bodyPr wrap="square" lIns="137160" rIns="137160" tIns="137160" bIns="137160">
            <a:spAutoFit/>
          </a:bodyPr>
          <a:lstStyle/>
          <a:p>
            <a:pPr algn="l" marL="0" indent="0">
              <a:lnSpc>
                <a:spcPts val="2100"/>
              </a:lnSpc>
              <a:buNone/>
            </a:pPr>
            <a:r>
              <a:rPr sz="1300" b="0" i="0">
                <a:solidFill>
                  <a:srgbClr val="1B1F2A"/>
                </a:solidFill>
                <a:latin typeface="Courier New"/>
                <a:ea typeface="Courier New"/>
                <a:cs typeface="Courier New"/>
              </a:rPr>
              <a:t>bus    = [ 1  3   0   0  ...  VM 1.0  VA 0 ]    bus 1: slack, no load</a:t>
            </a:r>
          </a:p>
          <a:p>
            <a:pPr algn="l" marL="0" indent="0">
              <a:lnSpc>
                <a:spcPts val="2100"/>
              </a:lnSpc>
              <a:buNone/>
            </a:pPr>
            <a:r>
              <a:rPr sz="1300" b="0" i="0">
                <a:solidFill>
                  <a:srgbClr val="1B1F2A"/>
                </a:solidFill>
                <a:latin typeface="Courier New"/>
                <a:ea typeface="Courier New"/>
                <a:cs typeface="Courier New"/>
              </a:rPr>
              <a:t>bus    = [ 2  1  50  20  ...  VM 1.0  VA 0 ]    bus 2: PQ, load 50 MW + 20 MVAr</a:t>
            </a:r>
          </a:p>
          <a:p>
            <a:pPr algn="l" marL="0" indent="0">
              <a:lnSpc>
                <a:spcPts val="2100"/>
              </a:lnSpc>
              <a:buNone/>
            </a:pPr>
            <a:r>
              <a:rPr sz="1300" b="0" i="0">
                <a:solidFill>
                  <a:srgbClr val="1B1F2A"/>
                </a:solidFill>
                <a:latin typeface="Courier New"/>
                <a:ea typeface="Courier New"/>
                <a:cs typeface="Courier New"/>
              </a:rPr>
              <a:t>gen    = [ 1  0   0  ...  VG 1.0  ...  1 ]      generator at bus 1 holds 1.0 pu</a:t>
            </a:r>
          </a:p>
          <a:p>
            <a:pPr algn="l" marL="0" indent="0">
              <a:lnSpc>
                <a:spcPts val="2100"/>
              </a:lnSpc>
              <a:buNone/>
            </a:pPr>
            <a:r>
              <a:rPr sz="1300" b="0" i="0">
                <a:solidFill>
                  <a:srgbClr val="1B1F2A"/>
                </a:solidFill>
                <a:latin typeface="Courier New"/>
                <a:ea typeface="Courier New"/>
                <a:cs typeface="Courier New"/>
              </a:rPr>
              <a:t>branch = [ 1  2  r 0  x 0.1  b 0  ...  1 ]      one line from bus 1 to bus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TextBox 1"/>
          <p:cNvSpPr txBox="1"/>
          <p:nvPr/>
        </p:nvSpPr>
        <p:spPr>
          <a:xfrm>
            <a:off x="813816" y="713232"/>
            <a:ext cx="10881360" cy="429768"/>
          </a:xfrm>
          <a:prstGeom prst="rect">
            <a:avLst/>
          </a:prstGeom>
          <a:noFill/>
        </p:spPr>
        <p:txBody>
          <a:bodyPr wrap="square" lIns="0" rIns="0" tIns="0" bIns="0">
            <a:spAutoFit/>
          </a:bodyPr>
          <a:lstStyle/>
          <a:p>
            <a:pPr algn="l" marL="0" indent="0">
              <a:buNone/>
            </a:pPr>
            <a:r>
              <a:rPr sz="2800" b="1" i="0">
                <a:solidFill>
                  <a:srgbClr val="1F3A5F"/>
                </a:solidFill>
                <a:latin typeface="IBM Plex Sans"/>
                <a:ea typeface="IBM Plex Sans"/>
                <a:cs typeface="IBM Plex Sans"/>
              </a:rPr>
              <a:t>Processing: from the file to Y and S</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rIns="0" tIns="0" bIns="0">
            <a:spAutoFit/>
          </a:bodyPr>
          <a:lstStyle/>
          <a:p>
            <a:pPr algn="l" marL="0" indent="0">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rIns="0" tIns="0" bIns="0">
            <a:spAutoFit/>
          </a:bodyPr>
          <a:lstStyle/>
          <a:p>
            <a:pPr algn="r" marL="0" indent="0">
              <a:buNone/>
            </a:pPr>
            <a:r>
              <a:rPr sz="1200" b="0" i="0">
                <a:solidFill>
                  <a:srgbClr val="6B7280"/>
                </a:solidFill>
                <a:latin typeface="IBM Plex Sans"/>
                <a:ea typeface="IBM Plex Sans"/>
                <a:cs typeface="IBM Plex Sans"/>
              </a:rPr>
              <a:t>3</a:t>
            </a:r>
          </a:p>
        </p:txBody>
      </p:sp>
      <p:sp>
        <p:nvSpPr>
          <p:cNvPr id="6" name="TextBox 5"/>
          <p:cNvSpPr txBox="1"/>
          <p:nvPr/>
        </p:nvSpPr>
        <p:spPr>
          <a:xfrm>
            <a:off x="813816" y="1517904"/>
            <a:ext cx="5120640" cy="2377440"/>
          </a:xfrm>
          <a:prstGeom prst="rect">
            <a:avLst/>
          </a:prstGeom>
          <a:noFill/>
        </p:spPr>
        <p:txBody>
          <a:bodyPr wrap="square" lIns="0" rIns="0" tIns="0" bIns="0">
            <a:spAutoFit/>
          </a:bodyPr>
          <a:lstStyle/>
          <a:p>
            <a:pPr algn="l" marL="243840" indent="-196342">
              <a:lnSpc>
                <a:spcPts val="2700"/>
              </a:lnSpc>
              <a:buSzPct val="100000"/>
              <a:buChar char="•"/>
            </a:pPr>
            <a:r>
              <a:rPr sz="1600" b="0" i="0">
                <a:solidFill>
                  <a:srgbClr val="1B1F2A"/>
                </a:solidFill>
                <a:latin typeface="IBM Plex Sans"/>
                <a:ea typeface="IBM Plex Sans"/>
                <a:cs typeface="IBM Plex Sans"/>
              </a:rPr>
              <a:t>Load the .mat file (SciPy)</a:t>
            </a:r>
          </a:p>
          <a:p>
            <a:pPr algn="l" marL="243840" indent="-196342">
              <a:lnSpc>
                <a:spcPts val="2700"/>
              </a:lnSpc>
              <a:buSzPct val="100000"/>
              <a:buChar char="•"/>
            </a:pPr>
            <a:r>
              <a:rPr sz="1600" b="0" i="0">
                <a:solidFill>
                  <a:srgbClr val="1B1F2A"/>
                </a:solidFill>
                <a:latin typeface="IBM Plex Sans"/>
                <a:ea typeface="IBM Plex Sans"/>
                <a:cs typeface="IBM Plex Sans"/>
              </a:rPr>
              <a:t>Remove switched-off equipment; renumber buses 0, 1, 2, …</a:t>
            </a:r>
          </a:p>
          <a:p>
            <a:pPr algn="l" marL="243840" indent="-196342">
              <a:lnSpc>
                <a:spcPts val="2700"/>
              </a:lnSpc>
              <a:buSzPct val="100000"/>
              <a:buChar char="•"/>
            </a:pPr>
            <a:r>
              <a:rPr sz="1600" b="0" i="0">
                <a:solidFill>
                  <a:srgbClr val="1B1F2A"/>
                </a:solidFill>
                <a:latin typeface="IBM Plex Sans"/>
                <a:ea typeface="IBM Plex Sans"/>
                <a:cs typeface="IBM Plex Sans"/>
              </a:rPr>
              <a:t>Classify buses: slack, PV (generator), PQ (load)</a:t>
            </a:r>
          </a:p>
          <a:p>
            <a:pPr algn="l" marL="243840" indent="-196342">
              <a:lnSpc>
                <a:spcPts val="2700"/>
              </a:lnSpc>
              <a:buSzPct val="100000"/>
              <a:buChar char="•"/>
            </a:pPr>
            <a:r>
              <a:rPr sz="1600" b="0" i="0">
                <a:solidFill>
                  <a:srgbClr val="1B1F2A"/>
                </a:solidFill>
                <a:latin typeface="IBM Plex Sans"/>
                <a:ea typeface="IBM Plex Sans"/>
                <a:cs typeface="IBM Plex Sans"/>
              </a:rPr>
              <a:t>Build the admittance matrix Y from the branches</a:t>
            </a:r>
          </a:p>
          <a:p>
            <a:pPr algn="l" marL="243840" indent="-196342">
              <a:lnSpc>
                <a:spcPts val="2700"/>
              </a:lnSpc>
              <a:buSzPct val="100000"/>
              <a:buChar char="•"/>
            </a:pPr>
            <a:r>
              <a:rPr sz="1600" b="0" i="0">
                <a:solidFill>
                  <a:srgbClr val="1B1F2A"/>
                </a:solidFill>
                <a:latin typeface="IBM Plex Sans"/>
                <a:ea typeface="IBM Plex Sans"/>
                <a:cs typeface="IBM Plex Sans"/>
              </a:rPr>
              <a:t>Build the specified injections S(spec) from generators and loads</a:t>
            </a:r>
          </a:p>
        </p:txBody>
      </p:sp>
      <p:sp>
        <p:nvSpPr>
          <p:cNvPr id="7" name="TextBox 6"/>
          <p:cNvSpPr txBox="1"/>
          <p:nvPr/>
        </p:nvSpPr>
        <p:spPr>
          <a:xfrm>
            <a:off x="6309360" y="1517904"/>
            <a:ext cx="5120640" cy="274320"/>
          </a:xfrm>
          <a:prstGeom prst="rect">
            <a:avLst/>
          </a:prstGeom>
          <a:noFill/>
        </p:spPr>
        <p:txBody>
          <a:bodyPr wrap="square" lIns="0" rIns="0" tIns="0" bIns="0">
            <a:spAutoFit/>
          </a:bodyPr>
          <a:lstStyle/>
          <a:p>
            <a:pPr algn="l" marL="0" indent="0">
              <a:buNone/>
            </a:pPr>
            <a:r>
              <a:rPr sz="1600" b="1" i="0">
                <a:solidFill>
                  <a:srgbClr val="1B1F2A"/>
                </a:solidFill>
                <a:latin typeface="IBM Plex Sans"/>
                <a:ea typeface="IBM Plex Sans"/>
                <a:cs typeface="IBM Plex Sans"/>
              </a:rPr>
              <a:t>Formulas</a:t>
            </a:r>
          </a:p>
        </p:txBody>
      </p:sp>
      <p:pic>
        <p:nvPicPr>
          <p:cNvPr id="8" name="Picture 7" descr="image.png"/>
          <p:cNvPicPr>
            <a:picLocks noChangeAspect="1"/>
          </p:cNvPicPr>
          <p:nvPr/>
        </p:nvPicPr>
        <p:blipFill>
          <a:blip r:embed="rId4"/>
          <a:stretch>
            <a:fillRect/>
          </a:stretch>
        </p:blipFill>
        <p:spPr>
          <a:xfrm>
            <a:off x="8316468" y="1847088"/>
            <a:ext cx="1014984" cy="646176"/>
          </a:xfrm>
          <a:prstGeom prst="rect">
            <a:avLst/>
          </a:prstGeom>
        </p:spPr>
      </p:pic>
      <p:pic>
        <p:nvPicPr>
          <p:cNvPr id="9" name="Picture 8" descr="image.png"/>
          <p:cNvPicPr>
            <a:picLocks noChangeAspect="1"/>
          </p:cNvPicPr>
          <p:nvPr/>
        </p:nvPicPr>
        <p:blipFill>
          <a:blip r:embed="rId5"/>
          <a:stretch>
            <a:fillRect/>
          </a:stretch>
        </p:blipFill>
        <p:spPr>
          <a:xfrm>
            <a:off x="7098792" y="2432304"/>
            <a:ext cx="3450336" cy="469392"/>
          </a:xfrm>
          <a:prstGeom prst="rect">
            <a:avLst/>
          </a:prstGeom>
        </p:spPr>
      </p:pic>
      <p:pic>
        <p:nvPicPr>
          <p:cNvPr id="10" name="Picture 9" descr="image.png"/>
          <p:cNvPicPr>
            <a:picLocks noChangeAspect="1"/>
          </p:cNvPicPr>
          <p:nvPr/>
        </p:nvPicPr>
        <p:blipFill>
          <a:blip r:embed="rId6"/>
          <a:stretch>
            <a:fillRect/>
          </a:stretch>
        </p:blipFill>
        <p:spPr>
          <a:xfrm>
            <a:off x="8455152" y="2907792"/>
            <a:ext cx="737616" cy="289560"/>
          </a:xfrm>
          <a:prstGeom prst="rect">
            <a:avLst/>
          </a:prstGeom>
        </p:spPr>
      </p:pic>
      <p:pic>
        <p:nvPicPr>
          <p:cNvPr id="11" name="Picture 10" descr="image.png"/>
          <p:cNvPicPr>
            <a:picLocks noChangeAspect="1"/>
          </p:cNvPicPr>
          <p:nvPr/>
        </p:nvPicPr>
        <p:blipFill>
          <a:blip r:embed="rId7"/>
          <a:stretch>
            <a:fillRect/>
          </a:stretch>
        </p:blipFill>
        <p:spPr>
          <a:xfrm>
            <a:off x="7517892" y="3310128"/>
            <a:ext cx="2612136" cy="597408"/>
          </a:xfrm>
          <a:prstGeom prst="rect">
            <a:avLst/>
          </a:prstGeom>
        </p:spPr>
      </p:pic>
      <p:sp>
        <p:nvSpPr>
          <p:cNvPr id="12" name="TextBox 11"/>
          <p:cNvSpPr txBox="1"/>
          <p:nvPr/>
        </p:nvSpPr>
        <p:spPr>
          <a:xfrm>
            <a:off x="813816" y="4206240"/>
            <a:ext cx="10881360" cy="274320"/>
          </a:xfrm>
          <a:prstGeom prst="rect">
            <a:avLst/>
          </a:prstGeom>
          <a:noFill/>
        </p:spPr>
        <p:txBody>
          <a:bodyPr wrap="square" lIns="0" rIns="0" tIns="0" bIns="0">
            <a:spAutoFit/>
          </a:bodyPr>
          <a:lstStyle/>
          <a:p>
            <a:pPr algn="l" marL="0" indent="0">
              <a:buNone/>
            </a:pPr>
            <a:r>
              <a:rPr sz="1600" b="1" i="0">
                <a:solidFill>
                  <a:srgbClr val="1B1F2A"/>
                </a:solidFill>
                <a:latin typeface="IBM Plex Sans"/>
                <a:ea typeface="IBM Plex Sans"/>
                <a:cs typeface="IBM Plex Sans"/>
              </a:rPr>
              <a:t>2-bus example</a:t>
            </a:r>
          </a:p>
        </p:txBody>
      </p:sp>
      <p:pic>
        <p:nvPicPr>
          <p:cNvPr id="13" name="Picture 12" descr="image.png"/>
          <p:cNvPicPr>
            <a:picLocks noChangeAspect="1"/>
          </p:cNvPicPr>
          <p:nvPr/>
        </p:nvPicPr>
        <p:blipFill>
          <a:blip r:embed="rId8"/>
          <a:stretch>
            <a:fillRect/>
          </a:stretch>
        </p:blipFill>
        <p:spPr>
          <a:xfrm>
            <a:off x="3102864" y="4526280"/>
            <a:ext cx="5992368" cy="646176"/>
          </a:xfrm>
          <a:prstGeom prst="rect">
            <a:avLst/>
          </a:prstGeom>
        </p:spPr>
      </p:pic>
      <p:pic>
        <p:nvPicPr>
          <p:cNvPr id="14" name="Picture 13" descr="image.png"/>
          <p:cNvPicPr>
            <a:picLocks noChangeAspect="1"/>
          </p:cNvPicPr>
          <p:nvPr/>
        </p:nvPicPr>
        <p:blipFill>
          <a:blip r:embed="rId9"/>
          <a:stretch>
            <a:fillRect/>
          </a:stretch>
        </p:blipFill>
        <p:spPr>
          <a:xfrm>
            <a:off x="3950208" y="5212080"/>
            <a:ext cx="4297680" cy="60045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TextBox 1"/>
          <p:cNvSpPr txBox="1"/>
          <p:nvPr/>
        </p:nvSpPr>
        <p:spPr>
          <a:xfrm>
            <a:off x="813816" y="713232"/>
            <a:ext cx="10881360" cy="429768"/>
          </a:xfrm>
          <a:prstGeom prst="rect">
            <a:avLst/>
          </a:prstGeom>
          <a:noFill/>
        </p:spPr>
        <p:txBody>
          <a:bodyPr wrap="square" lIns="0" rIns="0" tIns="0" bIns="0">
            <a:spAutoFit/>
          </a:bodyPr>
          <a:lstStyle/>
          <a:p>
            <a:pPr algn="l" marL="0" indent="0">
              <a:buNone/>
            </a:pPr>
            <a:r>
              <a:rPr sz="2800" b="1" i="0">
                <a:solidFill>
                  <a:srgbClr val="1F3A5F"/>
                </a:solidFill>
                <a:latin typeface="IBM Plex Sans"/>
                <a:ea typeface="IBM Plex Sans"/>
                <a:cs typeface="IBM Plex Sans"/>
              </a:rPr>
              <a:t>What is unknown</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rIns="0" tIns="0" bIns="0">
            <a:spAutoFit/>
          </a:bodyPr>
          <a:lstStyle/>
          <a:p>
            <a:pPr algn="l" marL="0" indent="0">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rIns="0" tIns="0" bIns="0">
            <a:spAutoFit/>
          </a:bodyPr>
          <a:lstStyle/>
          <a:p>
            <a:pPr algn="r" marL="0" indent="0">
              <a:buNone/>
            </a:pPr>
            <a:r>
              <a:rPr sz="1200" b="0" i="0">
                <a:solidFill>
                  <a:srgbClr val="6B7280"/>
                </a:solidFill>
                <a:latin typeface="IBM Plex Sans"/>
                <a:ea typeface="IBM Plex Sans"/>
                <a:cs typeface="IBM Plex Sans"/>
              </a:rPr>
              <a:t>4</a:t>
            </a:r>
          </a:p>
        </p:txBody>
      </p:sp>
      <p:sp>
        <p:nvSpPr>
          <p:cNvPr id="6" name="TextBox 5"/>
          <p:cNvSpPr txBox="1"/>
          <p:nvPr/>
        </p:nvSpPr>
        <p:spPr>
          <a:xfrm>
            <a:off x="813816" y="1463040"/>
            <a:ext cx="10881360" cy="566928"/>
          </a:xfrm>
          <a:prstGeom prst="rect">
            <a:avLst/>
          </a:prstGeom>
          <a:noFill/>
        </p:spPr>
        <p:txBody>
          <a:bodyPr wrap="square" lIns="0" rIns="0" tIns="0" bIns="0">
            <a:spAutoFit/>
          </a:bodyPr>
          <a:lstStyle/>
          <a:p>
            <a:pPr algn="l" marL="0" indent="0">
              <a:lnSpc>
                <a:spcPts val="2400"/>
              </a:lnSpc>
              <a:buNone/>
            </a:pPr>
            <a:r>
              <a:rPr sz="1600" b="0" i="0">
                <a:solidFill>
                  <a:srgbClr val="1B1F2A"/>
                </a:solidFill>
                <a:latin typeface="IBM Plex Sans"/>
                <a:ea typeface="IBM Plex Sans"/>
                <a:cs typeface="IBM Plex Sans"/>
              </a:rPr>
              <a:t>Each bus has four quantities: |V|, θ, P, Q. Two are fixed by what is controlled there; the solver finds the unknown voltages.</a:t>
            </a:r>
          </a:p>
        </p:txBody>
      </p:sp>
      <p:graphicFrame>
        <p:nvGraphicFramePr>
          <p:cNvPr id="7" name="Table 6"/>
          <p:cNvGraphicFramePr>
            <a:graphicFrameLocks noGrp="1"/>
          </p:cNvGraphicFramePr>
          <p:nvPr/>
        </p:nvGraphicFramePr>
        <p:xfrm>
          <a:off x="822960" y="2157984"/>
          <a:ext cx="10552176" cy="1536192"/>
        </p:xfrm>
        <a:graphic>
          <a:graphicData uri="http://schemas.openxmlformats.org/drawingml/2006/table">
            <a:tbl>
              <a:tblPr/>
              <a:tblGrid>
                <a:gridCol w="1737360"/>
                <a:gridCol w="2103120"/>
                <a:gridCol w="1920240"/>
                <a:gridCol w="4791456"/>
              </a:tblGrid>
              <a:tr h="384048">
                <a:tc>
                  <a:txBody>
                    <a:bodyPr/>
                    <a:lstStyle/>
                    <a:p>
                      <a:r>
                        <a:rPr sz="1400" b="1" i="0">
                          <a:solidFill>
                            <a:srgbClr val="1B1F2A"/>
                          </a:solidFill>
                          <a:latin typeface="IBM Plex Sans"/>
                          <a:ea typeface="IBM Plex Sans"/>
                          <a:cs typeface="IBM Plex Sans"/>
                        </a:rPr>
                        <a:t>Bus type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Fixed</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Unknown</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Why</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r>
              <a:tr h="384048">
                <a:tc>
                  <a:txBody>
                    <a:bodyPr/>
                    <a:lstStyle/>
                    <a:p>
                      <a:r>
                        <a:rPr sz="1400" b="0" i="0">
                          <a:solidFill>
                            <a:srgbClr val="1B1F2A"/>
                          </a:solidFill>
                          <a:latin typeface="IBM Plex Sans"/>
                          <a:ea typeface="IBM Plex Sans"/>
                          <a:cs typeface="IBM Plex Sans"/>
                        </a:rPr>
                        <a:t>Slack</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|V|, θ = 0</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none (P, Q are outputs)</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supplies the losses; angle reference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84048">
                <a:tc>
                  <a:txBody>
                    <a:bodyPr/>
                    <a:lstStyle/>
                    <a:p>
                      <a:r>
                        <a:rPr sz="1400" b="0" i="0">
                          <a:solidFill>
                            <a:srgbClr val="1B1F2A"/>
                          </a:solidFill>
                          <a:latin typeface="IBM Plex Sans"/>
                          <a:ea typeface="IBM Plex Sans"/>
                          <a:cs typeface="IBM Plex Sans"/>
                        </a:rPr>
                        <a:t>PV (generator)</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P, |V|</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θ</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the plant sets P and holds its voltage</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84048">
                <a:tc>
                  <a:txBody>
                    <a:bodyPr/>
                    <a:lstStyle/>
                    <a:p>
                      <a:r>
                        <a:rPr sz="1400" b="0" i="0">
                          <a:solidFill>
                            <a:srgbClr val="1B1F2A"/>
                          </a:solidFill>
                          <a:latin typeface="IBM Plex Sans"/>
                          <a:ea typeface="IBM Plex Sans"/>
                          <a:cs typeface="IBM Plex Sans"/>
                        </a:rPr>
                        <a:t>PQ (load)</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P, Q</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θ, |V|</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the consumption is known</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pic>
        <p:nvPicPr>
          <p:cNvPr id="8" name="Picture 7" descr="image.png"/>
          <p:cNvPicPr>
            <a:picLocks noChangeAspect="1"/>
          </p:cNvPicPr>
          <p:nvPr/>
        </p:nvPicPr>
        <p:blipFill>
          <a:blip r:embed="rId4"/>
          <a:stretch>
            <a:fillRect/>
          </a:stretch>
        </p:blipFill>
        <p:spPr>
          <a:xfrm>
            <a:off x="4689348" y="3913632"/>
            <a:ext cx="2819400" cy="326136"/>
          </a:xfrm>
          <a:prstGeom prst="rect">
            <a:avLst/>
          </a:prstGeom>
        </p:spPr>
      </p:pic>
      <p:pic>
        <p:nvPicPr>
          <p:cNvPr id="9" name="Picture 8" descr="image.png"/>
          <p:cNvPicPr>
            <a:picLocks noChangeAspect="1"/>
          </p:cNvPicPr>
          <p:nvPr/>
        </p:nvPicPr>
        <p:blipFill>
          <a:blip r:embed="rId5"/>
          <a:stretch>
            <a:fillRect/>
          </a:stretch>
        </p:blipFill>
        <p:spPr>
          <a:xfrm>
            <a:off x="5212080" y="4434840"/>
            <a:ext cx="1773936" cy="326136"/>
          </a:xfrm>
          <a:prstGeom prst="rect">
            <a:avLst/>
          </a:prstGeom>
        </p:spPr>
      </p:pic>
      <p:sp>
        <p:nvSpPr>
          <p:cNvPr id="10" name="TextBox 9"/>
          <p:cNvSpPr txBox="1"/>
          <p:nvPr/>
        </p:nvSpPr>
        <p:spPr>
          <a:xfrm>
            <a:off x="813816" y="5029200"/>
            <a:ext cx="10881360" cy="640080"/>
          </a:xfrm>
          <a:prstGeom prst="rect">
            <a:avLst/>
          </a:prstGeom>
          <a:noFill/>
        </p:spPr>
        <p:txBody>
          <a:bodyPr wrap="square" lIns="0" rIns="0" tIns="0" bIns="0">
            <a:spAutoFit/>
          </a:bodyPr>
          <a:lstStyle/>
          <a:p>
            <a:pPr algn="l" marL="243840" indent="-196342">
              <a:lnSpc>
                <a:spcPts val="2600"/>
              </a:lnSpc>
              <a:buSzPct val="100000"/>
              <a:buChar char="•"/>
            </a:pPr>
            <a:r>
              <a:rPr sz="1600" b="0" i="0">
                <a:solidFill>
                  <a:srgbClr val="1B1F2A"/>
                </a:solidFill>
                <a:latin typeface="IBM Plex Sans"/>
                <a:ea typeface="IBM Plex Sans"/>
                <a:cs typeface="IBM Plex Sans"/>
              </a:rPr>
              <a:t>2-bus grid: x = [θ₂, |V₂|], n = 2</a:t>
            </a:r>
          </a:p>
          <a:p>
            <a:pPr algn="l" marL="243840" indent="-196342">
              <a:lnSpc>
                <a:spcPts val="2600"/>
              </a:lnSpc>
              <a:buSzPct val="100000"/>
              <a:buChar char="•"/>
            </a:pPr>
            <a:r>
              <a:rPr sz="1600" b="0" i="0">
                <a:solidFill>
                  <a:srgbClr val="1B1F2A"/>
                </a:solidFill>
                <a:latin typeface="IBM Plex Sans"/>
                <a:ea typeface="IBM Plex Sans"/>
                <a:cs typeface="IBM Plex Sans"/>
              </a:rPr>
              <a:t>case18482: 2,889 PV + 2 × 15,592 PQ = 34,073 unknowns; case109272: 185,807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TextBox 1"/>
          <p:cNvSpPr txBox="1"/>
          <p:nvPr/>
        </p:nvSpPr>
        <p:spPr>
          <a:xfrm>
            <a:off x="813816" y="713232"/>
            <a:ext cx="10881360" cy="429768"/>
          </a:xfrm>
          <a:prstGeom prst="rect">
            <a:avLst/>
          </a:prstGeom>
          <a:noFill/>
        </p:spPr>
        <p:txBody>
          <a:bodyPr wrap="square" lIns="0" rIns="0" tIns="0" bIns="0">
            <a:spAutoFit/>
          </a:bodyPr>
          <a:lstStyle/>
          <a:p>
            <a:pPr algn="l" marL="0" indent="0">
              <a:buNone/>
            </a:pPr>
            <a:r>
              <a:rPr sz="2800" b="1" i="0">
                <a:solidFill>
                  <a:srgbClr val="1F3A5F"/>
                </a:solidFill>
                <a:latin typeface="IBM Plex Sans"/>
                <a:ea typeface="IBM Plex Sans"/>
                <a:cs typeface="IBM Plex Sans"/>
              </a:rPr>
              <a:t>How the equations are formed</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rIns="0" tIns="0" bIns="0">
            <a:spAutoFit/>
          </a:bodyPr>
          <a:lstStyle/>
          <a:p>
            <a:pPr algn="l" marL="0" indent="0">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rIns="0" tIns="0" bIns="0">
            <a:spAutoFit/>
          </a:bodyPr>
          <a:lstStyle/>
          <a:p>
            <a:pPr algn="r" marL="0" indent="0">
              <a:buNone/>
            </a:pPr>
            <a:r>
              <a:rPr sz="1200" b="0" i="0">
                <a:solidFill>
                  <a:srgbClr val="6B7280"/>
                </a:solidFill>
                <a:latin typeface="IBM Plex Sans"/>
                <a:ea typeface="IBM Plex Sans"/>
                <a:cs typeface="IBM Plex Sans"/>
              </a:rPr>
              <a:t>5</a:t>
            </a:r>
          </a:p>
        </p:txBody>
      </p:sp>
      <p:sp>
        <p:nvSpPr>
          <p:cNvPr id="6" name="TextBox 5"/>
          <p:cNvSpPr txBox="1"/>
          <p:nvPr/>
        </p:nvSpPr>
        <p:spPr>
          <a:xfrm>
            <a:off x="813816" y="1463040"/>
            <a:ext cx="10881360" cy="310896"/>
          </a:xfrm>
          <a:prstGeom prst="rect">
            <a:avLst/>
          </a:prstGeom>
          <a:noFill/>
        </p:spPr>
        <p:txBody>
          <a:bodyPr wrap="square" lIns="0" rIns="0" tIns="0" bIns="0">
            <a:spAutoFit/>
          </a:bodyPr>
          <a:lstStyle/>
          <a:p>
            <a:pPr algn="l" marL="0" indent="0">
              <a:buNone/>
            </a:pPr>
            <a:r>
              <a:rPr sz="1600" b="0" i="0">
                <a:solidFill>
                  <a:srgbClr val="1B1F2A"/>
                </a:solidFill>
                <a:latin typeface="IBM Plex Sans"/>
                <a:ea typeface="IBM Plex Sans"/>
                <a:cs typeface="IBM Plex Sans"/>
              </a:rPr>
              <a:t>Power injected at bus i, from I = Y V:</a:t>
            </a:r>
          </a:p>
        </p:txBody>
      </p:sp>
      <p:pic>
        <p:nvPicPr>
          <p:cNvPr id="7" name="Picture 6" descr="image.png"/>
          <p:cNvPicPr>
            <a:picLocks noChangeAspect="1"/>
          </p:cNvPicPr>
          <p:nvPr/>
        </p:nvPicPr>
        <p:blipFill>
          <a:blip r:embed="rId4"/>
          <a:stretch>
            <a:fillRect/>
          </a:stretch>
        </p:blipFill>
        <p:spPr>
          <a:xfrm>
            <a:off x="3473196" y="1810512"/>
            <a:ext cx="5251704" cy="533400"/>
          </a:xfrm>
          <a:prstGeom prst="rect">
            <a:avLst/>
          </a:prstGeom>
        </p:spPr>
      </p:pic>
      <p:pic>
        <p:nvPicPr>
          <p:cNvPr id="8" name="Picture 7" descr="image.png"/>
          <p:cNvPicPr>
            <a:picLocks noChangeAspect="1"/>
          </p:cNvPicPr>
          <p:nvPr/>
        </p:nvPicPr>
        <p:blipFill>
          <a:blip r:embed="rId5"/>
          <a:stretch>
            <a:fillRect/>
          </a:stretch>
        </p:blipFill>
        <p:spPr>
          <a:xfrm>
            <a:off x="4226052" y="2487168"/>
            <a:ext cx="3745992" cy="469392"/>
          </a:xfrm>
          <a:prstGeom prst="rect">
            <a:avLst/>
          </a:prstGeom>
        </p:spPr>
      </p:pic>
      <p:pic>
        <p:nvPicPr>
          <p:cNvPr id="9" name="Picture 8" descr="image.png"/>
          <p:cNvPicPr>
            <a:picLocks noChangeAspect="1"/>
          </p:cNvPicPr>
          <p:nvPr/>
        </p:nvPicPr>
        <p:blipFill>
          <a:blip r:embed="rId6"/>
          <a:stretch>
            <a:fillRect/>
          </a:stretch>
        </p:blipFill>
        <p:spPr>
          <a:xfrm>
            <a:off x="4212336" y="3035808"/>
            <a:ext cx="3773424" cy="469392"/>
          </a:xfrm>
          <a:prstGeom prst="rect">
            <a:avLst/>
          </a:prstGeom>
        </p:spPr>
      </p:pic>
      <p:sp>
        <p:nvSpPr>
          <p:cNvPr id="10" name="TextBox 9"/>
          <p:cNvSpPr txBox="1"/>
          <p:nvPr/>
        </p:nvSpPr>
        <p:spPr>
          <a:xfrm>
            <a:off x="813816" y="3675887"/>
            <a:ext cx="10881360" cy="310896"/>
          </a:xfrm>
          <a:prstGeom prst="rect">
            <a:avLst/>
          </a:prstGeom>
          <a:noFill/>
        </p:spPr>
        <p:txBody>
          <a:bodyPr wrap="square" lIns="0" rIns="0" tIns="0" bIns="0">
            <a:spAutoFit/>
          </a:bodyPr>
          <a:lstStyle/>
          <a:p>
            <a:pPr algn="l" marL="0" indent="0">
              <a:buNone/>
            </a:pPr>
            <a:r>
              <a:rPr sz="1600" b="0" i="0">
                <a:solidFill>
                  <a:srgbClr val="1B1F2A"/>
                </a:solidFill>
                <a:latin typeface="IBM Plex Sans"/>
                <a:ea typeface="IBM Plex Sans"/>
                <a:cs typeface="IBM Plex Sans"/>
              </a:rPr>
              <a:t>Mismatch = computed − specified. Keep ΔP at PV and PQ buses, ΔQ at PQ buses:</a:t>
            </a:r>
          </a:p>
        </p:txBody>
      </p:sp>
      <p:pic>
        <p:nvPicPr>
          <p:cNvPr id="11" name="Picture 10" descr="image.png"/>
          <p:cNvPicPr>
            <a:picLocks noChangeAspect="1"/>
          </p:cNvPicPr>
          <p:nvPr/>
        </p:nvPicPr>
        <p:blipFill>
          <a:blip r:embed="rId7"/>
          <a:stretch>
            <a:fillRect/>
          </a:stretch>
        </p:blipFill>
        <p:spPr>
          <a:xfrm>
            <a:off x="4008120" y="4069080"/>
            <a:ext cx="4181856" cy="326136"/>
          </a:xfrm>
          <a:prstGeom prst="rect">
            <a:avLst/>
          </a:prstGeom>
        </p:spPr>
      </p:pic>
      <p:sp>
        <p:nvSpPr>
          <p:cNvPr id="12" name="TextBox 11"/>
          <p:cNvSpPr txBox="1"/>
          <p:nvPr/>
        </p:nvSpPr>
        <p:spPr>
          <a:xfrm>
            <a:off x="813816" y="4663440"/>
            <a:ext cx="10881360" cy="1097280"/>
          </a:xfrm>
          <a:prstGeom prst="rect">
            <a:avLst/>
          </a:prstGeom>
          <a:noFill/>
        </p:spPr>
        <p:txBody>
          <a:bodyPr wrap="square" lIns="0" rIns="0" tIns="0" bIns="0">
            <a:spAutoFit/>
          </a:bodyPr>
          <a:lstStyle/>
          <a:p>
            <a:pPr algn="l" marL="243840" indent="-196342">
              <a:lnSpc>
                <a:spcPts val="2600"/>
              </a:lnSpc>
              <a:buSzPct val="100000"/>
              <a:buChar char="•"/>
            </a:pPr>
            <a:r>
              <a:rPr sz="1600" b="0" i="0">
                <a:solidFill>
                  <a:srgbClr val="1B1F2A"/>
                </a:solidFill>
                <a:latin typeface="IBM Plex Sans"/>
                <a:ea typeface="IBM Plex Sans"/>
                <a:cs typeface="IBM Plex Sans"/>
              </a:rPr>
              <a:t>n equations in n unknowns: a square system, as Newton needs</a:t>
            </a:r>
          </a:p>
          <a:p>
            <a:pPr algn="l" marL="243840" indent="-196342">
              <a:lnSpc>
                <a:spcPts val="2600"/>
              </a:lnSpc>
              <a:buSzPct val="100000"/>
              <a:buChar char="•"/>
            </a:pPr>
            <a:r>
              <a:rPr sz="1600" b="0" i="0">
                <a:solidFill>
                  <a:srgbClr val="1B1F2A"/>
                </a:solidFill>
                <a:latin typeface="IBM Plex Sans"/>
                <a:ea typeface="IBM Plex Sans"/>
                <a:cs typeface="IBM Plex Sans"/>
              </a:rPr>
              <a:t>In code, one line for all buses:  ΔS = V · conj(Y V) − S(spec)</a:t>
            </a:r>
          </a:p>
          <a:p>
            <a:pPr algn="l" marL="243840" indent="-196342">
              <a:lnSpc>
                <a:spcPts val="2600"/>
              </a:lnSpc>
              <a:buSzPct val="100000"/>
              <a:buChar char="•"/>
            </a:pPr>
            <a:r>
              <a:rPr sz="1600" b="0" i="0">
                <a:solidFill>
                  <a:srgbClr val="1B1F2A"/>
                </a:solidFill>
                <a:latin typeface="IBM Plex Sans"/>
                <a:ea typeface="IBM Plex Sans"/>
                <a:cs typeface="IBM Plex Sans"/>
              </a:rPr>
              <a:t>Jacobian J = ∂g/∂x: exact sparse derivatives, checked against finite differences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TextBox 1"/>
          <p:cNvSpPr txBox="1"/>
          <p:nvPr/>
        </p:nvSpPr>
        <p:spPr>
          <a:xfrm>
            <a:off x="813816" y="713232"/>
            <a:ext cx="10881360" cy="429768"/>
          </a:xfrm>
          <a:prstGeom prst="rect">
            <a:avLst/>
          </a:prstGeom>
          <a:noFill/>
        </p:spPr>
        <p:txBody>
          <a:bodyPr wrap="square" lIns="0" rIns="0" tIns="0" bIns="0">
            <a:spAutoFit/>
          </a:bodyPr>
          <a:lstStyle/>
          <a:p>
            <a:pPr algn="l" marL="0" indent="0">
              <a:buNone/>
            </a:pPr>
            <a:r>
              <a:rPr sz="2800" b="1" i="0">
                <a:solidFill>
                  <a:srgbClr val="1F3A5F"/>
                </a:solidFill>
                <a:latin typeface="IBM Plex Sans"/>
                <a:ea typeface="IBM Plex Sans"/>
                <a:cs typeface="IBM Plex Sans"/>
              </a:rPr>
              <a:t>Worked example: the 2-bus grid by hand</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rIns="0" tIns="0" bIns="0">
            <a:spAutoFit/>
          </a:bodyPr>
          <a:lstStyle/>
          <a:p>
            <a:pPr algn="l" marL="0" indent="0">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rIns="0" tIns="0" bIns="0">
            <a:spAutoFit/>
          </a:bodyPr>
          <a:lstStyle/>
          <a:p>
            <a:pPr algn="r" marL="0" indent="0">
              <a:buNone/>
            </a:pPr>
            <a:r>
              <a:rPr sz="1200" b="0" i="0">
                <a:solidFill>
                  <a:srgbClr val="6B7280"/>
                </a:solidFill>
                <a:latin typeface="IBM Plex Sans"/>
                <a:ea typeface="IBM Plex Sans"/>
                <a:cs typeface="IBM Plex Sans"/>
              </a:rPr>
              <a:t>6</a:t>
            </a:r>
          </a:p>
        </p:txBody>
      </p:sp>
      <p:sp>
        <p:nvSpPr>
          <p:cNvPr id="6" name="Oval 5"/>
          <p:cNvSpPr/>
          <p:nvPr/>
        </p:nvSpPr>
        <p:spPr>
          <a:xfrm>
            <a:off x="1005840" y="1600200"/>
            <a:ext cx="457200" cy="457200"/>
          </a:xfrm>
          <a:prstGeom prst="ellipse">
            <a:avLst/>
          </a:prstGeom>
          <a:solidFill>
            <a:srgbClr val="FBFBF9"/>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F3A5F"/>
                </a:solidFill>
                <a:latin typeface="IBM Plex Sans"/>
                <a:ea typeface="IBM Plex Sans"/>
                <a:cs typeface="IBM Plex Sans"/>
              </a:rPr>
              <a:t>1</a:t>
            </a:r>
          </a:p>
        </p:txBody>
      </p:sp>
      <p:sp>
        <p:nvSpPr>
          <p:cNvPr id="7" name="Oval 6"/>
          <p:cNvSpPr/>
          <p:nvPr/>
        </p:nvSpPr>
        <p:spPr>
          <a:xfrm>
            <a:off x="4480560" y="1600200"/>
            <a:ext cx="457200" cy="457200"/>
          </a:xfrm>
          <a:prstGeom prst="ellipse">
            <a:avLst/>
          </a:prstGeom>
          <a:solidFill>
            <a:srgbClr val="FBFBF9"/>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F3A5F"/>
                </a:solidFill>
                <a:latin typeface="IBM Plex Sans"/>
                <a:ea typeface="IBM Plex Sans"/>
                <a:cs typeface="IBM Plex Sans"/>
              </a:rPr>
              <a:t>2</a:t>
            </a:r>
          </a:p>
        </p:txBody>
      </p:sp>
      <p:cxnSp>
        <p:nvCxnSpPr>
          <p:cNvPr id="8" name="Connector 7"/>
          <p:cNvCxnSpPr/>
          <p:nvPr/>
        </p:nvCxnSpPr>
        <p:spPr>
          <a:xfrm>
            <a:off x="1463040" y="1828800"/>
            <a:ext cx="301752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2130552"/>
            <a:ext cx="1463040" cy="457200"/>
          </a:xfrm>
          <a:prstGeom prst="rect">
            <a:avLst/>
          </a:prstGeom>
          <a:noFill/>
        </p:spPr>
        <p:txBody>
          <a:bodyPr wrap="square" lIns="0" rIns="0" tIns="0" bIns="0">
            <a:spAutoFit/>
          </a:bodyPr>
          <a:lstStyle/>
          <a:p>
            <a:pPr algn="ctr" marL="0" indent="0">
              <a:buNone/>
            </a:pPr>
            <a:r>
              <a:rPr sz="1100" b="0" i="0">
                <a:solidFill>
                  <a:srgbClr val="333A48"/>
                </a:solidFill>
                <a:latin typeface="IBM Plex Sans"/>
                <a:ea typeface="IBM Plex Sans"/>
                <a:cs typeface="IBM Plex Sans"/>
              </a:rPr>
              <a:t>slack</a:t>
            </a:r>
          </a:p>
          <a:p>
            <a:pPr algn="ctr" marL="0" indent="0">
              <a:buNone/>
            </a:pPr>
            <a:r>
              <a:rPr sz="1100" b="0" i="0">
                <a:solidFill>
                  <a:srgbClr val="333A48"/>
                </a:solidFill>
                <a:latin typeface="IBM Plex Sans"/>
                <a:ea typeface="IBM Plex Sans"/>
                <a:cs typeface="IBM Plex Sans"/>
              </a:rPr>
              <a:t>|V₁| = 1, θ₁ = 0</a:t>
            </a:r>
          </a:p>
        </p:txBody>
      </p:sp>
      <p:sp>
        <p:nvSpPr>
          <p:cNvPr id="10" name="TextBox 9"/>
          <p:cNvSpPr txBox="1"/>
          <p:nvPr/>
        </p:nvSpPr>
        <p:spPr>
          <a:xfrm>
            <a:off x="2011680" y="1517904"/>
            <a:ext cx="1920240" cy="274320"/>
          </a:xfrm>
          <a:prstGeom prst="rect">
            <a:avLst/>
          </a:prstGeom>
          <a:noFill/>
        </p:spPr>
        <p:txBody>
          <a:bodyPr wrap="square" lIns="0" rIns="0" tIns="0" bIns="0">
            <a:spAutoFit/>
          </a:bodyPr>
          <a:lstStyle/>
          <a:p>
            <a:pPr algn="ctr" marL="0" indent="0">
              <a:buNone/>
            </a:pPr>
            <a:r>
              <a:rPr sz="1100" b="0" i="0">
                <a:solidFill>
                  <a:srgbClr val="333A48"/>
                </a:solidFill>
                <a:latin typeface="IBM Plex Sans"/>
                <a:ea typeface="IBM Plex Sans"/>
                <a:cs typeface="IBM Plex Sans"/>
              </a:rPr>
              <a:t>x = 0.1  (y = −10j)</a:t>
            </a:r>
          </a:p>
        </p:txBody>
      </p:sp>
      <p:sp>
        <p:nvSpPr>
          <p:cNvPr id="11" name="TextBox 10"/>
          <p:cNvSpPr txBox="1"/>
          <p:nvPr/>
        </p:nvSpPr>
        <p:spPr>
          <a:xfrm>
            <a:off x="3931920" y="2130552"/>
            <a:ext cx="1554480" cy="457200"/>
          </a:xfrm>
          <a:prstGeom prst="rect">
            <a:avLst/>
          </a:prstGeom>
          <a:noFill/>
        </p:spPr>
        <p:txBody>
          <a:bodyPr wrap="square" lIns="0" rIns="0" tIns="0" bIns="0">
            <a:spAutoFit/>
          </a:bodyPr>
          <a:lstStyle/>
          <a:p>
            <a:pPr algn="ctr" marL="0" indent="0">
              <a:buNone/>
            </a:pPr>
            <a:r>
              <a:rPr sz="1100" b="0" i="0">
                <a:solidFill>
                  <a:srgbClr val="333A48"/>
                </a:solidFill>
                <a:latin typeface="IBM Plex Sans"/>
                <a:ea typeface="IBM Plex Sans"/>
                <a:cs typeface="IBM Plex Sans"/>
              </a:rPr>
              <a:t>load 50 MW + 20 MVAr</a:t>
            </a:r>
          </a:p>
          <a:p>
            <a:pPr algn="ctr" marL="0" indent="0">
              <a:buNone/>
            </a:pPr>
            <a:r>
              <a:rPr sz="1100" b="0" i="0">
                <a:solidFill>
                  <a:srgbClr val="333A48"/>
                </a:solidFill>
                <a:latin typeface="IBM Plex Sans"/>
                <a:ea typeface="IBM Plex Sans"/>
                <a:cs typeface="IBM Plex Sans"/>
              </a:rPr>
              <a:t>|V₂|, θ₂ unknown</a:t>
            </a:r>
          </a:p>
        </p:txBody>
      </p:sp>
      <p:pic>
        <p:nvPicPr>
          <p:cNvPr id="12" name="Picture 11" descr="image.png"/>
          <p:cNvPicPr>
            <a:picLocks noChangeAspect="1"/>
          </p:cNvPicPr>
          <p:nvPr/>
        </p:nvPicPr>
        <p:blipFill>
          <a:blip r:embed="rId4"/>
          <a:stretch>
            <a:fillRect/>
          </a:stretch>
        </p:blipFill>
        <p:spPr>
          <a:xfrm>
            <a:off x="2292095" y="2743200"/>
            <a:ext cx="2346960" cy="289560"/>
          </a:xfrm>
          <a:prstGeom prst="rect">
            <a:avLst/>
          </a:prstGeom>
        </p:spPr>
      </p:pic>
      <p:pic>
        <p:nvPicPr>
          <p:cNvPr id="13" name="Picture 12" descr="image.png"/>
          <p:cNvPicPr>
            <a:picLocks noChangeAspect="1"/>
          </p:cNvPicPr>
          <p:nvPr/>
        </p:nvPicPr>
        <p:blipFill>
          <a:blip r:embed="rId5"/>
          <a:stretch>
            <a:fillRect/>
          </a:stretch>
        </p:blipFill>
        <p:spPr>
          <a:xfrm>
            <a:off x="1754124" y="3182112"/>
            <a:ext cx="3422904" cy="323088"/>
          </a:xfrm>
          <a:prstGeom prst="rect">
            <a:avLst/>
          </a:prstGeom>
        </p:spPr>
      </p:pic>
      <p:sp>
        <p:nvSpPr>
          <p:cNvPr id="14" name="TextBox 13"/>
          <p:cNvSpPr txBox="1"/>
          <p:nvPr/>
        </p:nvSpPr>
        <p:spPr>
          <a:xfrm>
            <a:off x="813816" y="3730752"/>
            <a:ext cx="5303520" cy="1371600"/>
          </a:xfrm>
          <a:prstGeom prst="rect">
            <a:avLst/>
          </a:prstGeom>
          <a:noFill/>
        </p:spPr>
        <p:txBody>
          <a:bodyPr wrap="square" lIns="0" rIns="0" tIns="0" bIns="0">
            <a:spAutoFit/>
          </a:bodyPr>
          <a:lstStyle/>
          <a:p>
            <a:pPr algn="l" marL="243840" indent="-196342">
              <a:lnSpc>
                <a:spcPts val="2400"/>
              </a:lnSpc>
              <a:buSzPct val="100000"/>
              <a:buChar char="•"/>
            </a:pPr>
            <a:r>
              <a:rPr sz="1500" b="0" i="0">
                <a:solidFill>
                  <a:srgbClr val="1B1F2A"/>
                </a:solidFill>
                <a:latin typeface="IBM Plex Sans"/>
                <a:ea typeface="IBM Plex Sans"/>
                <a:cs typeface="IBM Plex Sans"/>
              </a:rPr>
              <a:t>Flat start x₀ = [0, 1]: g = [0.5, 0.2], J = diag(10, 10)</a:t>
            </a:r>
          </a:p>
          <a:p>
            <a:pPr algn="l" marL="243840" indent="-196342">
              <a:lnSpc>
                <a:spcPts val="2400"/>
              </a:lnSpc>
              <a:buSzPct val="100000"/>
              <a:buChar char="•"/>
            </a:pPr>
            <a:r>
              <a:rPr sz="1500" b="0" i="0">
                <a:solidFill>
                  <a:srgbClr val="1B1F2A"/>
                </a:solidFill>
                <a:latin typeface="IBM Plex Sans"/>
                <a:ea typeface="IBM Plex Sans"/>
                <a:cs typeface="IBM Plex Sans"/>
              </a:rPr>
              <a:t>Newton step 1: solve J Δx = −g, Δx = [−0.05, −0.02]</a:t>
            </a:r>
          </a:p>
          <a:p>
            <a:pPr algn="l" marL="243840" indent="-196342">
              <a:lnSpc>
                <a:spcPts val="2400"/>
              </a:lnSpc>
              <a:buSzPct val="100000"/>
              <a:buChar char="•"/>
            </a:pPr>
            <a:r>
              <a:rPr sz="1500" b="0" i="0">
                <a:solidFill>
                  <a:srgbClr val="1B1F2A"/>
                </a:solidFill>
                <a:latin typeface="IBM Plex Sans"/>
                <a:ea typeface="IBM Plex Sans"/>
                <a:cs typeface="IBM Plex Sans"/>
              </a:rPr>
              <a:t>so x₁ = [−0.05, 0.98]</a:t>
            </a:r>
          </a:p>
        </p:txBody>
      </p:sp>
      <p:graphicFrame>
        <p:nvGraphicFramePr>
          <p:cNvPr id="15" name="Table 14"/>
          <p:cNvGraphicFramePr>
            <a:graphicFrameLocks noGrp="1"/>
          </p:cNvGraphicFramePr>
          <p:nvPr/>
        </p:nvGraphicFramePr>
        <p:xfrm>
          <a:off x="6400800" y="1554480"/>
          <a:ext cx="4937760" cy="1828800"/>
        </p:xfrm>
        <a:graphic>
          <a:graphicData uri="http://schemas.openxmlformats.org/drawingml/2006/table">
            <a:tbl>
              <a:tblPr/>
              <a:tblGrid>
                <a:gridCol w="731520"/>
                <a:gridCol w="1463040"/>
                <a:gridCol w="1280160"/>
                <a:gridCol w="1463040"/>
              </a:tblGrid>
              <a:tr h="365760">
                <a:tc>
                  <a:txBody>
                    <a:bodyPr/>
                    <a:lstStyle/>
                    <a:p>
                      <a:r>
                        <a:rPr sz="1400" b="1" i="0">
                          <a:solidFill>
                            <a:srgbClr val="1B1F2A"/>
                          </a:solidFill>
                          <a:latin typeface="IBM Plex Sans"/>
                          <a:ea typeface="IBM Plex Sans"/>
                          <a:cs typeface="IBM Plex Sans"/>
                        </a:rPr>
                        <a:t>It.</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θ₂ (rad)</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|V₂|</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r>
                        <a:rPr sz="1400" b="1" i="0">
                          <a:solidFill>
                            <a:srgbClr val="1B1F2A"/>
                          </a:solidFill>
                          <a:latin typeface="IBM Plex Sans"/>
                          <a:ea typeface="IBM Plex Sans"/>
                          <a:cs typeface="IBM Plex Sans"/>
                        </a:rPr>
                        <a:t>max |g|</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r>
              <a:tr h="365760">
                <a:tc>
                  <a:txBody>
                    <a:bodyPr/>
                    <a:lstStyle/>
                    <a:p>
                      <a:r>
                        <a:rPr sz="1400" b="0" i="0">
                          <a:solidFill>
                            <a:srgbClr val="1B1F2A"/>
                          </a:solidFill>
                          <a:latin typeface="IBM Plex Sans"/>
                          <a:ea typeface="IBM Plex Sans"/>
                          <a:cs typeface="IBM Plex Sans"/>
                        </a:rPr>
                        <a:t>0</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1</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0.5</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65760">
                <a:tc>
                  <a:txBody>
                    <a:bodyPr/>
                    <a:lstStyle/>
                    <a:p>
                      <a:r>
                        <a:rPr sz="1400" b="0" i="0">
                          <a:solidFill>
                            <a:srgbClr val="1B1F2A"/>
                          </a:solidFill>
                          <a:latin typeface="IBM Plex Sans"/>
                          <a:ea typeface="IBM Plex Sans"/>
                          <a:cs typeface="IBM Plex Sans"/>
                        </a:rPr>
                        <a:t>1</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−0.05</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0.98</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0.016</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65760">
                <a:tc>
                  <a:txBody>
                    <a:bodyPr/>
                    <a:lstStyle/>
                    <a:p>
                      <a:r>
                        <a:rPr sz="1400" b="0" i="0">
                          <a:solidFill>
                            <a:srgbClr val="1B1F2A"/>
                          </a:solidFill>
                          <a:latin typeface="IBM Plex Sans"/>
                          <a:ea typeface="IBM Plex Sans"/>
                          <a:cs typeface="IBM Plex Sans"/>
                        </a:rPr>
                        <a:t>2</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−0.051132</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0.978252</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3.6e-5</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65760">
                <a:tc>
                  <a:txBody>
                    <a:bodyPr/>
                    <a:lstStyle/>
                    <a:p>
                      <a:r>
                        <a:rPr sz="1400" b="0" i="0">
                          <a:solidFill>
                            <a:srgbClr val="1B1F2A"/>
                          </a:solidFill>
                          <a:latin typeface="IBM Plex Sans"/>
                          <a:ea typeface="IBM Plex Sans"/>
                          <a:cs typeface="IBM Plex Sans"/>
                        </a:rPr>
                        <a:t>3</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−0.051134</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0.978248</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r>
                        <a:rPr sz="1400" b="0" i="0">
                          <a:solidFill>
                            <a:srgbClr val="1B1F2A"/>
                          </a:solidFill>
                          <a:latin typeface="IBM Plex Sans"/>
                          <a:ea typeface="IBM Plex Sans"/>
                          <a:cs typeface="IBM Plex Sans"/>
                        </a:rPr>
                        <a:t>1.7e-10</a:t>
                      </a:r>
                    </a:p>
                  </a:txBody>
                  <a:tcPr marL="66675" marR="66675" marT="66675" marB="6667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16" name="TextBox 15"/>
          <p:cNvSpPr txBox="1"/>
          <p:nvPr/>
        </p:nvSpPr>
        <p:spPr>
          <a:xfrm>
            <a:off x="6400800" y="3611880"/>
            <a:ext cx="4937760" cy="1554480"/>
          </a:xfrm>
          <a:prstGeom prst="rect">
            <a:avLst/>
          </a:prstGeom>
          <a:noFill/>
        </p:spPr>
        <p:txBody>
          <a:bodyPr wrap="square" lIns="0" rIns="0" tIns="0" bIns="0">
            <a:spAutoFit/>
          </a:bodyPr>
          <a:lstStyle/>
          <a:p>
            <a:pPr algn="l" marL="243840" indent="-196342">
              <a:lnSpc>
                <a:spcPts val="2400"/>
              </a:lnSpc>
              <a:buSzPct val="100000"/>
              <a:buChar char="•"/>
            </a:pPr>
            <a:r>
              <a:rPr sz="1500" b="0" i="0">
                <a:solidFill>
                  <a:srgbClr val="1B1F2A"/>
                </a:solidFill>
                <a:latin typeface="IBM Plex Sans"/>
                <a:ea typeface="IBM Plex Sans"/>
                <a:cs typeface="IBM Plex Sans"/>
              </a:rPr>
              <a:t>|V₂| = 0.978 pu at −2.93°</a:t>
            </a:r>
          </a:p>
          <a:p>
            <a:pPr algn="l" marL="243840" indent="-196342">
              <a:lnSpc>
                <a:spcPts val="2400"/>
              </a:lnSpc>
              <a:buSzPct val="100000"/>
              <a:buChar char="•"/>
            </a:pPr>
            <a:r>
              <a:rPr sz="1500" b="0" i="0">
                <a:solidFill>
                  <a:srgbClr val="1B1F2A"/>
                </a:solidFill>
                <a:latin typeface="IBM Plex Sans"/>
                <a:ea typeface="IBM Plex Sans"/>
                <a:cs typeface="IBM Plex Sans"/>
              </a:rPr>
              <a:t>Slack supplies 0.5 + 0.23j pu: the load's 0.5 + 0.2j plus 0.03 used by the line</a:t>
            </a:r>
          </a:p>
          <a:p>
            <a:pPr algn="l" marL="243840" indent="-196342">
              <a:lnSpc>
                <a:spcPts val="2400"/>
              </a:lnSpc>
              <a:buSzPct val="100000"/>
              <a:buChar char="•"/>
            </a:pPr>
            <a:r>
              <a:rPr sz="1500" b="0" i="0">
                <a:solidFill>
                  <a:srgbClr val="1B1F2A"/>
                </a:solidFill>
                <a:latin typeface="IBM Plex Sans"/>
                <a:ea typeface="IBM Plex Sans"/>
                <a:cs typeface="IBM Plex Sans"/>
              </a:rPr>
              <a:t>The error squares each step: quadratic convergence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TextBox 1"/>
          <p:cNvSpPr txBox="1"/>
          <p:nvPr/>
        </p:nvSpPr>
        <p:spPr>
          <a:xfrm>
            <a:off x="813816" y="713232"/>
            <a:ext cx="10881360" cy="429768"/>
          </a:xfrm>
          <a:prstGeom prst="rect">
            <a:avLst/>
          </a:prstGeom>
          <a:noFill/>
        </p:spPr>
        <p:txBody>
          <a:bodyPr wrap="square" lIns="0" rIns="0" tIns="0" bIns="0">
            <a:spAutoFit/>
          </a:bodyPr>
          <a:lstStyle/>
          <a:p>
            <a:pPr algn="l" marL="0" indent="0">
              <a:buNone/>
            </a:pPr>
            <a:r>
              <a:rPr sz="2800" b="1" i="0">
                <a:solidFill>
                  <a:srgbClr val="1F3A5F"/>
                </a:solidFill>
                <a:latin typeface="IBM Plex Sans"/>
                <a:ea typeface="IBM Plex Sans"/>
                <a:cs typeface="IBM Plex Sans"/>
              </a:rPr>
              <a:t>Test systems</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rIns="0" tIns="0" bIns="0">
            <a:spAutoFit/>
          </a:bodyPr>
          <a:lstStyle/>
          <a:p>
            <a:pPr algn="l" marL="0" indent="0">
              <a:buNone/>
            </a:pPr>
            <a:r>
              <a:rPr sz="1200" b="0" i="0">
                <a:solidFill>
                  <a:srgbClr val="6B7280"/>
                </a:solidFill>
                <a:latin typeface="IBM Plex Sans"/>
                <a:ea typeface="IBM Plex Sans"/>
                <a:cs typeface="IBM Plex Sans"/>
              </a:rPr>
              <a:t>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rIns="0" tIns="0" bIns="0">
            <a:spAutoFit/>
          </a:bodyPr>
          <a:lstStyle/>
          <a:p>
            <a:pPr algn="r" marL="0" indent="0">
              <a:buNone/>
            </a:pPr>
            <a:r>
              <a:rPr sz="1200" b="0" i="0">
                <a:solidFill>
                  <a:srgbClr val="6B7280"/>
                </a:solidFill>
                <a:latin typeface="IBM Plex Sans"/>
                <a:ea typeface="IBM Plex Sans"/>
                <a:cs typeface="IBM Plex Sans"/>
              </a:rPr>
              <a:t>7</a:t>
            </a:r>
          </a:p>
        </p:txBody>
      </p:sp>
      <p:sp>
        <p:nvSpPr>
          <p:cNvPr id="6" name="TextBox 5"/>
          <p:cNvSpPr txBox="1"/>
          <p:nvPr/>
        </p:nvSpPr>
        <p:spPr>
          <a:xfrm>
            <a:off x="813816" y="1517904"/>
            <a:ext cx="5212080" cy="4206240"/>
          </a:xfrm>
          <a:prstGeom prst="rect">
            <a:avLst/>
          </a:prstGeom>
          <a:noFill/>
        </p:spPr>
        <p:txBody>
          <a:bodyPr wrap="square" lIns="0" rIns="0" tIns="0" bIns="0">
            <a:spAutoFit/>
          </a:bodyPr>
          <a:lstStyle/>
          <a:p>
            <a:pPr algn="l" marL="243840" indent="-196342">
              <a:lnSpc>
                <a:spcPts val="2500"/>
              </a:lnSpc>
              <a:buSzPct val="100000"/>
              <a:buChar char="•"/>
            </a:pPr>
            <a:r>
              <a:rPr sz="1600" b="0" i="0">
                <a:solidFill>
                  <a:srgbClr val="1B1F2A"/>
                </a:solidFill>
                <a:latin typeface="IBM Plex Sans"/>
                <a:ea typeface="IBM Plex Sans"/>
                <a:cs typeface="IBM Plex Sans"/>
              </a:rPr>
              <a:t>The paper's 9 grids from Zenodo: 5 ill-conditioned (18,482 to 109,272 buses), 4 near their load limit</a:t>
            </a:r>
          </a:p>
          <a:p>
            <a:pPr algn="l" marL="243840" indent="-196342">
              <a:lnSpc>
                <a:spcPts val="2500"/>
              </a:lnSpc>
              <a:buSzPct val="100000"/>
              <a:buChar char="•"/>
            </a:pPr>
            <a:r>
              <a:rPr sz="1600" b="0" i="0">
                <a:solidFill>
                  <a:srgbClr val="1B1F2A"/>
                </a:solidFill>
                <a:latin typeface="IBM Plex Sans"/>
                <a:ea typeface="IBM Plex Sans"/>
                <a:cs typeface="IBM Plex Sans"/>
              </a:rPr>
              <a:t>Model check: flat-start mismatch matches the paper, e.g. 533 vs 532 pu on case18482</a:t>
            </a:r>
          </a:p>
          <a:p>
            <a:pPr algn="l" marL="243840" indent="-196342">
              <a:lnSpc>
                <a:spcPts val="2500"/>
              </a:lnSpc>
              <a:buSzPct val="100000"/>
              <a:buChar char="•"/>
            </a:pPr>
            <a:r>
              <a:rPr sz="1600" b="0" i="0">
                <a:solidFill>
                  <a:srgbClr val="1B1F2A"/>
                </a:solidFill>
                <a:latin typeface="IBM Plex Sans"/>
                <a:ea typeface="IBM Plex Sans"/>
                <a:cs typeface="IBM Plex Sans"/>
              </a:rPr>
              <a:t>Two small grids were off by exactly 10: their files store 10 MVA, the paper uses 100 MVA</a:t>
            </a:r>
          </a:p>
          <a:p>
            <a:pPr algn="l" marL="243840" indent="-196342">
              <a:lnSpc>
                <a:spcPts val="2500"/>
              </a:lnSpc>
              <a:buSzPct val="100000"/>
              <a:buChar char="•"/>
            </a:pPr>
            <a:r>
              <a:rPr sz="1600" b="0" i="0">
                <a:solidFill>
                  <a:srgbClr val="1B1F2A"/>
                </a:solidFill>
                <a:latin typeface="IBM Plex Sans"/>
                <a:ea typeface="IBM Plex Sans"/>
                <a:cs typeface="IBM Plex Sans"/>
              </a:rPr>
              <a:t>25 more grids from the same records: 34 in total, used for the 170-run study</a:t>
            </a:r>
          </a:p>
          <a:p>
            <a:pPr algn="l" marL="243840" indent="-196342">
              <a:lnSpc>
                <a:spcPts val="2500"/>
              </a:lnSpc>
              <a:buSzPct val="100000"/>
              <a:buChar char="•"/>
            </a:pPr>
            <a:r>
              <a:rPr sz="1600" b="0" i="0">
                <a:solidFill>
                  <a:srgbClr val="1B1F2A"/>
                </a:solidFill>
                <a:latin typeface="IBM Plex Sans"/>
                <a:ea typeface="IBM Plex Sans"/>
                <a:cs typeface="IBM Plex Sans"/>
              </a:rPr>
              <a:t>Newton from the flat start fails on all 5 large grids (crosses in the figure)</a:t>
            </a:r>
          </a:p>
        </p:txBody>
      </p:sp>
      <p:pic>
        <p:nvPicPr>
          <p:cNvPr id="7" name="Picture 6" descr="systems.png"/>
          <p:cNvPicPr>
            <a:picLocks noChangeAspect="1"/>
          </p:cNvPicPr>
          <p:nvPr/>
        </p:nvPicPr>
        <p:blipFill>
          <a:blip r:embed="rId4"/>
          <a:stretch>
            <a:fillRect/>
          </a:stretch>
        </p:blipFill>
        <p:spPr>
          <a:xfrm>
            <a:off x="6172200" y="1481328"/>
            <a:ext cx="5257800" cy="3634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3216</Words>
  <Application>Microsoft Office PowerPoint</Application>
  <PresentationFormat>Widescreen</PresentationFormat>
  <Paragraphs>282</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IBM Plex Sans</vt:lpstr>
      <vt:lpstr>STIX Two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Homotopy Power Flow</dc:title>
  <dc:subject>PptxGenJS Presentation</dc:subject>
  <dc:creator>PptxGenJS</dc:creator>
  <cp:lastModifiedBy>Jonayed Mohiuddin</cp:lastModifiedBy>
  <cp:revision>7</cp:revision>
  <dcterms:created xsi:type="dcterms:W3CDTF">2026-09-28T06:54:17Z</dcterms:created>
  <dcterms:modified xsi:type="dcterms:W3CDTF">2026-09-28T06:59:21Z</dcterms:modified>
</cp:coreProperties>
</file>