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8"/>
    <p:sldId id="258" r:id="rId9"/>
    <p:sldId id="259" r:id="rId10"/>
    <p:sldId id="260" r:id="rId11"/>
    <p:sldId id="261" r:id="rId12"/>
    <p:sldId id="262" r:id="rId13"/>
    <p:sldId id="263" r:id="rId14"/>
    <p:sldId id="264" r:id="rId15"/>
    <p:sldId id="265" r:id="rId16"/>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Solved</c:v>
                </c:pt>
              </c:strCache>
            </c:strRef>
          </c:tx>
          <c:dPt>
            <c:idx val="0"/>
            <c:spPr>
              <a:solidFill>
                <a:srgbClr val="1F3A5F"/>
              </a:solidFill>
            </c:spPr>
          </c:dPt>
          <c:dPt>
            <c:idx val="1"/>
            <c:spPr>
              <a:solidFill>
                <a:srgbClr val="A8B0BB"/>
              </a:solidFill>
            </c:spPr>
          </c:dPt>
          <c:dPt>
            <c:idx val="2"/>
            <c:spPr>
              <a:solidFill>
                <a:srgbClr val="A8B0BB"/>
              </a:solidFill>
            </c:spPr>
          </c:dPt>
          <c:dPt>
            <c:idx val="3"/>
            <c:spPr>
              <a:solidFill>
                <a:srgbClr val="A8B0BB"/>
              </a:solidFill>
            </c:spPr>
          </c:dPt>
          <c:dPt>
            <c:idx val="4"/>
            <c:spPr>
              <a:solidFill>
                <a:srgbClr val="A8B0BB"/>
              </a:solidFill>
            </c:spPr>
          </c:dPt>
          <c:dPt>
            <c:idx val="5"/>
            <c:spPr>
              <a:solidFill>
                <a:srgbClr val="A8B0BB"/>
              </a:solidFill>
            </c:spPr>
          </c:dPt>
          <c:cat>
            <c:strRef>
              <c:f>Sheet1!$A$2:$A$7</c:f>
              <c:strCache>
                <c:ptCount val="6"/>
                <c:pt idx="0">
                  <c:v>Paper</c:v>
                </c:pt>
                <c:pt idx="1">
                  <c:v>Multiplier</c:v>
                </c:pt>
                <c:pt idx="2">
                  <c:v>Richardson</c:v>
                </c:pt>
                <c:pt idx="3">
                  <c:v>Corrector</c:v>
                </c:pt>
                <c:pt idx="4">
                  <c:v>Mult. + corr.</c:v>
                </c:pt>
                <c:pt idx="5">
                  <c:v>Mult. + Rich.</c:v>
                </c:pt>
              </c:strCache>
            </c:strRef>
          </c:cat>
          <c:val>
            <c:numRef>
              <c:f>Sheet1!$B$2:$B$7</c:f>
              <c:numCache>
                <c:formatCode>General</c:formatCode>
                <c:ptCount val="6"/>
                <c:pt idx="0">
                  <c:v>127</c:v>
                </c:pt>
                <c:pt idx="1">
                  <c:v>143</c:v>
                </c:pt>
                <c:pt idx="2">
                  <c:v>151</c:v>
                </c:pt>
                <c:pt idx="3">
                  <c:v>152</c:v>
                </c:pt>
                <c:pt idx="4">
                  <c:v>152</c:v>
                </c:pt>
                <c:pt idx="5">
                  <c:v>156</c:v>
                </c:pt>
              </c:numCache>
            </c:numRef>
          </c:val>
        </c:ser>
        <c:dLbls>
          <c:numFmt formatCode="0" sourceLinked="0"/>
          <c:txPr>
            <a:bodyPr/>
            <a:lstStyle/>
            <a:p>
              <a:pPr>
                <a:defRPr sz="1600" b="1">
                  <a:solidFill>
                    <a:srgbClr val="1B1F2A"/>
                  </a:solidFill>
                  <a:latin typeface="IBM Plex Sans"/>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8C8C6"/>
            </a:solidFill>
          </a:ln>
        </c:spPr>
        <c:txPr>
          <a:bodyPr/>
          <a:lstStyle/>
          <a:p>
            <a:pPr>
              <a:defRPr sz="1500">
                <a:solidFill>
                  <a:srgbClr val="1B1F2A"/>
                </a:solidFill>
                <a:latin typeface="IBM Plex Sans"/>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281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the paper from scratch in Python, reproduced its results, and then tested changes to the method. First the paper, then our implementation and reproduction, then the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My part is what everything else stands on: turning a grid file into the equations every solver works on, choosing the test systems, and deciding whether an answer is actually right.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MATPOWER files are read with SciPy; PYPOWER's ext2int removes switched-off equipment and renumbers the buses. Y is the bus admittance matrix with I = Y V, S_spec is generation minus load in per unit. Every solver in the project only sees g(x) and J(x).</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Each bus has |V|, theta, P and Q; two are fixed by what is controlled there. The slack supplies the losses and is the angle reference. A PV generator holds |V| by adjusting Q, so Q is an output. Counting: case18482 has 2,889 PV + 2 x 15,592 PQ = 34,073 unknowns.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flat-start mismatch is the first number in every row of Tables 2 to 5, so it checks the whole model. Seven grids matched at once. At the flat start g(x0) is about -S_spec, which scales like 1/baseMVA, so a 10 MVA base gives exactly 10 times the value.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Five ill-conditioned grids are joined copies of European PEGASE grids, the others are standard grids loaded close to their limit. Nine grids, five of them copies of two networks, are too few to judge a change to the method, so I added 25 more. A cross in the figure means Newton from the flat start fails.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The equations are quadratic in the voltages, so there is a normal operating point and low-voltage roots that are useless. A small mismatch says x is a root, not which one. The reference is the grid's intended operating point. Without this check those 14 runs would count as successes.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Every team member's change is a switch; the study runs every configuration the same way on the same problems. For runs the paper's method misses, it reruns with 30 NR iterations to tell a real rescue from a root fix or a mere speed-up.</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Corrector is Apurbo's, the multiplier Hasbi's, Richardson Sadman's. Multiplier plus corrector solves 152 at 7.57 LUs, cheaper than the paper's 8.04. Multiplier plus Richardson solves the most, 156.</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 name="Notes Placeholder"/>
          <p:cNvSpPr>
            <a:spLocks noGrp="1"/>
          </p:cNvSpPr>
          <p:nvPr>
            <p:ph type="body" idx="1"/>
          </p:nvPr>
        </p:nvSpPr>
        <p:spPr>
          <a:xfrm>
            <a:off x="685800" y="4400550"/>
            <a:ext cx="5486400" cy="3600450"/>
          </a:xfrm>
          <a:prstGeom prst="rect">
            <a:avLst/>
          </a:prstGeom>
        </p:spPr>
        <p:txBody>
          <a:bodyPr/>
          <a:lstStyle/>
          <a:p>
            <a:r>
              <a:t>88 full runs per grid over 8 values of dt0 and 11 of K, each judged by the solution check. The first BE step is a Newton step on J + delta I, so the outcome depends on delta: diagonal bands. On case36964 nothing with dt0 &gt;= 0.1 works, which explains the paper's failure at (0.1, 0.002). On case6024 the working band lies above the paper's 0.02.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9"/>
        </a:solidFill>
        <a:effectLst/>
      </p:bgPr>
    </p:bg>
    <p:spTree>
      <p:nvGrpSpPr>
        <p:cNvPr id="1" name=""/>
        <p:cNvGrpSpPr/>
        <p:nvPr/>
      </p:nvGrpSpPr>
      <p:grpSpPr>
        <a:xfrm>
          <a:off x="0" y="0"/>
          <a:ext cx="0" cy="0"/>
          <a:chOff x="0" y="0"/>
          <a:chExt cx="0" cy="0"/>
        </a:xfrm>
      </p:grpSpPr>
      <p:sp>
        <p:nvSpPr>
          <p:cNvPr id="2" name="Text 0"/>
          <p:cNvSpPr/>
          <p:nvPr/>
        </p:nvSpPr>
        <p:spPr>
          <a:xfrm>
            <a:off x="812800" y="1584960"/>
            <a:ext cx="10883392" cy="17780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The Power Flow Model and</a:t>
            </a:r>
            <a:endParaRPr lang="en-US" sz="4000" dirty="0"/>
          </a:p>
          <a:p>
            <a:pPr marL="0" indent="0" algn="l">
              <a:lnSpc>
                <a:spcPts val="4600"/>
              </a:lnSpc>
              <a:buNone/>
            </a:pPr>
            <a:r>
              <a:rPr lang="en-US" sz="4000" b="1" dirty="0">
                <a:solidFill>
                  <a:srgbClr val="1F3A5F"/>
                </a:solidFill>
                <a:latin typeface="IBM Plex Sans" pitchFamily="34" charset="0"/>
                <a:ea typeface="IBM Plex Sans" pitchFamily="34" charset="-122"/>
                <a:cs typeface="IBM Plex Sans" pitchFamily="34" charset="-120"/>
              </a:rPr>
              <a:t>Checking the Answers</a:t>
            </a:r>
            <a:endParaRPr lang="en-US" sz="4000" dirty="0"/>
          </a:p>
        </p:txBody>
      </p:sp>
      <p:pic>
        <p:nvPicPr>
          <p:cNvPr id="3" name="Image 0" descr="line"/>
          <p:cNvPicPr>
            <a:picLocks noChangeAspect="1"/>
          </p:cNvPicPr>
          <p:nvPr/>
        </p:nvPicPr>
        <p:blipFill>
          <a:blip r:embed="rId3"/>
          <a:srcRect l="-2083" r="-2083"/>
          <a:stretch/>
        </p:blipFill>
        <p:spPr>
          <a:xfrm>
            <a:off x="812800" y="3566160"/>
            <a:ext cx="10566400" cy="30480"/>
          </a:xfrm>
          <a:prstGeom prst="rect">
            <a:avLst/>
          </a:prstGeom>
        </p:spPr>
      </p:pic>
      <p:sp>
        <p:nvSpPr>
          <p:cNvPr id="4" name="Text 1"/>
          <p:cNvSpPr/>
          <p:nvPr/>
        </p:nvSpPr>
        <p:spPr>
          <a:xfrm>
            <a:off x="812800" y="38252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Based on A. Lima-Silva and F. D. Freitas, "Exploring a Dynamic Homotopy Technique to Enhance the Convergence of Classical Power Flow Iterative Solvers in Ill-Conditioned Power System Models", </a:t>
            </a:r>
            <a:r>
              <a:rPr lang="en-US" sz="1600" i="1" dirty="0">
                <a:solidFill>
                  <a:srgbClr val="333A48"/>
                </a:solidFill>
                <a:latin typeface="IBM Plex Sans" pitchFamily="34" charset="0"/>
                <a:ea typeface="IBM Plex Sans" pitchFamily="34" charset="-122"/>
                <a:cs typeface="IBM Plex Sans" pitchFamily="34" charset="-120"/>
              </a:rPr>
              <a:t>Energies</a:t>
            </a:r>
            <a:r>
              <a:rPr lang="en-US" sz="1600" dirty="0">
                <a:solidFill>
                  <a:srgbClr val="333A48"/>
                </a:solidFill>
                <a:latin typeface="IBM Plex Sans" pitchFamily="34" charset="0"/>
                <a:ea typeface="IBM Plex Sans" pitchFamily="34" charset="-122"/>
                <a:cs typeface="IBM Plex Sans" pitchFamily="34" charset="-120"/>
              </a:rPr>
              <a:t> 17(18):4642, 2024</a:t>
            </a:r>
            <a:endParaRPr lang="en-US" sz="1600" dirty="0"/>
          </a:p>
        </p:txBody>
      </p:sp>
      <p:sp>
        <p:nvSpPr>
          <p:cNvPr id="5" name="Text 2"/>
          <p:cNvSpPr/>
          <p:nvPr/>
        </p:nvSpPr>
        <p:spPr>
          <a:xfrm>
            <a:off x="812800" y="4663440"/>
            <a:ext cx="10883392"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Presented by Jonayed   ·   Team: 2105039, 2105040, 2105057, 2105058, 2105060</a:t>
            </a:r>
            <a:endParaRPr lang="en-US" sz="1600" dirty="0"/>
          </a:p>
          <a:p>
            <a:pPr marL="0" indent="0" algn="l">
              <a:lnSpc>
                <a:spcPts val="2400"/>
              </a:lnSpc>
              <a:buNone/>
            </a:pPr>
            <a:r>
              <a:rPr lang="en-US" sz="1600" dirty="0">
                <a:solidFill>
                  <a:srgbClr val="333A48"/>
                </a:solidFill>
                <a:latin typeface="IBM Plex Sans" pitchFamily="34" charset="0"/>
                <a:ea typeface="IBM Plex Sans" pitchFamily="34" charset="-122"/>
                <a:cs typeface="IBM Plex Sans" pitchFamily="34" charset="-120"/>
              </a:rPr>
              <a:t>CSE 402 Numerical Analysis Sessional</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My part of the project</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2</a:t>
            </a:r>
          </a:p>
        </p:txBody>
      </p:sp>
      <p:sp>
        <p:nvSpPr>
          <p:cNvPr id="6" name="Rounded Rectangle 5"/>
          <p:cNvSpPr/>
          <p:nvPr/>
        </p:nvSpPr>
        <p:spPr>
          <a:xfrm>
            <a:off x="81381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1</a:t>
            </a:r>
          </a:p>
        </p:txBody>
      </p:sp>
      <p:sp>
        <p:nvSpPr>
          <p:cNvPr id="8" name="TextBox 7"/>
          <p:cNvSpPr txBox="1"/>
          <p:nvPr/>
        </p:nvSpPr>
        <p:spPr>
          <a:xfrm>
            <a:off x="172821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The power flow model</a:t>
            </a:r>
          </a:p>
        </p:txBody>
      </p:sp>
      <p:sp>
        <p:nvSpPr>
          <p:cNvPr id="9" name="TextBox 8"/>
          <p:cNvSpPr txBox="1"/>
          <p:nvPr/>
        </p:nvSpPr>
        <p:spPr>
          <a:xfrm>
            <a:off x="172821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from a grid file to the equations g(x) = 0 and the Jacobian J</a:t>
            </a:r>
          </a:p>
        </p:txBody>
      </p:sp>
      <p:sp>
        <p:nvSpPr>
          <p:cNvPr id="10" name="Rounded Rectangle 9"/>
          <p:cNvSpPr/>
          <p:nvPr/>
        </p:nvSpPr>
        <p:spPr>
          <a:xfrm>
            <a:off x="6254496" y="16002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28816" y="18745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2</a:t>
            </a:r>
          </a:p>
        </p:txBody>
      </p:sp>
      <p:sp>
        <p:nvSpPr>
          <p:cNvPr id="12" name="TextBox 11"/>
          <p:cNvSpPr txBox="1"/>
          <p:nvPr/>
        </p:nvSpPr>
        <p:spPr>
          <a:xfrm>
            <a:off x="7168896" y="18745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Test systems</a:t>
            </a:r>
          </a:p>
        </p:txBody>
      </p:sp>
      <p:sp>
        <p:nvSpPr>
          <p:cNvPr id="13" name="TextBox 12"/>
          <p:cNvSpPr txBox="1"/>
          <p:nvPr/>
        </p:nvSpPr>
        <p:spPr>
          <a:xfrm>
            <a:off x="7168896" y="23774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the paper's 9 grids, checked against the paper, plus 25 more</a:t>
            </a:r>
          </a:p>
        </p:txBody>
      </p:sp>
      <p:sp>
        <p:nvSpPr>
          <p:cNvPr id="14" name="Rounded Rectangle 13"/>
          <p:cNvSpPr/>
          <p:nvPr/>
        </p:nvSpPr>
        <p:spPr>
          <a:xfrm>
            <a:off x="81381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8813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3</a:t>
            </a:r>
          </a:p>
        </p:txBody>
      </p:sp>
      <p:sp>
        <p:nvSpPr>
          <p:cNvPr id="16" name="TextBox 15"/>
          <p:cNvSpPr txBox="1"/>
          <p:nvPr/>
        </p:nvSpPr>
        <p:spPr>
          <a:xfrm>
            <a:off x="172821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The solution check</a:t>
            </a:r>
          </a:p>
        </p:txBody>
      </p:sp>
      <p:sp>
        <p:nvSpPr>
          <p:cNvPr id="17" name="TextBox 16"/>
          <p:cNvSpPr txBox="1"/>
          <p:nvPr/>
        </p:nvSpPr>
        <p:spPr>
          <a:xfrm>
            <a:off x="172821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did a run reach the right root, not just a root?</a:t>
            </a:r>
          </a:p>
        </p:txBody>
      </p:sp>
      <p:sp>
        <p:nvSpPr>
          <p:cNvPr id="18" name="Rounded Rectangle 17"/>
          <p:cNvSpPr/>
          <p:nvPr/>
        </p:nvSpPr>
        <p:spPr>
          <a:xfrm>
            <a:off x="6254496" y="3657600"/>
            <a:ext cx="5120640" cy="173736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28816" y="3931920"/>
            <a:ext cx="475488" cy="47548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IBM Plex Sans"/>
                <a:ea typeface="IBM Plex Sans"/>
                <a:cs typeface="IBM Plex Sans"/>
              </a:rPr>
              <a:t>4</a:t>
            </a:r>
          </a:p>
        </p:txBody>
      </p:sp>
      <p:sp>
        <p:nvSpPr>
          <p:cNvPr id="20" name="TextBox 19"/>
          <p:cNvSpPr txBox="1"/>
          <p:nvPr/>
        </p:nvSpPr>
        <p:spPr>
          <a:xfrm>
            <a:off x="7168896" y="3931920"/>
            <a:ext cx="3977640" cy="457200"/>
          </a:xfrm>
          <a:prstGeom prst="rect">
            <a:avLst/>
          </a:prstGeom>
          <a:noFill/>
        </p:spPr>
        <p:txBody>
          <a:bodyPr wrap="square" lIns="0" rIns="0" tIns="0" bIns="0" anchor="t">
            <a:spAutoFit/>
          </a:bodyPr>
          <a:lstStyle/>
          <a:p>
            <a:pPr algn="l">
              <a:spcAft>
                <a:spcPts val="800"/>
              </a:spcAft>
            </a:pPr>
            <a:r>
              <a:rPr sz="1900" b="1" i="0">
                <a:solidFill>
                  <a:srgbClr val="1F3A5F"/>
                </a:solidFill>
                <a:latin typeface="IBM Plex Sans"/>
                <a:ea typeface="IBM Plex Sans"/>
                <a:cs typeface="IBM Plex Sans"/>
              </a:rPr>
              <a:t>Study and feasibility maps</a:t>
            </a:r>
          </a:p>
        </p:txBody>
      </p:sp>
      <p:sp>
        <p:nvSpPr>
          <p:cNvPr id="21" name="TextBox 20"/>
          <p:cNvSpPr txBox="1"/>
          <p:nvPr/>
        </p:nvSpPr>
        <p:spPr>
          <a:xfrm>
            <a:off x="7168896" y="4434840"/>
            <a:ext cx="3977640" cy="82296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all team changes compared on 170 runs; where the method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From a grid file to the equations</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3</a:t>
            </a:r>
          </a:p>
        </p:txBody>
      </p:sp>
      <p:sp>
        <p:nvSpPr>
          <p:cNvPr id="6" name="Rounded Rectangle 5"/>
          <p:cNvSpPr/>
          <p:nvPr/>
        </p:nvSpPr>
        <p:spPr>
          <a:xfrm>
            <a:off x="813816"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.mat case file</a:t>
            </a:r>
          </a:p>
        </p:txBody>
      </p:sp>
      <p:sp>
        <p:nvSpPr>
          <p:cNvPr id="7" name="Right Arrow 6"/>
          <p:cNvSpPr/>
          <p:nvPr/>
        </p:nvSpPr>
        <p:spPr>
          <a:xfrm>
            <a:off x="2660904"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80944"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clean and renumber</a:t>
            </a:r>
          </a:p>
        </p:txBody>
      </p:sp>
      <p:sp>
        <p:nvSpPr>
          <p:cNvPr id="9" name="Right Arrow 8"/>
          <p:cNvSpPr/>
          <p:nvPr/>
        </p:nvSpPr>
        <p:spPr>
          <a:xfrm>
            <a:off x="4828032"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48072"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bus types: slack, PV, PQ</a:t>
            </a:r>
          </a:p>
        </p:txBody>
      </p:sp>
      <p:sp>
        <p:nvSpPr>
          <p:cNvPr id="11" name="Right Arrow 10"/>
          <p:cNvSpPr/>
          <p:nvPr/>
        </p:nvSpPr>
        <p:spPr>
          <a:xfrm>
            <a:off x="6995160"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0"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build Y and S</a:t>
            </a:r>
          </a:p>
        </p:txBody>
      </p:sp>
      <p:sp>
        <p:nvSpPr>
          <p:cNvPr id="13" name="Right Arrow 12"/>
          <p:cNvSpPr/>
          <p:nvPr/>
        </p:nvSpPr>
        <p:spPr>
          <a:xfrm>
            <a:off x="9162288"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82328" y="1554480"/>
            <a:ext cx="1783080" cy="731520"/>
          </a:xfrm>
          <a:prstGeom prst="roundRect">
            <a:avLst>
              <a:gd name="adj" fmla="val 1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FFFFFF"/>
                </a:solidFill>
                <a:latin typeface="IBM Plex Sans"/>
                <a:ea typeface="IBM Plex Sans"/>
                <a:cs typeface="IBM Plex Sans"/>
              </a:rPr>
              <a:t>g(x) and J(x)</a:t>
            </a:r>
          </a:p>
        </p:txBody>
      </p:sp>
      <p:pic>
        <p:nvPicPr>
          <p:cNvPr id="15" name="Picture 14" descr="j_mis.png"/>
          <p:cNvPicPr>
            <a:picLocks noChangeAspect="1"/>
          </p:cNvPicPr>
          <p:nvPr/>
        </p:nvPicPr>
        <p:blipFill>
          <a:blip r:embed="rId3"/>
          <a:stretch>
            <a:fillRect/>
          </a:stretch>
        </p:blipFill>
        <p:spPr>
          <a:xfrm>
            <a:off x="813816" y="2743200"/>
            <a:ext cx="3398520" cy="521207"/>
          </a:xfrm>
          <a:prstGeom prst="rect">
            <a:avLst/>
          </a:prstGeom>
        </p:spPr>
      </p:pic>
      <p:sp>
        <p:nvSpPr>
          <p:cNvPr id="16" name="TextBox 15"/>
          <p:cNvSpPr txBox="1"/>
          <p:nvPr/>
        </p:nvSpPr>
        <p:spPr>
          <a:xfrm>
            <a:off x="813816" y="3749039"/>
            <a:ext cx="5943600" cy="1463040"/>
          </a:xfrm>
          <a:prstGeom prst="rect">
            <a:avLst/>
          </a:prstGeom>
          <a:noFill/>
        </p:spPr>
        <p:txBody>
          <a:bodyPr wrap="square" lIns="0" rIns="0" tIns="0" bIns="0" anchor="t">
            <a:spAutoFit/>
          </a:bodyPr>
          <a:lstStyle/>
          <a:p>
            <a:pPr algn="l" marL="228600" indent="-228600">
              <a:spcAft>
                <a:spcPts val="800"/>
              </a:spcAft>
              <a:buFont typeface="Arial"/>
              <a:buChar char="•"/>
            </a:pPr>
            <a:r>
              <a:rPr sz="1700" b="0" i="0">
                <a:solidFill>
                  <a:srgbClr val="1B1F2A"/>
                </a:solidFill>
                <a:latin typeface="IBM Plex Sans"/>
                <a:ea typeface="IBM Plex Sans"/>
                <a:cs typeface="IBM Plex Sans"/>
              </a:rPr>
              <a:t>one line of code for all buses</a:t>
            </a:r>
          </a:p>
          <a:p>
            <a:pPr algn="l" marL="228600" indent="-228600">
              <a:spcAft>
                <a:spcPts val="800"/>
              </a:spcAft>
              <a:buFont typeface="Arial"/>
              <a:buChar char="•"/>
            </a:pPr>
            <a:r>
              <a:rPr sz="1700" b="0" i="0">
                <a:solidFill>
                  <a:srgbClr val="1B1F2A"/>
                </a:solidFill>
                <a:latin typeface="IBM Plex Sans"/>
                <a:ea typeface="IBM Plex Sans"/>
                <a:cs typeface="IBM Plex Sans"/>
              </a:rPr>
              <a:t>exact sparse Jacobian, checked by finite differences</a:t>
            </a:r>
          </a:p>
        </p:txBody>
      </p:sp>
      <p:sp>
        <p:nvSpPr>
          <p:cNvPr id="17" name="TextBox 16"/>
          <p:cNvSpPr txBox="1"/>
          <p:nvPr/>
        </p:nvSpPr>
        <p:spPr>
          <a:xfrm>
            <a:off x="7406640" y="2743200"/>
            <a:ext cx="393192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185,807</a:t>
            </a:r>
          </a:p>
        </p:txBody>
      </p:sp>
      <p:sp>
        <p:nvSpPr>
          <p:cNvPr id="18" name="TextBox 17"/>
          <p:cNvSpPr txBox="1"/>
          <p:nvPr/>
        </p:nvSpPr>
        <p:spPr>
          <a:xfrm>
            <a:off x="7406640" y="3611880"/>
            <a:ext cx="393192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equations in the largest grid, same code as a 2-bus toy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Which quantities are unknown</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4</a:t>
            </a:r>
          </a:p>
        </p:txBody>
      </p:sp>
      <p:graphicFrame>
        <p:nvGraphicFramePr>
          <p:cNvPr id="6" name="Table 5"/>
          <p:cNvGraphicFramePr>
            <a:graphicFrameLocks noGrp="1"/>
          </p:cNvGraphicFramePr>
          <p:nvPr/>
        </p:nvGraphicFramePr>
        <p:xfrm>
          <a:off x="813816" y="1600200"/>
          <a:ext cx="10424160" cy="1901952"/>
        </p:xfrm>
        <a:graphic>
          <a:graphicData uri="http://schemas.openxmlformats.org/drawingml/2006/table">
            <a:tbl>
              <a:tblPr firstRow="0" bandRow="0">
                <a:tableStyleId>{2D5ABB26-0587-4C30-8999-92F81FD0307C}</a:tableStyleId>
              </a:tblPr>
              <a:tblGrid>
                <a:gridCol w="2377440"/>
                <a:gridCol w="2011680"/>
                <a:gridCol w="1828800"/>
                <a:gridCol w="4206240"/>
              </a:tblGrid>
              <a:tr h="475488">
                <a:tc>
                  <a:txBody>
                    <a:bodyPr wrap="square"/>
                    <a:lstStyle/>
                    <a:p>
                      <a:pPr algn="l"/>
                      <a:r>
                        <a:rPr sz="1600" b="1" i="0">
                          <a:solidFill>
                            <a:srgbClr val="1B1F2A"/>
                          </a:solidFill>
                          <a:latin typeface="IBM Plex Sans"/>
                          <a:ea typeface="IBM Plex Sans"/>
                          <a:cs typeface="IBM Plex Sans"/>
                        </a:rPr>
                        <a:t>Bus type</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Fixed</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Unknown</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l"/>
                      <a:r>
                        <a:rPr sz="1600" b="1" i="0">
                          <a:solidFill>
                            <a:srgbClr val="1B1F2A"/>
                          </a:solidFill>
                          <a:latin typeface="IBM Plex Sans"/>
                          <a:ea typeface="IBM Plex Sans"/>
                          <a:cs typeface="IBM Plex Sans"/>
                        </a:rPr>
                        <a:t>Equations kept</a:t>
                      </a:r>
                    </a:p>
                  </a:txBody>
                  <a:tcPr marL="73152" marR="73152" marT="36576" marB="36576" anchor="ctr">
                    <a:lnL w="0">
                      <a:noFill/>
                    </a:lnL>
                    <a:lnR w="0">
                      <a:noFill/>
                    </a:lnR>
                    <a:lnT w="0">
                      <a:noFill/>
                    </a:lnT>
                    <a:lnB w="12700">
                      <a:solidFill>
                        <a:srgbClr val="C8C8C6"/>
                      </a:solidFill>
                    </a:lnB>
                    <a:solidFill>
                      <a:srgbClr val="E9E9E7"/>
                    </a:solidFill>
                  </a:tcPr>
                </a:tc>
              </a:tr>
              <a:tr h="475488">
                <a:tc>
                  <a:txBody>
                    <a:bodyPr wrap="square"/>
                    <a:lstStyle/>
                    <a:p>
                      <a:pPr algn="l"/>
                      <a:r>
                        <a:rPr sz="1600" b="0" i="0">
                          <a:solidFill>
                            <a:srgbClr val="1B1F2A"/>
                          </a:solidFill>
                          <a:latin typeface="IBM Plex Sans"/>
                          <a:ea typeface="IBM Plex Sans"/>
                          <a:cs typeface="IBM Plex Sans"/>
                        </a:rPr>
                        <a:t>Slack</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|V|, θ = 0</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none</a:t>
                      </a:r>
                    </a:p>
                  </a:txBody>
                  <a:tcPr marL="73152" marR="73152" marT="36576" marB="36576" anchor="ctr">
                    <a:lnL w="0">
                      <a:noFill/>
                    </a:lnL>
                    <a:lnR w="0">
                      <a:noFill/>
                    </a:lnR>
                    <a:lnT w="0">
                      <a:noFill/>
                    </a:lnT>
                    <a:lnB w="12700">
                      <a:solidFill>
                        <a:srgbClr val="C8C8C6"/>
                      </a:solidFill>
                    </a:lnB>
                    <a:solidFill>
                      <a:srgbClr val="FBFBF9"/>
                    </a:solidFill>
                  </a:tcPr>
                </a:tc>
              </a:tr>
              <a:tr h="475488">
                <a:tc>
                  <a:txBody>
                    <a:bodyPr wrap="square"/>
                    <a:lstStyle/>
                    <a:p>
                      <a:pPr algn="l"/>
                      <a:r>
                        <a:rPr sz="1600" b="0" i="0">
                          <a:solidFill>
                            <a:srgbClr val="1B1F2A"/>
                          </a:solidFill>
                          <a:latin typeface="IBM Plex Sans"/>
                          <a:ea typeface="IBM Plex Sans"/>
                          <a:cs typeface="IBM Plex Sans"/>
                        </a:rPr>
                        <a:t>PV (generator)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P, |V|</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θ</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ΔP</a:t>
                      </a:r>
                    </a:p>
                  </a:txBody>
                  <a:tcPr marL="73152" marR="73152" marT="36576" marB="36576" anchor="ctr">
                    <a:lnL w="0">
                      <a:noFill/>
                    </a:lnL>
                    <a:lnR w="0">
                      <a:noFill/>
                    </a:lnR>
                    <a:lnT w="0">
                      <a:noFill/>
                    </a:lnT>
                    <a:lnB w="12700">
                      <a:solidFill>
                        <a:srgbClr val="C8C8C6"/>
                      </a:solidFill>
                    </a:lnB>
                    <a:solidFill>
                      <a:srgbClr val="FBFBF9"/>
                    </a:solidFill>
                  </a:tcPr>
                </a:tc>
              </a:tr>
              <a:tr h="475488">
                <a:tc>
                  <a:txBody>
                    <a:bodyPr wrap="square"/>
                    <a:lstStyle/>
                    <a:p>
                      <a:pPr algn="l"/>
                      <a:r>
                        <a:rPr sz="1600" b="0" i="0">
                          <a:solidFill>
                            <a:srgbClr val="1B1F2A"/>
                          </a:solidFill>
                          <a:latin typeface="IBM Plex Sans"/>
                          <a:ea typeface="IBM Plex Sans"/>
                          <a:cs typeface="IBM Plex Sans"/>
                        </a:rPr>
                        <a:t>PQ (load)</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P, Q</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θ, |V|</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l"/>
                      <a:r>
                        <a:rPr sz="1600" b="0" i="0">
                          <a:solidFill>
                            <a:srgbClr val="1B1F2A"/>
                          </a:solidFill>
                          <a:latin typeface="IBM Plex Sans"/>
                          <a:ea typeface="IBM Plex Sans"/>
                          <a:cs typeface="IBM Plex Sans"/>
                        </a:rPr>
                        <a:t>ΔP and ΔQ</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pic>
        <p:nvPicPr>
          <p:cNvPr id="7" name="Picture 6" descr="j_n.png"/>
          <p:cNvPicPr>
            <a:picLocks noChangeAspect="1"/>
          </p:cNvPicPr>
          <p:nvPr/>
        </p:nvPicPr>
        <p:blipFill>
          <a:blip r:embed="rId3"/>
          <a:stretch>
            <a:fillRect/>
          </a:stretch>
        </p:blipFill>
        <p:spPr>
          <a:xfrm>
            <a:off x="813816" y="3840480"/>
            <a:ext cx="2663952" cy="469392"/>
          </a:xfrm>
          <a:prstGeom prst="rect">
            <a:avLst/>
          </a:prstGeom>
        </p:spPr>
      </p:pic>
      <p:sp>
        <p:nvSpPr>
          <p:cNvPr id="8" name="TextBox 7"/>
          <p:cNvSpPr txBox="1"/>
          <p:nvPr/>
        </p:nvSpPr>
        <p:spPr>
          <a:xfrm>
            <a:off x="4754880" y="3977639"/>
            <a:ext cx="6400800" cy="1097280"/>
          </a:xfrm>
          <a:prstGeom prst="rect">
            <a:avLst/>
          </a:prstGeom>
          <a:noFill/>
        </p:spPr>
        <p:txBody>
          <a:bodyPr wrap="square" lIns="0" rIns="0" tIns="0" bIns="0" anchor="t">
            <a:spAutoFit/>
          </a:bodyPr>
          <a:lstStyle/>
          <a:p>
            <a:pPr algn="l">
              <a:spcAft>
                <a:spcPts val="800"/>
              </a:spcAft>
            </a:pPr>
            <a:r>
              <a:rPr sz="1700" b="0" i="0">
                <a:solidFill>
                  <a:srgbClr val="333A48"/>
                </a:solidFill>
                <a:latin typeface="IBM Plex Sans"/>
                <a:ea typeface="IBM Plex Sans"/>
                <a:cs typeface="IBM Plex Sans"/>
              </a:rPr>
              <a:t>a square system: n equations in n unknowns, as Newton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Checking the model against the paper</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5</a:t>
            </a:r>
          </a:p>
        </p:txBody>
      </p:sp>
      <p:sp>
        <p:nvSpPr>
          <p:cNvPr id="6" name="TextBox 5"/>
          <p:cNvSpPr txBox="1"/>
          <p:nvPr/>
        </p:nvSpPr>
        <p:spPr>
          <a:xfrm>
            <a:off x="813816" y="1463040"/>
            <a:ext cx="5029200" cy="457200"/>
          </a:xfrm>
          <a:prstGeom prst="rect">
            <a:avLst/>
          </a:prstGeom>
          <a:noFill/>
        </p:spPr>
        <p:txBody>
          <a:bodyPr wrap="square" lIns="0" rIns="0" tIns="0" bIns="0" anchor="t">
            <a:spAutoFit/>
          </a:bodyPr>
          <a:lstStyle/>
          <a:p>
            <a:pPr algn="l">
              <a:spcAft>
                <a:spcPts val="800"/>
              </a:spcAft>
            </a:pPr>
            <a:r>
              <a:rPr sz="1700" b="1" i="0">
                <a:solidFill>
                  <a:srgbClr val="1F3A5F"/>
                </a:solidFill>
                <a:latin typeface="IBM Plex Sans"/>
                <a:ea typeface="IBM Plex Sans"/>
                <a:cs typeface="IBM Plex Sans"/>
              </a:rPr>
              <a:t>Flat-start mismatch ‖g(x₀)‖∞</a:t>
            </a:r>
          </a:p>
        </p:txBody>
      </p:sp>
      <p:graphicFrame>
        <p:nvGraphicFramePr>
          <p:cNvPr id="7" name="Table 6"/>
          <p:cNvGraphicFramePr>
            <a:graphicFrameLocks noGrp="1"/>
          </p:cNvGraphicFramePr>
          <p:nvPr/>
        </p:nvGraphicFramePr>
        <p:xfrm>
          <a:off x="813816" y="1965960"/>
          <a:ext cx="4754880" cy="2414016"/>
        </p:xfrm>
        <a:graphic>
          <a:graphicData uri="http://schemas.openxmlformats.org/drawingml/2006/table">
            <a:tbl>
              <a:tblPr firstRow="0" bandRow="0">
                <a:tableStyleId>{2D5ABB26-0587-4C30-8999-92F81FD0307C}</a:tableStyleId>
              </a:tblPr>
              <a:tblGrid>
                <a:gridCol w="2377440"/>
                <a:gridCol w="1188720"/>
                <a:gridCol w="1188720"/>
              </a:tblGrid>
              <a:tr h="402336">
                <a:tc>
                  <a:txBody>
                    <a:bodyPr wrap="square"/>
                    <a:lstStyle/>
                    <a:p>
                      <a:pPr algn="l"/>
                      <a:r>
                        <a:rPr sz="1500" b="1" i="0">
                          <a:solidFill>
                            <a:srgbClr val="1B1F2A"/>
                          </a:solidFill>
                          <a:latin typeface="IBM Plex Sans"/>
                          <a:ea typeface="IBM Plex Sans"/>
                          <a:cs typeface="IBM Plex Sans"/>
                        </a:rPr>
                        <a:t>Grid</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Ours</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Paper</a:t>
                      </a:r>
                    </a:p>
                  </a:txBody>
                  <a:tcPr marL="73152" marR="73152" marT="36576" marB="36576" anchor="ctr">
                    <a:lnL w="0">
                      <a:noFill/>
                    </a:lnL>
                    <a:lnR w="0">
                      <a:noFill/>
                    </a:lnR>
                    <a:lnT w="0">
                      <a:noFill/>
                    </a:lnT>
                    <a:lnB w="12700">
                      <a:solidFill>
                        <a:srgbClr val="C8C8C6"/>
                      </a:solidFill>
                    </a:lnB>
                    <a:solidFill>
                      <a:srgbClr val="E9E9E7"/>
                    </a:solidFill>
                  </a:tcPr>
                </a:tc>
              </a:tr>
              <a:tr h="402336">
                <a:tc>
                  <a:txBody>
                    <a:bodyPr wrap="square"/>
                    <a:lstStyle/>
                    <a:p>
                      <a:pPr algn="l"/>
                      <a:r>
                        <a:rPr sz="1500" b="0" i="0">
                          <a:solidFill>
                            <a:srgbClr val="1B1F2A"/>
                          </a:solidFill>
                          <a:latin typeface="IBM Plex Sans"/>
                          <a:ea typeface="IBM Plex Sans"/>
                          <a:cs typeface="IBM Plex Sans"/>
                        </a:rPr>
                        <a:t>case18482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533</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532</a:t>
                      </a:r>
                    </a:p>
                  </a:txBody>
                  <a:tcPr marL="73152" marR="73152" marT="36576" marB="36576" anchor="ctr">
                    <a:lnL w="0">
                      <a:noFill/>
                    </a:lnL>
                    <a:lnR w="0">
                      <a:noFill/>
                    </a:lnR>
                    <a:lnT w="0">
                      <a:noFill/>
                    </a:lnT>
                    <a:lnB w="12700">
                      <a:solidFill>
                        <a:srgbClr val="C8C8C6"/>
                      </a:solidFill>
                    </a:lnB>
                    <a:solidFill>
                      <a:srgbClr val="FBFBF9"/>
                    </a:solidFill>
                  </a:tcPr>
                </a:tc>
              </a:tr>
              <a:tr h="402336">
                <a:tc>
                  <a:txBody>
                    <a:bodyPr wrap="square"/>
                    <a:lstStyle/>
                    <a:p>
                      <a:pPr algn="l"/>
                      <a:r>
                        <a:rPr sz="1500" b="0" i="0">
                          <a:solidFill>
                            <a:srgbClr val="1B1F2A"/>
                          </a:solidFill>
                          <a:latin typeface="IBM Plex Sans"/>
                          <a:ea typeface="IBM Plex Sans"/>
                          <a:cs typeface="IBM Plex Sans"/>
                        </a:rPr>
                        <a:t>case27318</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201</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200</a:t>
                      </a:r>
                    </a:p>
                  </a:txBody>
                  <a:tcPr marL="73152" marR="73152" marT="36576" marB="36576" anchor="ctr">
                    <a:lnL w="0">
                      <a:noFill/>
                    </a:lnL>
                    <a:lnR w="0">
                      <a:noFill/>
                    </a:lnR>
                    <a:lnT w="0">
                      <a:noFill/>
                    </a:lnT>
                    <a:lnB w="12700">
                      <a:solidFill>
                        <a:srgbClr val="C8C8C6"/>
                      </a:solidFill>
                    </a:lnB>
                    <a:solidFill>
                      <a:srgbClr val="FBFBF9"/>
                    </a:solidFill>
                  </a:tcPr>
                </a:tc>
              </a:tr>
              <a:tr h="402336">
                <a:tc>
                  <a:txBody>
                    <a:bodyPr wrap="square"/>
                    <a:lstStyle/>
                    <a:p>
                      <a:pPr algn="l"/>
                      <a:r>
                        <a:rPr sz="1500" b="0" i="0">
                          <a:solidFill>
                            <a:srgbClr val="1B1F2A"/>
                          </a:solidFill>
                          <a:latin typeface="IBM Plex Sans"/>
                          <a:ea typeface="IBM Plex Sans"/>
                          <a:cs typeface="IBM Plex Sans"/>
                        </a:rPr>
                        <a:t>case500limit</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13</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13</a:t>
                      </a:r>
                    </a:p>
                  </a:txBody>
                  <a:tcPr marL="73152" marR="73152" marT="36576" marB="36576" anchor="ctr">
                    <a:lnL w="0">
                      <a:noFill/>
                    </a:lnL>
                    <a:lnR w="0">
                      <a:noFill/>
                    </a:lnR>
                    <a:lnT w="0">
                      <a:noFill/>
                    </a:lnT>
                    <a:lnB w="12700">
                      <a:solidFill>
                        <a:srgbClr val="C8C8C6"/>
                      </a:solidFill>
                    </a:lnB>
                    <a:solidFill>
                      <a:srgbClr val="FBFBF9"/>
                    </a:solidFill>
                  </a:tcPr>
                </a:tc>
              </a:tr>
              <a:tr h="402336">
                <a:tc>
                  <a:txBody>
                    <a:bodyPr wrap="square"/>
                    <a:lstStyle/>
                    <a:p>
                      <a:pPr algn="l"/>
                      <a:r>
                        <a:rPr sz="1500" b="0" i="0">
                          <a:solidFill>
                            <a:srgbClr val="1B1F2A"/>
                          </a:solidFill>
                          <a:latin typeface="IBM Plex Sans"/>
                          <a:ea typeface="IBM Plex Sans"/>
                          <a:cs typeface="IBM Plex Sans"/>
                        </a:rPr>
                        <a:t>case2000limit</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55</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54</a:t>
                      </a:r>
                    </a:p>
                  </a:txBody>
                  <a:tcPr marL="73152" marR="73152" marT="36576" marB="36576" anchor="ctr">
                    <a:lnL w="0">
                      <a:noFill/>
                    </a:lnL>
                    <a:lnR w="0">
                      <a:noFill/>
                    </a:lnR>
                    <a:lnT w="0">
                      <a:noFill/>
                    </a:lnT>
                    <a:lnB w="12700">
                      <a:solidFill>
                        <a:srgbClr val="C8C8C6"/>
                      </a:solidFill>
                    </a:lnB>
                    <a:solidFill>
                      <a:srgbClr val="FBFBF9"/>
                    </a:solidFill>
                  </a:tcPr>
                </a:tc>
              </a:tr>
              <a:tr h="402336">
                <a:tc>
                  <a:txBody>
                    <a:bodyPr wrap="square"/>
                    <a:lstStyle/>
                    <a:p>
                      <a:pPr algn="l"/>
                      <a:r>
                        <a:rPr sz="1500" b="0" i="0">
                          <a:solidFill>
                            <a:srgbClr val="1B1F2A"/>
                          </a:solidFill>
                          <a:latin typeface="IBM Plex Sans"/>
                          <a:ea typeface="IBM Plex Sans"/>
                          <a:cs typeface="IBM Plex Sans"/>
                        </a:rPr>
                        <a:t>case69limit</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0.012</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0.012</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8" name="Rounded Rectangle 7"/>
          <p:cNvSpPr/>
          <p:nvPr/>
        </p:nvSpPr>
        <p:spPr>
          <a:xfrm>
            <a:off x="6400800" y="1920240"/>
            <a:ext cx="4937760" cy="2377440"/>
          </a:xfrm>
          <a:prstGeom prst="roundRect">
            <a:avLst>
              <a:gd name="adj" fmla="val 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103120"/>
            <a:ext cx="4480560" cy="2103120"/>
          </a:xfrm>
          <a:prstGeom prst="rect">
            <a:avLst/>
          </a:prstGeom>
          <a:noFill/>
        </p:spPr>
        <p:txBody>
          <a:bodyPr wrap="square" lIns="0" rIns="0" tIns="0" bIns="0" anchor="t">
            <a:spAutoFit/>
          </a:bodyPr>
          <a:lstStyle/>
          <a:p>
            <a:pPr algn="l">
              <a:spcAft>
                <a:spcPts val="400"/>
              </a:spcAft>
            </a:pPr>
            <a:r>
              <a:rPr sz="1800" b="1" i="0">
                <a:solidFill>
                  <a:srgbClr val="1F3A5F"/>
                </a:solidFill>
                <a:latin typeface="IBM Plex Sans"/>
                <a:ea typeface="IBM Plex Sans"/>
                <a:cs typeface="IBM Plex Sans"/>
              </a:rPr>
              <a:t>Finding</a:t>
            </a:r>
          </a:p>
          <a:p>
            <a:pPr algn="l">
              <a:spcAft>
                <a:spcPts val="400"/>
              </a:spcAft>
            </a:pPr>
            <a:r>
              <a:rPr sz="1500" b="0" i="0">
                <a:solidFill>
                  <a:srgbClr val="1B1F2A"/>
                </a:solidFill>
                <a:latin typeface="IBM Plex Sans"/>
                <a:ea typeface="IBM Plex Sans"/>
                <a:cs typeface="IBM Plex Sans"/>
              </a:rPr>
              <a:t>Two small grids were off by exactly</a:t>
            </a:r>
          </a:p>
          <a:p>
            <a:pPr algn="l">
              <a:spcAft>
                <a:spcPts val="400"/>
              </a:spcAft>
            </a:pPr>
            <a:r>
              <a:rPr sz="3400" b="1" i="0">
                <a:solidFill>
                  <a:srgbClr val="1F3A5F"/>
                </a:solidFill>
                <a:latin typeface="IBM Plex Sans"/>
                <a:ea typeface="IBM Plex Sans"/>
                <a:cs typeface="IBM Plex Sans"/>
              </a:rPr>
              <a:t>10×</a:t>
            </a:r>
          </a:p>
          <a:p>
            <a:pPr algn="l">
              <a:spcAft>
                <a:spcPts val="400"/>
              </a:spcAft>
            </a:pPr>
            <a:r>
              <a:rPr sz="1500" b="0" i="0">
                <a:solidFill>
                  <a:srgbClr val="1B1F2A"/>
                </a:solidFill>
                <a:latin typeface="IBM Plex Sans"/>
                <a:ea typeface="IBM Plex Sans"/>
                <a:cs typeface="IBM Plex Sans"/>
              </a:rPr>
              <a:t>Their files store 10 MVA; the paper used 100 MVA.</a:t>
            </a:r>
          </a:p>
        </p:txBody>
      </p:sp>
      <p:sp>
        <p:nvSpPr>
          <p:cNvPr id="10" name="TextBox 9"/>
          <p:cNvSpPr txBox="1"/>
          <p:nvPr/>
        </p:nvSpPr>
        <p:spPr>
          <a:xfrm>
            <a:off x="6400800" y="4572000"/>
            <a:ext cx="4937760" cy="548640"/>
          </a:xfrm>
          <a:prstGeom prst="rect">
            <a:avLst/>
          </a:prstGeom>
          <a:noFill/>
        </p:spPr>
        <p:txBody>
          <a:bodyPr wrap="square" lIns="0" rIns="0" tIns="0" bIns="0" anchor="t">
            <a:spAutoFit/>
          </a:bodyPr>
          <a:lstStyle/>
          <a:p>
            <a:pPr algn="l">
              <a:spcAft>
                <a:spcPts val="800"/>
              </a:spcAft>
            </a:pPr>
            <a:r>
              <a:rPr sz="1400" b="0" i="0">
                <a:solidFill>
                  <a:srgbClr val="6B7280"/>
                </a:solidFill>
                <a:latin typeface="IBM Plex Sans"/>
                <a:ea typeface="IBM Plex Sans"/>
                <a:cs typeface="IBM Plex Sans"/>
              </a:rPr>
              <a:t>Jacobian: tested column by column against finite differences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The test systems</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6</a:t>
            </a:r>
          </a:p>
        </p:txBody>
      </p:sp>
      <p:pic>
        <p:nvPicPr>
          <p:cNvPr id="6" name="Picture 5" descr="systems.png"/>
          <p:cNvPicPr>
            <a:picLocks noChangeAspect="1"/>
          </p:cNvPicPr>
          <p:nvPr/>
        </p:nvPicPr>
        <p:blipFill>
          <a:blip r:embed="rId3"/>
          <a:stretch>
            <a:fillRect/>
          </a:stretch>
        </p:blipFill>
        <p:spPr>
          <a:xfrm>
            <a:off x="1083863" y="1325880"/>
            <a:ext cx="5952145" cy="4114800"/>
          </a:xfrm>
          <a:prstGeom prst="rect">
            <a:avLst/>
          </a:prstGeom>
        </p:spPr>
      </p:pic>
      <p:sp>
        <p:nvSpPr>
          <p:cNvPr id="7" name="TextBox 6"/>
          <p:cNvSpPr txBox="1"/>
          <p:nvPr/>
        </p:nvSpPr>
        <p:spPr>
          <a:xfrm>
            <a:off x="7680960" y="1645920"/>
            <a:ext cx="3657600" cy="822960"/>
          </a:xfrm>
          <a:prstGeom prst="rect">
            <a:avLst/>
          </a:prstGeom>
          <a:noFill/>
        </p:spPr>
        <p:txBody>
          <a:bodyPr wrap="square" lIns="0" rIns="0" tIns="0" bIns="0" anchor="t">
            <a:spAutoFit/>
          </a:bodyPr>
          <a:lstStyle/>
          <a:p>
            <a:pPr algn="l">
              <a:spcAft>
                <a:spcPts val="800"/>
              </a:spcAft>
            </a:pPr>
            <a:r>
              <a:rPr sz="4800" b="1" i="0">
                <a:solidFill>
                  <a:srgbClr val="1F3A5F"/>
                </a:solidFill>
                <a:latin typeface="IBM Plex Sans"/>
                <a:ea typeface="IBM Plex Sans"/>
                <a:cs typeface="IBM Plex Sans"/>
              </a:rPr>
              <a:t>34 grids</a:t>
            </a:r>
          </a:p>
        </p:txBody>
      </p:sp>
      <p:sp>
        <p:nvSpPr>
          <p:cNvPr id="8" name="TextBox 7"/>
          <p:cNvSpPr txBox="1"/>
          <p:nvPr/>
        </p:nvSpPr>
        <p:spPr>
          <a:xfrm>
            <a:off x="7680960" y="2514600"/>
            <a:ext cx="365760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the paper's 9 plus 25 more from the same Zenodo records</a:t>
            </a:r>
          </a:p>
        </p:txBody>
      </p:sp>
      <p:sp>
        <p:nvSpPr>
          <p:cNvPr id="9" name="TextBox 8"/>
          <p:cNvSpPr txBox="1"/>
          <p:nvPr/>
        </p:nvSpPr>
        <p:spPr>
          <a:xfrm>
            <a:off x="7680960" y="3291840"/>
            <a:ext cx="3657600" cy="822960"/>
          </a:xfrm>
          <a:prstGeom prst="rect">
            <a:avLst/>
          </a:prstGeom>
          <a:noFill/>
        </p:spPr>
        <p:txBody>
          <a:bodyPr wrap="square" lIns="0" rIns="0" tIns="0" bIns="0" anchor="t">
            <a:spAutoFit/>
          </a:bodyPr>
          <a:lstStyle/>
          <a:p>
            <a:pPr algn="l">
              <a:spcAft>
                <a:spcPts val="800"/>
              </a:spcAft>
            </a:pPr>
            <a:r>
              <a:rPr sz="3600" b="1" i="0">
                <a:solidFill>
                  <a:srgbClr val="1F3A5F"/>
                </a:solidFill>
                <a:latin typeface="IBM Plex Sans"/>
                <a:ea typeface="IBM Plex Sans"/>
                <a:cs typeface="IBM Plex Sans"/>
              </a:rPr>
              <a:t>14 – 109,272</a:t>
            </a:r>
          </a:p>
        </p:txBody>
      </p:sp>
      <p:sp>
        <p:nvSpPr>
          <p:cNvPr id="10" name="TextBox 9"/>
          <p:cNvSpPr txBox="1"/>
          <p:nvPr/>
        </p:nvSpPr>
        <p:spPr>
          <a:xfrm>
            <a:off x="7680960" y="4160520"/>
            <a:ext cx="365760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buses: four orders of magnitude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Converged is not the same as correct</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7</a:t>
            </a:r>
          </a:p>
        </p:txBody>
      </p:sp>
      <p:sp>
        <p:nvSpPr>
          <p:cNvPr id="6" name="TextBox 5"/>
          <p:cNvSpPr txBox="1"/>
          <p:nvPr/>
        </p:nvSpPr>
        <p:spPr>
          <a:xfrm>
            <a:off x="813816" y="1463040"/>
            <a:ext cx="10561320" cy="457200"/>
          </a:xfrm>
          <a:prstGeom prst="rect">
            <a:avLst/>
          </a:prstGeom>
          <a:noFill/>
        </p:spPr>
        <p:txBody>
          <a:bodyPr wrap="square" lIns="0" rIns="0" tIns="0" bIns="0" anchor="t">
            <a:spAutoFit/>
          </a:bodyPr>
          <a:lstStyle/>
          <a:p>
            <a:pPr algn="l">
              <a:spcAft>
                <a:spcPts val="800"/>
              </a:spcAft>
            </a:pPr>
            <a:r>
              <a:rPr sz="1700" b="0" i="0">
                <a:solidFill>
                  <a:srgbClr val="333A48"/>
                </a:solidFill>
                <a:latin typeface="IBM Plex Sans"/>
                <a:ea typeface="IBM Plex Sans"/>
                <a:cs typeface="IBM Plex Sans"/>
              </a:rPr>
              <a:t>Power flow equations have several roots. A run counts as correct only if</a:t>
            </a:r>
          </a:p>
        </p:txBody>
      </p:sp>
      <p:pic>
        <p:nvPicPr>
          <p:cNvPr id="7" name="Picture 6" descr="j_ref.png"/>
          <p:cNvPicPr>
            <a:picLocks noChangeAspect="1"/>
          </p:cNvPicPr>
          <p:nvPr/>
        </p:nvPicPr>
        <p:blipFill>
          <a:blip r:embed="rId3"/>
          <a:stretch>
            <a:fillRect/>
          </a:stretch>
        </p:blipFill>
        <p:spPr>
          <a:xfrm>
            <a:off x="813816" y="2011680"/>
            <a:ext cx="4160520" cy="673608"/>
          </a:xfrm>
          <a:prstGeom prst="rect">
            <a:avLst/>
          </a:prstGeom>
        </p:spPr>
      </p:pic>
      <p:sp>
        <p:nvSpPr>
          <p:cNvPr id="8" name="TextBox 7"/>
          <p:cNvSpPr txBox="1"/>
          <p:nvPr/>
        </p:nvSpPr>
        <p:spPr>
          <a:xfrm>
            <a:off x="813816" y="3200400"/>
            <a:ext cx="5669280" cy="1463040"/>
          </a:xfrm>
          <a:prstGeom prst="rect">
            <a:avLst/>
          </a:prstGeom>
          <a:noFill/>
        </p:spPr>
        <p:txBody>
          <a:bodyPr wrap="square" lIns="0" rIns="0" tIns="0" bIns="0" anchor="t">
            <a:spAutoFit/>
          </a:bodyPr>
          <a:lstStyle/>
          <a:p>
            <a:pPr algn="l" marL="228600" indent="-228600">
              <a:spcAft>
                <a:spcPts val="800"/>
              </a:spcAft>
              <a:buFont typeface="Arial"/>
              <a:buChar char="•"/>
            </a:pPr>
            <a:r>
              <a:rPr sz="1700" b="0" i="0">
                <a:solidFill>
                  <a:srgbClr val="1B1F2A"/>
                </a:solidFill>
                <a:latin typeface="IBM Plex Sans"/>
                <a:ea typeface="IBM Plex Sans"/>
                <a:cs typeface="IBM Plex Sans"/>
              </a:rPr>
              <a:t>V_ref: Newton from the voltages stored in the case file</a:t>
            </a:r>
          </a:p>
          <a:p>
            <a:pPr algn="l" marL="228600" indent="-228600">
              <a:spcAft>
                <a:spcPts val="800"/>
              </a:spcAft>
              <a:buFont typeface="Arial"/>
              <a:buChar char="•"/>
            </a:pPr>
            <a:r>
              <a:rPr sz="1700" b="0" i="0">
                <a:solidFill>
                  <a:srgbClr val="1B1F2A"/>
                </a:solidFill>
                <a:latin typeface="IBM Plex Sans"/>
                <a:ea typeface="IBM Plex Sans"/>
                <a:cs typeface="IBM Plex Sans"/>
              </a:rPr>
              <a:t>all converged runs in the paper's Table 7 pass</a:t>
            </a:r>
          </a:p>
        </p:txBody>
      </p:sp>
      <p:sp>
        <p:nvSpPr>
          <p:cNvPr id="9" name="TextBox 8"/>
          <p:cNvSpPr txBox="1"/>
          <p:nvPr/>
        </p:nvSpPr>
        <p:spPr>
          <a:xfrm>
            <a:off x="7223760" y="2926080"/>
            <a:ext cx="4114800" cy="822960"/>
          </a:xfrm>
          <a:prstGeom prst="rect">
            <a:avLst/>
          </a:prstGeom>
          <a:noFill/>
        </p:spPr>
        <p:txBody>
          <a:bodyPr wrap="square" lIns="0" rIns="0" tIns="0" bIns="0" anchor="t">
            <a:spAutoFit/>
          </a:bodyPr>
          <a:lstStyle/>
          <a:p>
            <a:pPr algn="l">
              <a:spcAft>
                <a:spcPts val="800"/>
              </a:spcAft>
            </a:pPr>
            <a:r>
              <a:rPr sz="5400" b="1" i="0">
                <a:solidFill>
                  <a:srgbClr val="B54A3F"/>
                </a:solidFill>
                <a:latin typeface="IBM Plex Sans"/>
                <a:ea typeface="IBM Plex Sans"/>
                <a:cs typeface="IBM Plex Sans"/>
              </a:rPr>
              <a:t>14 of 141</a:t>
            </a:r>
          </a:p>
        </p:txBody>
      </p:sp>
      <p:sp>
        <p:nvSpPr>
          <p:cNvPr id="10" name="TextBox 9"/>
          <p:cNvSpPr txBox="1"/>
          <p:nvPr/>
        </p:nvSpPr>
        <p:spPr>
          <a:xfrm>
            <a:off x="7223760" y="3794760"/>
            <a:ext cx="4114800" cy="731520"/>
          </a:xfrm>
          <a:prstGeom prst="rect">
            <a:avLst/>
          </a:prstGeom>
          <a:noFill/>
        </p:spPr>
        <p:txBody>
          <a:bodyPr wrap="square" lIns="0" rIns="0" tIns="0" bIns="0" anchor="t">
            <a:spAutoFit/>
          </a:bodyPr>
          <a:lstStyle/>
          <a:p>
            <a:pPr algn="l">
              <a:spcAft>
                <a:spcPts val="800"/>
              </a:spcAft>
            </a:pPr>
            <a:r>
              <a:rPr sz="1500" b="0" i="0">
                <a:solidFill>
                  <a:srgbClr val="333A48"/>
                </a:solidFill>
                <a:latin typeface="IBM Plex Sans"/>
                <a:ea typeface="IBM Plex Sans"/>
                <a:cs typeface="IBM Plex Sans"/>
              </a:rPr>
              <a:t>converged runs of the paper's method reached the wrong root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The comparison study: one fair test for everyone</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8</a:t>
            </a:r>
          </a:p>
        </p:txBody>
      </p:sp>
      <p:sp>
        <p:nvSpPr>
          <p:cNvPr id="6" name="Rounded Rectangle 5"/>
          <p:cNvSpPr/>
          <p:nvPr/>
        </p:nvSpPr>
        <p:spPr>
          <a:xfrm>
            <a:off x="813816"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34 grids</a:t>
            </a:r>
          </a:p>
        </p:txBody>
      </p:sp>
      <p:sp>
        <p:nvSpPr>
          <p:cNvPr id="7" name="Right Arrow 6"/>
          <p:cNvSpPr/>
          <p:nvPr/>
        </p:nvSpPr>
        <p:spPr>
          <a:xfrm>
            <a:off x="2660904"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80944"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 5 settings of (Δt₀, K)</a:t>
            </a:r>
          </a:p>
        </p:txBody>
      </p:sp>
      <p:sp>
        <p:nvSpPr>
          <p:cNvPr id="9" name="Right Arrow 8"/>
          <p:cNvSpPr/>
          <p:nvPr/>
        </p:nvSpPr>
        <p:spPr>
          <a:xfrm>
            <a:off x="4828032"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48072"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 170 runs</a:t>
            </a:r>
          </a:p>
        </p:txBody>
      </p:sp>
      <p:sp>
        <p:nvSpPr>
          <p:cNvPr id="11" name="Right Arrow 10"/>
          <p:cNvSpPr/>
          <p:nvPr/>
        </p:nvSpPr>
        <p:spPr>
          <a:xfrm>
            <a:off x="6995160"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0" y="1554480"/>
            <a:ext cx="1783080" cy="731520"/>
          </a:xfrm>
          <a:prstGeom prst="roundRect">
            <a:avLst>
              <a:gd name="adj" fmla="val 18000"/>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1F3A5F"/>
                </a:solidFill>
                <a:latin typeface="IBM Plex Sans"/>
                <a:ea typeface="IBM Plex Sans"/>
                <a:cs typeface="IBM Plex Sans"/>
              </a:rPr>
              <a:t>× 17 configurations</a:t>
            </a:r>
          </a:p>
        </p:txBody>
      </p:sp>
      <p:sp>
        <p:nvSpPr>
          <p:cNvPr id="13" name="Right Arrow 12"/>
          <p:cNvSpPr/>
          <p:nvPr/>
        </p:nvSpPr>
        <p:spPr>
          <a:xfrm>
            <a:off x="9162288" y="1783080"/>
            <a:ext cx="256031" cy="274320"/>
          </a:xfrm>
          <a:prstGeom prst="rightArrow">
            <a:avLst/>
          </a:prstGeom>
          <a:solidFill>
            <a:srgbClr val="A8B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82328" y="1554480"/>
            <a:ext cx="1783080" cy="731520"/>
          </a:xfrm>
          <a:prstGeom prst="roundRect">
            <a:avLst>
              <a:gd name="adj" fmla="val 18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i="0">
                <a:solidFill>
                  <a:srgbClr val="FFFFFF"/>
                </a:solidFill>
                <a:latin typeface="IBM Plex Sans"/>
                <a:ea typeface="IBM Plex Sans"/>
                <a:cs typeface="IBM Plex Sans"/>
              </a:rPr>
              <a:t>2,890 runs</a:t>
            </a:r>
          </a:p>
        </p:txBody>
      </p:sp>
      <p:graphicFrame>
        <p:nvGraphicFramePr>
          <p:cNvPr id="15" name="Table 14"/>
          <p:cNvGraphicFramePr>
            <a:graphicFrameLocks noGrp="1"/>
          </p:cNvGraphicFramePr>
          <p:nvPr/>
        </p:nvGraphicFramePr>
        <p:xfrm>
          <a:off x="813816" y="2743200"/>
          <a:ext cx="5852160" cy="1645920"/>
        </p:xfrm>
        <a:graphic>
          <a:graphicData uri="http://schemas.openxmlformats.org/drawingml/2006/table">
            <a:tbl>
              <a:tblPr firstRow="0" bandRow="0">
                <a:tableStyleId>{2D5ABB26-0587-4C30-8999-92F81FD0307C}</a:tableStyleId>
              </a:tblPr>
              <a:tblGrid>
                <a:gridCol w="2743200"/>
                <a:gridCol w="1463040"/>
                <a:gridCol w="1645920"/>
              </a:tblGrid>
              <a:tr h="411480">
                <a:tc>
                  <a:txBody>
                    <a:bodyPr wrap="square"/>
                    <a:lstStyle/>
                    <a:p>
                      <a:pPr algn="l"/>
                      <a:r>
                        <a:rPr sz="1500" b="1" i="0">
                          <a:solidFill>
                            <a:srgbClr val="1B1F2A"/>
                          </a:solidFill>
                          <a:latin typeface="IBM Plex Sans"/>
                          <a:ea typeface="IBM Plex Sans"/>
                          <a:cs typeface="IBM Plex Sans"/>
                        </a:rPr>
                        <a:t>Setting</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Δt₀</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500" b="1" i="0">
                          <a:solidFill>
                            <a:srgbClr val="1B1F2A"/>
                          </a:solidFill>
                          <a:latin typeface="IBM Plex Sans"/>
                          <a:ea typeface="IBM Plex Sans"/>
                          <a:cs typeface="IBM Plex Sans"/>
                        </a:rPr>
                        <a:t>K</a:t>
                      </a:r>
                    </a:p>
                  </a:txBody>
                  <a:tcPr marL="73152" marR="73152" marT="36576" marB="36576" anchor="ctr">
                    <a:lnL w="0">
                      <a:noFill/>
                    </a:lnL>
                    <a:lnR w="0">
                      <a:noFill/>
                    </a:lnR>
                    <a:lnT w="0">
                      <a:noFill/>
                    </a:lnT>
                    <a:lnB w="12700">
                      <a:solidFill>
                        <a:srgbClr val="C8C8C6"/>
                      </a:solidFill>
                    </a:lnB>
                    <a:solidFill>
                      <a:srgbClr val="E9E9E7"/>
                    </a:solidFill>
                  </a:tcPr>
                </a:tc>
              </a:tr>
              <a:tr h="411480">
                <a:tc>
                  <a:txBody>
                    <a:bodyPr wrap="square"/>
                    <a:lstStyle/>
                    <a:p>
                      <a:pPr algn="l"/>
                      <a:r>
                        <a:rPr sz="1500" b="0" i="0">
                          <a:solidFill>
                            <a:srgbClr val="1B1F2A"/>
                          </a:solidFill>
                          <a:latin typeface="IBM Plex Sans"/>
                          <a:ea typeface="IBM Plex Sans"/>
                          <a:cs typeface="IBM Plex Sans"/>
                        </a:rPr>
                        <a:t>S1 (paper)</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0.005</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10⁻⁴</a:t>
                      </a:r>
                    </a:p>
                  </a:txBody>
                  <a:tcPr marL="73152" marR="73152" marT="36576" marB="36576" anchor="ctr">
                    <a:lnL w="0">
                      <a:noFill/>
                    </a:lnL>
                    <a:lnR w="0">
                      <a:noFill/>
                    </a:lnR>
                    <a:lnT w="0">
                      <a:noFill/>
                    </a:lnT>
                    <a:lnB w="12700">
                      <a:solidFill>
                        <a:srgbClr val="C8C8C6"/>
                      </a:solidFill>
                    </a:lnB>
                    <a:solidFill>
                      <a:srgbClr val="FBFBF9"/>
                    </a:solidFill>
                  </a:tcPr>
                </a:tc>
              </a:tr>
              <a:tr h="411480">
                <a:tc>
                  <a:txBody>
                    <a:bodyPr wrap="square"/>
                    <a:lstStyle/>
                    <a:p>
                      <a:pPr algn="l"/>
                      <a:r>
                        <a:rPr sz="1500" b="0" i="0">
                          <a:solidFill>
                            <a:srgbClr val="1B1F2A"/>
                          </a:solidFill>
                          <a:latin typeface="IBM Plex Sans"/>
                          <a:ea typeface="IBM Plex Sans"/>
                          <a:cs typeface="IBM Plex Sans"/>
                        </a:rPr>
                        <a:t>S2, S3 (paper, Sec. 4.4)</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0.05, 0.1</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10⁻³, 2×10⁻³</a:t>
                      </a:r>
                    </a:p>
                  </a:txBody>
                  <a:tcPr marL="73152" marR="73152" marT="36576" marB="36576" anchor="ctr">
                    <a:lnL w="0">
                      <a:noFill/>
                    </a:lnL>
                    <a:lnR w="0">
                      <a:noFill/>
                    </a:lnR>
                    <a:lnT w="0">
                      <a:noFill/>
                    </a:lnT>
                    <a:lnB w="12700">
                      <a:solidFill>
                        <a:srgbClr val="C8C8C6"/>
                      </a:solidFill>
                    </a:lnB>
                    <a:solidFill>
                      <a:srgbClr val="FBFBF9"/>
                    </a:solidFill>
                  </a:tcPr>
                </a:tc>
              </a:tr>
              <a:tr h="411480">
                <a:tc>
                  <a:txBody>
                    <a:bodyPr wrap="square"/>
                    <a:lstStyle/>
                    <a:p>
                      <a:pPr algn="l"/>
                      <a:r>
                        <a:rPr sz="1500" b="0" i="0">
                          <a:solidFill>
                            <a:srgbClr val="1B1F2A"/>
                          </a:solidFill>
                          <a:latin typeface="IBM Plex Sans"/>
                          <a:ea typeface="IBM Plex Sans"/>
                          <a:cs typeface="IBM Plex Sans"/>
                        </a:rPr>
                        <a:t>S4, S5 (weak, strong K)</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0.005</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500" b="0" i="0">
                          <a:solidFill>
                            <a:srgbClr val="1B1F2A"/>
                          </a:solidFill>
                          <a:latin typeface="IBM Plex Sans"/>
                          <a:ea typeface="IBM Plex Sans"/>
                          <a:cs typeface="IBM Plex Sans"/>
                        </a:rPr>
                        <a:t>10⁻⁵, 10⁻³</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16" name="TextBox 15"/>
          <p:cNvSpPr txBox="1"/>
          <p:nvPr/>
        </p:nvSpPr>
        <p:spPr>
          <a:xfrm>
            <a:off x="7406640" y="2788920"/>
            <a:ext cx="3931920" cy="2286000"/>
          </a:xfrm>
          <a:prstGeom prst="rect">
            <a:avLst/>
          </a:prstGeom>
          <a:noFill/>
        </p:spPr>
        <p:txBody>
          <a:bodyPr wrap="square" lIns="0" rIns="0" tIns="0" bIns="0" anchor="t">
            <a:spAutoFit/>
          </a:bodyPr>
          <a:lstStyle/>
          <a:p>
            <a:pPr algn="l">
              <a:spcAft>
                <a:spcPts val="200"/>
              </a:spcAft>
            </a:pPr>
            <a:r>
              <a:rPr sz="1600" b="1" i="0">
                <a:solidFill>
                  <a:srgbClr val="1F3A5F"/>
                </a:solidFill>
                <a:latin typeface="IBM Plex Sans"/>
                <a:ea typeface="IBM Plex Sans"/>
                <a:cs typeface="IBM Plex Sans"/>
              </a:rPr>
              <a:t>Solved</a:t>
            </a:r>
          </a:p>
          <a:p>
            <a:pPr algn="l">
              <a:spcAft>
                <a:spcPts val="200"/>
              </a:spcAft>
            </a:pPr>
            <a:r>
              <a:rPr sz="1600" b="0" i="0">
                <a:solidFill>
                  <a:srgbClr val="1B1F2A"/>
                </a:solidFill>
                <a:latin typeface="IBM Plex Sans"/>
                <a:ea typeface="IBM Plex Sans"/>
                <a:cs typeface="IBM Plex Sans"/>
              </a:rPr>
              <a:t>Newton converges in ≤ 10 iterations and reaches the reference root</a:t>
            </a:r>
          </a:p>
          <a:p>
            <a:pPr algn="l">
              <a:spcAft>
                <a:spcPts val="200"/>
              </a:spcAft>
            </a:pPr>
            <a:r>
              <a:rPr sz="1600" b="0" i="0">
                <a:solidFill>
                  <a:srgbClr val="1B1F2A"/>
                </a:solidFill>
                <a:latin typeface="IBM Plex Sans"/>
                <a:ea typeface="IBM Plex Sans"/>
                <a:cs typeface="IBM Plex Sans"/>
              </a:rPr>
              <a:t/>
            </a:r>
          </a:p>
          <a:p>
            <a:pPr algn="l">
              <a:spcAft>
                <a:spcPts val="200"/>
              </a:spcAft>
            </a:pPr>
            <a:r>
              <a:rPr sz="1600" b="1" i="0">
                <a:solidFill>
                  <a:srgbClr val="1F3A5F"/>
                </a:solidFill>
                <a:latin typeface="IBM Plex Sans"/>
                <a:ea typeface="IBM Plex Sans"/>
                <a:cs typeface="IBM Plex Sans"/>
              </a:rPr>
              <a:t>Cost</a:t>
            </a:r>
          </a:p>
          <a:p>
            <a:pPr algn="l">
              <a:spcAft>
                <a:spcPts val="200"/>
              </a:spcAft>
            </a:pPr>
            <a:r>
              <a:rPr sz="1600" b="0" i="0">
                <a:solidFill>
                  <a:srgbClr val="1B1F2A"/>
                </a:solidFill>
                <a:latin typeface="IBM Plex Sans"/>
                <a:ea typeface="IBM Plex Sans"/>
                <a:cs typeface="IBM Plex Sans"/>
              </a:rPr>
              <a:t>number of LU factorizations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Results of the study</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9</a:t>
            </a:r>
          </a:p>
        </p:txBody>
      </p:sp>
      <p:graphicFrame>
        <p:nvGraphicFramePr>
          <p:cNvPr id="6" name="Chart 5"/>
          <p:cNvGraphicFramePr>
            <a:graphicFrameLocks noGrp="1"/>
          </p:cNvGraphicFramePr>
          <p:nvPr/>
        </p:nvGraphicFramePr>
        <p:xfrm>
          <a:off x="813816" y="1508760"/>
          <a:ext cx="7132320" cy="3931920"/>
        </p:xfrm>
        <a:graphic>
          <a:graphicData uri="http://schemas.openxmlformats.org/drawingml/2006/chart">
            <c:chart xmlns:c="http://schemas.openxmlformats.org/drawingml/2006/chart" r:id="rId3"/>
          </a:graphicData>
        </a:graphic>
      </p:graphicFrame>
      <p:sp>
        <p:nvSpPr>
          <p:cNvPr id="7" name="TextBox 6"/>
          <p:cNvSpPr txBox="1"/>
          <p:nvPr/>
        </p:nvSpPr>
        <p:spPr>
          <a:xfrm>
            <a:off x="8321040" y="1828800"/>
            <a:ext cx="3108960" cy="3474720"/>
          </a:xfrm>
          <a:prstGeom prst="rect">
            <a:avLst/>
          </a:prstGeom>
          <a:noFill/>
        </p:spPr>
        <p:txBody>
          <a:bodyPr wrap="square" lIns="0" rIns="0" tIns="0" bIns="0" anchor="t">
            <a:spAutoFit/>
          </a:bodyPr>
          <a:lstStyle/>
          <a:p>
            <a:pPr algn="l">
              <a:spcAft>
                <a:spcPts val="200"/>
              </a:spcAft>
            </a:pPr>
            <a:r>
              <a:rPr sz="1600" b="1" i="0">
                <a:solidFill>
                  <a:srgbClr val="1F3A5F"/>
                </a:solidFill>
                <a:latin typeface="IBM Plex Sans"/>
                <a:ea typeface="IBM Plex Sans"/>
                <a:cs typeface="IBM Plex Sans"/>
              </a:rPr>
              <a:t>Runs solved of 170</a:t>
            </a:r>
          </a:p>
          <a:p>
            <a:pPr algn="l">
              <a:spcAft>
                <a:spcPts val="200"/>
              </a:spcAft>
            </a:pPr>
            <a:r>
              <a:rPr sz="1600" b="0" i="0">
                <a:solidFill>
                  <a:srgbClr val="1B1F2A"/>
                </a:solidFill>
                <a:latin typeface="IBM Plex Sans"/>
                <a:ea typeface="IBM Plex Sans"/>
                <a:cs typeface="IBM Plex Sans"/>
              </a:rPr>
              <a:t/>
            </a:r>
          </a:p>
          <a:p>
            <a:pPr algn="l">
              <a:spcAft>
                <a:spcPts val="200"/>
              </a:spcAft>
            </a:pPr>
            <a:r>
              <a:rPr sz="1600" b="0" i="0">
                <a:solidFill>
                  <a:srgbClr val="1B1F2A"/>
                </a:solidFill>
                <a:latin typeface="IBM Plex Sans"/>
                <a:ea typeface="IBM Plex Sans"/>
                <a:cs typeface="IBM Plex Sans"/>
              </a:rPr>
              <a:t>three changes clearly help</a:t>
            </a:r>
          </a:p>
          <a:p>
            <a:pPr algn="l">
              <a:spcAft>
                <a:spcPts val="200"/>
              </a:spcAft>
            </a:pPr>
            <a:r>
              <a:rPr sz="1600" b="0" i="0">
                <a:solidFill>
                  <a:srgbClr val="1B1F2A"/>
                </a:solidFill>
                <a:latin typeface="IBM Plex Sans"/>
                <a:ea typeface="IBM Plex Sans"/>
                <a:cs typeface="IBM Plex Sans"/>
              </a:rPr>
              <a:t/>
            </a:r>
          </a:p>
          <a:p>
            <a:pPr algn="l">
              <a:spcAft>
                <a:spcPts val="200"/>
              </a:spcAft>
            </a:pPr>
            <a:r>
              <a:rPr sz="1600" b="0" i="0">
                <a:solidFill>
                  <a:srgbClr val="1B1F2A"/>
                </a:solidFill>
                <a:latin typeface="IBM Plex Sans"/>
                <a:ea typeface="IBM Plex Sans"/>
                <a:cs typeface="IBM Plex Sans"/>
              </a:rPr>
              <a:t>corrector: wrong roots 14 → 2</a:t>
            </a:r>
          </a:p>
          <a:p>
            <a:pPr algn="l">
              <a:spcAft>
                <a:spcPts val="200"/>
              </a:spcAft>
            </a:pPr>
            <a:r>
              <a:rPr sz="1600" b="0" i="0">
                <a:solidFill>
                  <a:srgbClr val="1B1F2A"/>
                </a:solidFill>
                <a:latin typeface="IBM Plex Sans"/>
                <a:ea typeface="IBM Plex Sans"/>
                <a:cs typeface="IBM Plex Sans"/>
              </a:rPr>
              <a:t>multiplier: 11% fewer LUs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Where does the paper's method work?</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10</a:t>
            </a:r>
          </a:p>
        </p:txBody>
      </p:sp>
      <p:pic>
        <p:nvPicPr>
          <p:cNvPr id="6" name="Picture 5" descr="feasibility.png"/>
          <p:cNvPicPr>
            <a:picLocks noChangeAspect="1"/>
          </p:cNvPicPr>
          <p:nvPr/>
        </p:nvPicPr>
        <p:blipFill>
          <a:blip r:embed="rId3"/>
          <a:stretch>
            <a:fillRect/>
          </a:stretch>
        </p:blipFill>
        <p:spPr>
          <a:xfrm>
            <a:off x="2936934" y="1371600"/>
            <a:ext cx="6269364" cy="3017520"/>
          </a:xfrm>
          <a:prstGeom prst="rect">
            <a:avLst/>
          </a:prstGeom>
        </p:spPr>
      </p:pic>
      <p:graphicFrame>
        <p:nvGraphicFramePr>
          <p:cNvPr id="7" name="Table 6"/>
          <p:cNvGraphicFramePr>
            <a:graphicFrameLocks noGrp="1"/>
          </p:cNvGraphicFramePr>
          <p:nvPr/>
        </p:nvGraphicFramePr>
        <p:xfrm>
          <a:off x="813816" y="4434840"/>
          <a:ext cx="6583680" cy="987552"/>
        </p:xfrm>
        <a:graphic>
          <a:graphicData uri="http://schemas.openxmlformats.org/drawingml/2006/table">
            <a:tbl>
              <a:tblPr firstRow="0" bandRow="0">
                <a:tableStyleId>{2D5ABB26-0587-4C30-8999-92F81FD0307C}</a:tableStyleId>
              </a:tblPr>
              <a:tblGrid>
                <a:gridCol w="2194560"/>
                <a:gridCol w="2011680"/>
                <a:gridCol w="2377440"/>
              </a:tblGrid>
              <a:tr h="329184">
                <a:tc>
                  <a:txBody>
                    <a:bodyPr wrap="square"/>
                    <a:lstStyle/>
                    <a:p>
                      <a:pPr algn="l"/>
                      <a:r>
                        <a:rPr sz="1400" b="1" i="0">
                          <a:solidFill>
                            <a:srgbClr val="1B1F2A"/>
                          </a:solidFill>
                          <a:latin typeface="IBM Plex Sans"/>
                          <a:ea typeface="IBM Plex Sans"/>
                          <a:cs typeface="IBM Plex Sans"/>
                        </a:rPr>
                        <a:t>Grid</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400" b="1" i="0">
                          <a:solidFill>
                            <a:srgbClr val="1B1F2A"/>
                          </a:solidFill>
                          <a:latin typeface="IBM Plex Sans"/>
                          <a:ea typeface="IBM Plex Sans"/>
                          <a:cs typeface="IBM Plex Sans"/>
                        </a:rPr>
                        <a:t>Cells solved</a:t>
                      </a:r>
                    </a:p>
                  </a:txBody>
                  <a:tcPr marL="73152" marR="73152" marT="36576" marB="36576" anchor="ctr">
                    <a:lnL w="0">
                      <a:noFill/>
                    </a:lnL>
                    <a:lnR w="0">
                      <a:noFill/>
                    </a:lnR>
                    <a:lnT w="0">
                      <a:noFill/>
                    </a:lnT>
                    <a:lnB w="12700">
                      <a:solidFill>
                        <a:srgbClr val="C8C8C6"/>
                      </a:solidFill>
                    </a:lnB>
                    <a:solidFill>
                      <a:srgbClr val="E9E9E7"/>
                    </a:solidFill>
                  </a:tcPr>
                </a:tc>
                <a:tc>
                  <a:txBody>
                    <a:bodyPr wrap="square"/>
                    <a:lstStyle/>
                    <a:p>
                      <a:pPr algn="r"/>
                      <a:r>
                        <a:rPr sz="1400" b="1" i="0">
                          <a:solidFill>
                            <a:srgbClr val="1B1F2A"/>
                          </a:solidFill>
                          <a:latin typeface="IBM Plex Sans"/>
                          <a:ea typeface="IBM Plex Sans"/>
                          <a:cs typeface="IBM Plex Sans"/>
                        </a:rPr>
                        <a:t>δ that works</a:t>
                      </a:r>
                    </a:p>
                  </a:txBody>
                  <a:tcPr marL="73152" marR="73152" marT="36576" marB="36576" anchor="ctr">
                    <a:lnL w="0">
                      <a:noFill/>
                    </a:lnL>
                    <a:lnR w="0">
                      <a:noFill/>
                    </a:lnR>
                    <a:lnT w="0">
                      <a:noFill/>
                    </a:lnT>
                    <a:lnB w="12700">
                      <a:solidFill>
                        <a:srgbClr val="C8C8C6"/>
                      </a:solidFill>
                    </a:lnB>
                    <a:solidFill>
                      <a:srgbClr val="E9E9E7"/>
                    </a:solidFill>
                  </a:tcPr>
                </a:tc>
              </a:tr>
              <a:tr h="329184">
                <a:tc>
                  <a:txBody>
                    <a:bodyPr wrap="square"/>
                    <a:lstStyle/>
                    <a:p>
                      <a:pPr algn="l"/>
                      <a:r>
                        <a:rPr sz="1400" b="0" i="0">
                          <a:solidFill>
                            <a:srgbClr val="1B1F2A"/>
                          </a:solidFill>
                          <a:latin typeface="IBM Plex Sans"/>
                          <a:ea typeface="IBM Plex Sans"/>
                          <a:cs typeface="IBM Plex Sans"/>
                        </a:rPr>
                        <a:t>case36964</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400" b="0" i="0">
                          <a:solidFill>
                            <a:srgbClr val="1B1F2A"/>
                          </a:solidFill>
                          <a:latin typeface="IBM Plex Sans"/>
                          <a:ea typeface="IBM Plex Sans"/>
                          <a:cs typeface="IBM Plex Sans"/>
                        </a:rPr>
                        <a:t>29 of 88</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400" b="0" i="0">
                          <a:solidFill>
                            <a:srgbClr val="1B1F2A"/>
                          </a:solidFill>
                          <a:latin typeface="IBM Plex Sans"/>
                          <a:ea typeface="IBM Plex Sans"/>
                          <a:cs typeface="IBM Plex Sans"/>
                        </a:rPr>
                        <a:t>0.0063 to 3.2</a:t>
                      </a:r>
                    </a:p>
                  </a:txBody>
                  <a:tcPr marL="73152" marR="73152" marT="36576" marB="36576" anchor="ctr">
                    <a:lnL w="0">
                      <a:noFill/>
                    </a:lnL>
                    <a:lnR w="0">
                      <a:noFill/>
                    </a:lnR>
                    <a:lnT w="0">
                      <a:noFill/>
                    </a:lnT>
                    <a:lnB w="12700">
                      <a:solidFill>
                        <a:srgbClr val="C8C8C6"/>
                      </a:solidFill>
                    </a:lnB>
                    <a:solidFill>
                      <a:srgbClr val="FBFBF9"/>
                    </a:solidFill>
                  </a:tcPr>
                </a:tc>
              </a:tr>
              <a:tr h="329184">
                <a:tc>
                  <a:txBody>
                    <a:bodyPr wrap="square"/>
                    <a:lstStyle/>
                    <a:p>
                      <a:pPr algn="l"/>
                      <a:r>
                        <a:rPr sz="1400" b="0" i="0">
                          <a:solidFill>
                            <a:srgbClr val="1B1F2A"/>
                          </a:solidFill>
                          <a:latin typeface="IBM Plex Sans"/>
                          <a:ea typeface="IBM Plex Sans"/>
                          <a:cs typeface="IBM Plex Sans"/>
                        </a:rPr>
                        <a:t>case6024</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400" b="0" i="0">
                          <a:solidFill>
                            <a:srgbClr val="1B1F2A"/>
                          </a:solidFill>
                          <a:latin typeface="IBM Plex Sans"/>
                          <a:ea typeface="IBM Plex Sans"/>
                          <a:cs typeface="IBM Plex Sans"/>
                        </a:rPr>
                        <a:t>32 of 88</a:t>
                      </a:r>
                    </a:p>
                  </a:txBody>
                  <a:tcPr marL="73152" marR="73152" marT="36576" marB="36576" anchor="ctr">
                    <a:lnL w="0">
                      <a:noFill/>
                    </a:lnL>
                    <a:lnR w="0">
                      <a:noFill/>
                    </a:lnR>
                    <a:lnT w="0">
                      <a:noFill/>
                    </a:lnT>
                    <a:lnB w="12700">
                      <a:solidFill>
                        <a:srgbClr val="C8C8C6"/>
                      </a:solidFill>
                    </a:lnB>
                    <a:solidFill>
                      <a:srgbClr val="FBFBF9"/>
                    </a:solidFill>
                  </a:tcPr>
                </a:tc>
                <a:tc>
                  <a:txBody>
                    <a:bodyPr wrap="square"/>
                    <a:lstStyle/>
                    <a:p>
                      <a:pPr algn="r"/>
                      <a:r>
                        <a:rPr sz="1400" b="0" i="0">
                          <a:solidFill>
                            <a:srgbClr val="1B1F2A"/>
                          </a:solidFill>
                          <a:latin typeface="IBM Plex Sans"/>
                          <a:ea typeface="IBM Plex Sans"/>
                          <a:cs typeface="IBM Plex Sans"/>
                        </a:rPr>
                        <a:t>0.032 to 32</a:t>
                      </a:r>
                    </a:p>
                  </a:txBody>
                  <a:tcPr marL="73152" marR="73152" marT="36576" marB="36576" anchor="ctr">
                    <a:lnL w="0">
                      <a:noFill/>
                    </a:lnL>
                    <a:lnR w="0">
                      <a:noFill/>
                    </a:lnR>
                    <a:lnT w="0">
                      <a:noFill/>
                    </a:lnT>
                    <a:lnB w="12700">
                      <a:solidFill>
                        <a:srgbClr val="C8C8C6"/>
                      </a:solidFill>
                    </a:lnB>
                    <a:solidFill>
                      <a:srgbClr val="FBFBF9"/>
                    </a:solidFill>
                  </a:tcPr>
                </a:tc>
              </a:tr>
            </a:tbl>
          </a:graphicData>
        </a:graphic>
      </p:graphicFrame>
      <p:sp>
        <p:nvSpPr>
          <p:cNvPr id="8" name="TextBox 7"/>
          <p:cNvSpPr txBox="1"/>
          <p:nvPr/>
        </p:nvSpPr>
        <p:spPr>
          <a:xfrm>
            <a:off x="7863840" y="4480560"/>
            <a:ext cx="3474720" cy="1097280"/>
          </a:xfrm>
          <a:prstGeom prst="rect">
            <a:avLst/>
          </a:prstGeom>
          <a:noFill/>
        </p:spPr>
        <p:txBody>
          <a:bodyPr wrap="square" lIns="0" rIns="0" tIns="0" bIns="0" anchor="t">
            <a:spAutoFit/>
          </a:bodyPr>
          <a:lstStyle/>
          <a:p>
            <a:pPr algn="l" marL="228600" indent="-228600">
              <a:spcAft>
                <a:spcPts val="400"/>
              </a:spcAft>
              <a:buFont typeface="Arial"/>
              <a:buChar char="•"/>
            </a:pPr>
            <a:r>
              <a:rPr sz="1500" b="0" i="0">
                <a:solidFill>
                  <a:srgbClr val="1B1F2A"/>
                </a:solidFill>
                <a:latin typeface="IBM Plex Sans"/>
                <a:ea typeface="IBM Plex Sans"/>
                <a:cs typeface="IBM Plex Sans"/>
              </a:rPr>
              <a:t>success follows δ = K/Δt₀</a:t>
            </a:r>
          </a:p>
          <a:p>
            <a:pPr algn="l" marL="228600" indent="-228600">
              <a:spcAft>
                <a:spcPts val="400"/>
              </a:spcAft>
              <a:buFont typeface="Arial"/>
              <a:buChar char="•"/>
            </a:pPr>
            <a:r>
              <a:rPr sz="1500" b="0" i="0">
                <a:solidFill>
                  <a:srgbClr val="1B1F2A"/>
                </a:solidFill>
                <a:latin typeface="IBM Plex Sans"/>
                <a:ea typeface="IBM Plex Sans"/>
                <a:cs typeface="IBM Plex Sans"/>
              </a:rPr>
              <a:t>explains a failure the paper left unexplained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9"/>
        </a:solidFill>
        <a:effectLst/>
      </p:bgPr>
    </p:bg>
    <p:spTree>
      <p:nvGrpSpPr>
        <p:cNvPr id="1" name=""/>
        <p:cNvGrpSpPr/>
        <p:nvPr/>
      </p:nvGrpSpPr>
      <p:grpSpPr/>
      <p:sp>
        <p:nvSpPr>
          <p:cNvPr id="2" name="TextBox 1"/>
          <p:cNvSpPr txBox="1"/>
          <p:nvPr/>
        </p:nvSpPr>
        <p:spPr>
          <a:xfrm>
            <a:off x="813816" y="713232"/>
            <a:ext cx="10881360" cy="429768"/>
          </a:xfrm>
          <a:prstGeom prst="rect">
            <a:avLst/>
          </a:prstGeom>
          <a:noFill/>
        </p:spPr>
        <p:txBody>
          <a:bodyPr wrap="square" lIns="0" rIns="0" tIns="0" bIns="0" anchor="t">
            <a:spAutoFit/>
          </a:bodyPr>
          <a:lstStyle/>
          <a:p>
            <a:pPr algn="l">
              <a:spcAft>
                <a:spcPts val="800"/>
              </a:spcAft>
            </a:pPr>
            <a:r>
              <a:rPr sz="2800" b="1" i="0">
                <a:solidFill>
                  <a:srgbClr val="1F3A5F"/>
                </a:solidFill>
                <a:latin typeface="IBM Plex Sans"/>
                <a:ea typeface="IBM Plex Sans"/>
                <a:cs typeface="IBM Plex Sans"/>
              </a:rPr>
              <a:t>Summary</a:t>
            </a:r>
          </a:p>
        </p:txBody>
      </p:sp>
      <p:pic>
        <p:nvPicPr>
          <p:cNvPr id="3" name="Picture 2" descr="image.png"/>
          <p:cNvPicPr>
            <a:picLocks noChangeAspect="1"/>
          </p:cNvPicPr>
          <p:nvPr/>
        </p:nvPicPr>
        <p:blipFill>
          <a:blip r:embed="rId2"/>
          <a:stretch>
            <a:fillRect/>
          </a:stretch>
        </p:blipFill>
        <p:spPr>
          <a:xfrm>
            <a:off x="812800" y="1221741"/>
            <a:ext cx="10566400" cy="20320"/>
          </a:xfrm>
          <a:prstGeom prst="rect">
            <a:avLst/>
          </a:prstGeom>
        </p:spPr>
      </p:pic>
      <p:sp>
        <p:nvSpPr>
          <p:cNvPr id="4" name="TextBox 3"/>
          <p:cNvSpPr txBox="1"/>
          <p:nvPr/>
        </p:nvSpPr>
        <p:spPr>
          <a:xfrm>
            <a:off x="813816" y="6236208"/>
            <a:ext cx="7845552" cy="237744"/>
          </a:xfrm>
          <a:prstGeom prst="rect">
            <a:avLst/>
          </a:prstGeom>
          <a:noFill/>
        </p:spPr>
        <p:txBody>
          <a:bodyPr wrap="square" lIns="0" rIns="0" tIns="0" bIns="0" anchor="t">
            <a:spAutoFit/>
          </a:bodyPr>
          <a:lstStyle/>
          <a:p>
            <a:pPr algn="l">
              <a:spcAft>
                <a:spcPts val="800"/>
              </a:spcAft>
            </a:pPr>
            <a:r>
              <a:rPr sz="1200" b="0" i="0">
                <a:solidFill>
                  <a:srgbClr val="6B7280"/>
                </a:solidFill>
                <a:latin typeface="IBM Plex Sans"/>
                <a:ea typeface="IBM Plex Sans"/>
                <a:cs typeface="IBM Plex Sans"/>
              </a:rPr>
              <a:t>Jonayed's part · Lima-Silva &amp; Freitas (2024): reproduction and improvements</a:t>
            </a:r>
          </a:p>
        </p:txBody>
      </p:sp>
      <p:sp>
        <p:nvSpPr>
          <p:cNvPr id="5" name="TextBox 4"/>
          <p:cNvSpPr txBox="1"/>
          <p:nvPr/>
        </p:nvSpPr>
        <p:spPr>
          <a:xfrm>
            <a:off x="10058400" y="6236208"/>
            <a:ext cx="1316736" cy="237744"/>
          </a:xfrm>
          <a:prstGeom prst="rect">
            <a:avLst/>
          </a:prstGeom>
          <a:noFill/>
        </p:spPr>
        <p:txBody>
          <a:bodyPr wrap="square" lIns="0" rIns="0" tIns="0" bIns="0" anchor="t">
            <a:spAutoFit/>
          </a:bodyPr>
          <a:lstStyle/>
          <a:p>
            <a:pPr algn="r">
              <a:spcAft>
                <a:spcPts val="800"/>
              </a:spcAft>
            </a:pPr>
            <a:r>
              <a:rPr sz="1200" b="0" i="0">
                <a:solidFill>
                  <a:srgbClr val="6B7280"/>
                </a:solidFill>
                <a:latin typeface="IBM Plex Sans"/>
                <a:ea typeface="IBM Plex Sans"/>
                <a:cs typeface="IBM Plex Sans"/>
              </a:rPr>
              <a:t>11</a:t>
            </a:r>
          </a:p>
        </p:txBody>
      </p:sp>
      <p:sp>
        <p:nvSpPr>
          <p:cNvPr id="6" name="TextBox 5"/>
          <p:cNvSpPr txBox="1"/>
          <p:nvPr/>
        </p:nvSpPr>
        <p:spPr>
          <a:xfrm>
            <a:off x="813816" y="1554480"/>
            <a:ext cx="10561320" cy="3200400"/>
          </a:xfrm>
          <a:prstGeom prst="rect">
            <a:avLst/>
          </a:prstGeom>
          <a:noFill/>
        </p:spPr>
        <p:txBody>
          <a:bodyPr wrap="square" lIns="0" rIns="0" tIns="0" bIns="0" anchor="t">
            <a:spAutoFit/>
          </a:bodyPr>
          <a:lstStyle/>
          <a:p>
            <a:pPr algn="l" marL="228600" indent="-228600">
              <a:spcAft>
                <a:spcPts val="1400"/>
              </a:spcAft>
              <a:buFont typeface="Arial"/>
              <a:buChar char="•"/>
            </a:pPr>
            <a:r>
              <a:rPr sz="1900" b="0" i="0">
                <a:solidFill>
                  <a:srgbClr val="1B1F2A"/>
                </a:solidFill>
                <a:latin typeface="IBM Plex Sans"/>
                <a:ea typeface="IBM Plex Sans"/>
                <a:cs typeface="IBM Plex Sans"/>
              </a:rPr>
              <a:t>One model code from a 2-bus toy to 185,807 equations, matching the paper</a:t>
            </a:r>
          </a:p>
          <a:p>
            <a:pPr algn="l" marL="228600" indent="-228600">
              <a:spcAft>
                <a:spcPts val="1400"/>
              </a:spcAft>
              <a:buFont typeface="Arial"/>
              <a:buChar char="•"/>
            </a:pPr>
            <a:r>
              <a:rPr sz="1900" b="0" i="0">
                <a:solidFill>
                  <a:srgbClr val="1B1F2A"/>
                </a:solidFill>
                <a:latin typeface="IBM Plex Sans"/>
                <a:ea typeface="IBM Plex Sans"/>
                <a:cs typeface="IBM Plex Sans"/>
              </a:rPr>
              <a:t>Found the 10 MVA / 100 MVA base mismatch in two grids</a:t>
            </a:r>
          </a:p>
          <a:p>
            <a:pPr algn="l" marL="228600" indent="-228600">
              <a:spcAft>
                <a:spcPts val="1400"/>
              </a:spcAft>
              <a:buFont typeface="Arial"/>
              <a:buChar char="•"/>
            </a:pPr>
            <a:r>
              <a:rPr sz="1900" b="0" i="0">
                <a:solidFill>
                  <a:srgbClr val="1B1F2A"/>
                </a:solidFill>
                <a:latin typeface="IBM Plex Sans"/>
                <a:ea typeface="IBM Plex Sans"/>
                <a:cs typeface="IBM Plex Sans"/>
              </a:rPr>
              <a:t>The solution check: 14 of 141 'successes' were wrong roots</a:t>
            </a:r>
          </a:p>
          <a:p>
            <a:pPr algn="l" marL="228600" indent="-228600">
              <a:spcAft>
                <a:spcPts val="1400"/>
              </a:spcAft>
              <a:buFont typeface="Arial"/>
              <a:buChar char="•"/>
            </a:pPr>
            <a:r>
              <a:rPr sz="1900" b="0" i="0">
                <a:solidFill>
                  <a:srgbClr val="1B1F2A"/>
                </a:solidFill>
                <a:latin typeface="IBM Plex Sans"/>
                <a:ea typeface="IBM Plex Sans"/>
                <a:cs typeface="IBM Plex Sans"/>
              </a:rPr>
              <a:t>Study of 170 runs: the paper solves 127, our best 156</a:t>
            </a:r>
          </a:p>
        </p:txBody>
      </p:sp>
      <p:sp>
        <p:nvSpPr>
          <p:cNvPr id="7" name="TextBox 6"/>
          <p:cNvSpPr txBox="1"/>
          <p:nvPr/>
        </p:nvSpPr>
        <p:spPr>
          <a:xfrm>
            <a:off x="813816" y="4297680"/>
            <a:ext cx="10561320" cy="548640"/>
          </a:xfrm>
          <a:prstGeom prst="rect">
            <a:avLst/>
          </a:prstGeom>
          <a:noFill/>
        </p:spPr>
        <p:txBody>
          <a:bodyPr wrap="square" lIns="0" rIns="0" tIns="0" bIns="0" anchor="t">
            <a:spAutoFit/>
          </a:bodyPr>
          <a:lstStyle/>
          <a:p>
            <a:pPr algn="l">
              <a:spcAft>
                <a:spcPts val="800"/>
              </a:spcAft>
            </a:pPr>
            <a:r>
              <a:rPr sz="2200" b="1" i="0">
                <a:solidFill>
                  <a:srgbClr val="1F3A5F"/>
                </a:solidFill>
                <a:latin typeface="IBM Plex Sans"/>
                <a:ea typeface="IBM Plex Sans"/>
                <a:cs typeface="IBM Plex Sans"/>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4258</Words>
  <Application>Microsoft Office PowerPoint</Application>
  <PresentationFormat>Widescreen</PresentationFormat>
  <Paragraphs>348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Courier New</vt:lpstr>
      <vt:lpstr>IBM Plex Sans</vt:lpstr>
      <vt:lpstr>STIX Two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Homotopy Power Flow</dc:title>
  <dc:subject>PptxGenJS Presentation</dc:subject>
  <dc:creator>PptxGenJS</dc:creator>
  <cp:lastModifiedBy>Jonayed Mohiuddin</cp:lastModifiedBy>
  <cp:revision>8</cp:revision>
  <dcterms:created xsi:type="dcterms:W3CDTF">2026-09-28T06:54:17Z</dcterms:created>
  <dcterms:modified xsi:type="dcterms:W3CDTF">2026-09-28T08:23:46Z</dcterms:modified>
</cp:coreProperties>
</file>