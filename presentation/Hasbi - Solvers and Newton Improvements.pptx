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Solved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1F3A5F"/>
              </a:solidFill>
            </c:spPr>
            <c:extLst>
              <c:ext xmlns:c16="http://schemas.microsoft.com/office/drawing/2014/chart" uri="{C3380CC4-5D6E-409C-BE32-E72D297353CC}">
                <c16:uniqueId val="{00000001-EB52-45AB-9825-95B4767397C8}"/>
              </c:ext>
            </c:extLst>
          </c:dPt>
          <c:dPt>
            <c:idx val="1"/>
            <c:invertIfNegative val="1"/>
            <c:bubble3D val="0"/>
            <c:spPr>
              <a:solidFill>
                <a:srgbClr val="A8B0BB"/>
              </a:solidFill>
            </c:spPr>
            <c:extLst>
              <c:ext xmlns:c16="http://schemas.microsoft.com/office/drawing/2014/chart" uri="{C3380CC4-5D6E-409C-BE32-E72D297353CC}">
                <c16:uniqueId val="{00000003-EB52-45AB-9825-95B4767397C8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>
                    <a:solidFill>
                      <a:srgbClr val="1B1F2A"/>
                    </a:solidFill>
                    <a:latin typeface="IBM Plex Sa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Paper's homotopy</c:v>
                </c:pt>
                <c:pt idx="1">
                  <c:v>Newton homotopy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127</c:v>
                </c:pt>
                <c:pt idx="1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B52-45AB-9825-95B4767397C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8C8C6"/>
            </a:solidFill>
          </a:ln>
        </c:spPr>
        <c:txPr>
          <a:bodyPr/>
          <a:lstStyle/>
          <a:p>
            <a:pPr>
              <a:defRPr sz="1500">
                <a:solidFill>
                  <a:srgbClr val="1B1F2A"/>
                </a:solidFill>
                <a:latin typeface="IBM Plex San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2815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implemented the paper from scratch in Python, reproduced its results, and then tested changes to the method. First the paper, then our implementation and reproduction, then the improvements.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t>The homotopy only brings x close to the solution; a classical solver finishes the job. I wrote those solvers, reproduced the tables that compare them, and worked on improving Newton itself.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t>Equation 4 of the paper. Same stopping rule as MATPOWER. From the flat start J is nearly singular on the five large grids and NR diverges on all of them, exactly as the paper reports. From the case file's own start (NR-MAT) it converges in 5 or 6 iterations.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t>Equations 5 to 8. Decoupling P-theta and Q-V gives two constant matrices, so each iteration is two triangular solves instead of a new LU. MATPOWER reports one count per cycle; the paper's numbers only fit if each half-step is counted.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t>Reference 12 of the paper. Shunts on the Ybus diagonal make the flat start the exact solution at h=0; the branches at the slack bus are scaled by delta; NR solves h = dh, 2dh, ..., 1. We match two of the three grids the paper solves with it.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t>All seven methods on the five large grids. The homotopy makes NR converge in 3 or 4 iterations where NR from the flat start fails. The one FDXB difference is most likely a typo in the paper: case54636 and case109272 are identical in every other cell.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t>Median of seven runs, as a percentage of NR from the case file, since the paper used MATLAB on another machine. BE followed by FDXB is faster than a normal NR solve, and it starts from the flat start. Our RK2 rows are relatively slower than the paper's.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t>Damped Newton. The mismatch along the step is modelled as a quadratic in mu; minimising its squared norm gives a cubic, 2(c.c)mu^3 - 3(a.c)mu^2 + (a.a + 2a.c)mu - a.a = 0. Near the root mu is 1 so quadratic convergence is kept. It saves LUs but does not stop wrong roots on its own.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t>Mismatch history of the paper's method, the multiplier, the corrector and both, on three typical runs: a rescue (case36964, dt0 = 0.05), a root fix (case3012wplimit) and a speed-up (case14limit).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t>The classical Newton homotopy. Its first BE step is a plain Newton step shrunk to 0.5%, with the unregularised flat-start Jacobian. It solves 75 of 170 runs against 127: a controlled experiment showing the K I term matters.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t>The paper's BE path, NR and FDXB with every linear system solved by Sadman's hand-written LU with partial pivoting instead of SciPy's SuperLU. Results are identical; the time shows why sparse LU is essential at this size.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t>Each configuration of the team's study, runs solved against LU cost relative to the paper's method. The multiplier moves left (cheaper); combined with the corrector it is both more robust and cheaper than the paper's method.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584960"/>
            <a:ext cx="10883392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F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Classical Solvers and</a:t>
            </a:r>
            <a:endParaRPr lang="en-US" sz="4000" dirty="0"/>
          </a:p>
          <a:p>
            <a:pPr marL="0" indent="0"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F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Improving Newton's Method</a:t>
            </a:r>
            <a:endParaRPr lang="en-US" sz="4000" dirty="0"/>
          </a:p>
        </p:txBody>
      </p:sp>
      <p:pic>
        <p:nvPicPr>
          <p:cNvPr id="3" name="Image 0" descr="line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812800" y="3566160"/>
            <a:ext cx="10566400" cy="30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3825240"/>
            <a:ext cx="1088339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33A4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Based on A. Lima-Silva and F. D. Freitas, "Exploring a Dynamic Homotopy Technique to Enhance the Convergence of Classical Power Flow Iterative Solvers in Ill-Conditioned Power System Models", </a:t>
            </a:r>
            <a:r>
              <a:rPr lang="en-US" sz="1600" i="1" dirty="0">
                <a:solidFill>
                  <a:srgbClr val="333A4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Energies</a:t>
            </a:r>
            <a:r>
              <a:rPr lang="en-US" sz="1600" dirty="0">
                <a:solidFill>
                  <a:srgbClr val="333A4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17(18):4642, 2024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12800" y="4663440"/>
            <a:ext cx="1088339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33A4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Presented by Elias </a:t>
            </a:r>
            <a:r>
              <a:rPr lang="en-US" sz="1600" dirty="0" err="1">
                <a:solidFill>
                  <a:srgbClr val="333A4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Mainur</a:t>
            </a:r>
            <a:r>
              <a:rPr lang="en-US" sz="1600" dirty="0">
                <a:solidFill>
                  <a:srgbClr val="333A4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 ·   Team: 2105039, 2105040, 2105057, 2105058, 2105060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33A4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 402 Numerical Analysis Sessional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3816" y="713232"/>
            <a:ext cx="1088136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1F3A5F"/>
                </a:solidFill>
                <a:latin typeface="IBM Plex Sans"/>
                <a:ea typeface="IBM Plex Sans"/>
                <a:cs typeface="IBM Plex Sans"/>
              </a:rPr>
              <a:t>My part of the project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221741"/>
            <a:ext cx="10566400" cy="2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" y="6236208"/>
            <a:ext cx="78455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Hasbi's part · Lima-Silva &amp; Freitas (2024): reproduction and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36208"/>
            <a:ext cx="13167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 i="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1600200"/>
            <a:ext cx="5120640" cy="1737360"/>
          </a:xfrm>
          <a:prstGeom prst="roundRect">
            <a:avLst>
              <a:gd name="adj" fmla="val 8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8136" y="1874520"/>
            <a:ext cx="475488" cy="47548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28216" y="1874520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1F3A5F"/>
                </a:solidFill>
                <a:latin typeface="IBM Plex Sans"/>
                <a:ea typeface="IBM Plex Sans"/>
                <a:cs typeface="IBM Plex Sans"/>
              </a:rPr>
              <a:t>NR, FDXB and GSH-NR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28216" y="2377440"/>
            <a:ext cx="3977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333A48"/>
                </a:solidFill>
                <a:latin typeface="IBM Plex Sans"/>
                <a:ea typeface="IBM Plex Sans"/>
                <a:cs typeface="IBM Plex Sans"/>
              </a:rPr>
              <a:t>the solvers the homotopy hands its result to, and the method it is compared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1600200"/>
            <a:ext cx="5120640" cy="1737360"/>
          </a:xfrm>
          <a:prstGeom prst="roundRect">
            <a:avLst>
              <a:gd name="adj" fmla="val 8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28816" y="1874520"/>
            <a:ext cx="475488" cy="47548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68896" y="1874520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1F3A5F"/>
                </a:solidFill>
                <a:latin typeface="IBM Plex Sans"/>
                <a:ea typeface="IBM Plex Sans"/>
                <a:cs typeface="IBM Plex Sans"/>
              </a:rPr>
              <a:t>Tables 7 and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68896" y="2377440"/>
            <a:ext cx="3977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333A48"/>
                </a:solidFill>
                <a:latin typeface="IBM Plex Sans"/>
                <a:ea typeface="IBM Plex Sans"/>
                <a:cs typeface="IBM Plex Sans"/>
              </a:rPr>
              <a:t>iteration counts and run times of all methods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" y="3657600"/>
            <a:ext cx="5120640" cy="1737360"/>
          </a:xfrm>
          <a:prstGeom prst="roundRect">
            <a:avLst>
              <a:gd name="adj" fmla="val 8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88136" y="3931920"/>
            <a:ext cx="475488" cy="47548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28216" y="3931920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1F3A5F"/>
                </a:solidFill>
                <a:latin typeface="IBM Plex Sans"/>
                <a:ea typeface="IBM Plex Sans"/>
                <a:cs typeface="IBM Plex Sans"/>
              </a:rPr>
              <a:t>Optimal multiplier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28216" y="4434840"/>
            <a:ext cx="3977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333A48"/>
                </a:solidFill>
                <a:latin typeface="IBM Plex Sans"/>
                <a:ea typeface="IBM Plex Sans"/>
                <a:cs typeface="IBM Plex Sans"/>
              </a:rPr>
              <a:t>a smarter Newton step length, and the Newton homotopy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3657600"/>
            <a:ext cx="5120640" cy="1737360"/>
          </a:xfrm>
          <a:prstGeom prst="roundRect">
            <a:avLst>
              <a:gd name="adj" fmla="val 8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528816" y="3931920"/>
            <a:ext cx="475488" cy="47548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68896" y="3931920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1F3A5F"/>
                </a:solidFill>
                <a:latin typeface="IBM Plex Sans"/>
                <a:ea typeface="IBM Plex Sans"/>
                <a:cs typeface="IBM Plex Sans"/>
              </a:rPr>
              <a:t>Our own LU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4434840"/>
            <a:ext cx="3977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333A48"/>
                </a:solidFill>
                <a:latin typeface="IBM Plex Sans"/>
                <a:ea typeface="IBM Plex Sans"/>
                <a:cs typeface="IBM Plex Sans"/>
              </a:rPr>
              <a:t>NR and FDXB with Gauss/LU written from scratch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3816" y="713232"/>
            <a:ext cx="1088136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1F3A5F"/>
                </a:solidFill>
                <a:latin typeface="IBM Plex Sans"/>
                <a:ea typeface="IBM Plex Sans"/>
                <a:cs typeface="IBM Plex Sans"/>
              </a:rPr>
              <a:t>Newton-Raphson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221741"/>
            <a:ext cx="10566400" cy="2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" y="6236208"/>
            <a:ext cx="78455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Hasbi's part · Lima-Silva &amp; Freitas (2024): reproduction and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36208"/>
            <a:ext cx="13167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 i="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3</a:t>
            </a:r>
          </a:p>
        </p:txBody>
      </p:sp>
      <p:pic>
        <p:nvPicPr>
          <p:cNvPr id="6" name="Picture 5" descr="h_n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1554480"/>
            <a:ext cx="4169663" cy="5059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3816" y="2514600"/>
            <a:ext cx="566928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B1F2A"/>
                </a:solidFill>
                <a:latin typeface="IBM Plex Sans"/>
                <a:ea typeface="IBM Plex Sans"/>
                <a:cs typeface="IBM Plex Sans"/>
              </a:rPr>
              <a:t>one sparse LU of J per iteration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B1F2A"/>
                </a:solidFill>
                <a:latin typeface="IBM Plex Sans"/>
                <a:ea typeface="IBM Plex Sans"/>
                <a:cs typeface="IBM Plex Sans"/>
              </a:rPr>
              <a:t>stop when ‖g‖∞ &lt; 10⁻⁸, at most 10 iterations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B1F2A"/>
                </a:solidFill>
                <a:latin typeface="IBM Plex Sans"/>
                <a:ea typeface="IBM Plex Sans"/>
                <a:cs typeface="IBM Plex Sans"/>
              </a:rPr>
              <a:t>fast (quadratic) near the root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377440"/>
            <a:ext cx="4114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5400" b="1" i="0">
                <a:solidFill>
                  <a:srgbClr val="B54A3F"/>
                </a:solidFill>
                <a:latin typeface="IBM Plex Sans"/>
                <a:ea typeface="IBM Plex Sans"/>
                <a:cs typeface="IBM Plex Sans"/>
              </a:rPr>
              <a:t>0 of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3246120"/>
            <a:ext cx="4114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333A48"/>
                </a:solidFill>
                <a:latin typeface="IBM Plex Sans"/>
                <a:ea typeface="IBM Plex Sans"/>
                <a:cs typeface="IBM Plex Sans"/>
              </a:rPr>
              <a:t>large grids solved from the flat start — as in the paper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3816" y="713232"/>
            <a:ext cx="1088136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1F3A5F"/>
                </a:solidFill>
                <a:latin typeface="IBM Plex Sans"/>
                <a:ea typeface="IBM Plex Sans"/>
                <a:cs typeface="IBM Plex Sans"/>
              </a:rPr>
              <a:t>Fast decoupled load flow (FDXB)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221741"/>
            <a:ext cx="10566400" cy="2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" y="6236208"/>
            <a:ext cx="78455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Hasbi's part · Lima-Silva &amp; Freitas (2024): reproduction and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36208"/>
            <a:ext cx="13167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 i="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pic>
        <p:nvPicPr>
          <p:cNvPr id="6" name="Picture 5" descr="h_f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1554480"/>
            <a:ext cx="1844040" cy="569976"/>
          </a:xfrm>
          <a:prstGeom prst="rect">
            <a:avLst/>
          </a:prstGeom>
        </p:spPr>
      </p:pic>
      <p:pic>
        <p:nvPicPr>
          <p:cNvPr id="7" name="Picture 6" descr="h_f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5656" y="1554480"/>
            <a:ext cx="2185416" cy="618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816" y="2743200"/>
            <a:ext cx="58521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B1F2A"/>
                </a:solidFill>
                <a:latin typeface="IBM Plex Sans"/>
                <a:ea typeface="IBM Plex Sans"/>
                <a:cs typeface="IBM Plex Sans"/>
              </a:rPr>
              <a:t>B′ and B″ are constant: factorised only once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B1F2A"/>
                </a:solidFill>
                <a:latin typeface="IBM Plex Sans"/>
                <a:ea typeface="IBM Plex Sans"/>
                <a:cs typeface="IBM Plex Sans"/>
              </a:rPr>
              <a:t>cheap iterations, but more of them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B1F2A"/>
                </a:solidFill>
                <a:latin typeface="IBM Plex Sans"/>
                <a:ea typeface="IBM Plex Sans"/>
                <a:cs typeface="IBM Plex Sans"/>
              </a:rPr>
              <a:t>one cycle = a P half-step + a Q half-step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2651760"/>
            <a:ext cx="4297680" cy="2103120"/>
          </a:xfrm>
          <a:prstGeom prst="roundRect">
            <a:avLst>
              <a:gd name="adj" fmla="val 8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0" y="2834640"/>
            <a:ext cx="38404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3A5F"/>
                </a:solidFill>
                <a:latin typeface="IBM Plex Sans"/>
                <a:ea typeface="IBM Plex Sans"/>
                <a:cs typeface="IBM Plex Sans"/>
              </a:rPr>
              <a:t>Finding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B1F2A"/>
                </a:solidFill>
                <a:latin typeface="IBM Plex Sans"/>
                <a:ea typeface="IBM Plex Sans"/>
                <a:cs typeface="IBM Plex Sans"/>
              </a:rPr>
              <a:t>The paper counts P and Q half-steps separately:</a:t>
            </a:r>
          </a:p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A5F"/>
                </a:solidFill>
                <a:latin typeface="IBM Plex Sans"/>
                <a:ea typeface="IBM Plex Sans"/>
                <a:cs typeface="IBM Plex Sans"/>
              </a:rPr>
              <a:t>15 + 14 = 29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B1F2A"/>
                </a:solidFill>
                <a:latin typeface="IBM Plex Sans"/>
                <a:ea typeface="IBM Plex Sans"/>
                <a:cs typeface="IBM Plex Sans"/>
              </a:rPr>
              <a:t>With that counting, Table 7 matches.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3816" y="713232"/>
            <a:ext cx="1088136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1F3A5F"/>
                </a:solidFill>
                <a:latin typeface="IBM Plex Sans"/>
                <a:ea typeface="IBM Plex Sans"/>
                <a:cs typeface="IBM Plex Sans"/>
              </a:rPr>
              <a:t>GSH-NR: the static homotopy the paper compares with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221741"/>
            <a:ext cx="10566400" cy="2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" y="6236208"/>
            <a:ext cx="78455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Hasbi's part · Lima-Silva &amp; Freitas (2024): reproduction and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36208"/>
            <a:ext cx="13167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 i="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" y="1920240"/>
            <a:ext cx="1554480" cy="685800"/>
          </a:xfrm>
          <a:prstGeom prst="roundRect">
            <a:avLst>
              <a:gd name="adj" fmla="val 2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h = 0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24328" y="2121408"/>
            <a:ext cx="365760" cy="292608"/>
          </a:xfrm>
          <a:prstGeom prst="rightArrow">
            <a:avLst/>
          </a:prstGeom>
          <a:solidFill>
            <a:srgbClr val="A8B0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054096" y="1920240"/>
            <a:ext cx="1554480" cy="685800"/>
          </a:xfrm>
          <a:prstGeom prst="roundRect">
            <a:avLst>
              <a:gd name="adj" fmla="val 20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F3A5F"/>
                </a:solidFill>
                <a:latin typeface="IBM Plex Sans"/>
                <a:ea typeface="IBM Plex Sans"/>
                <a:cs typeface="IBM Plex Sans"/>
              </a:rPr>
              <a:t>h = Δh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681728" y="2121408"/>
            <a:ext cx="365760" cy="292608"/>
          </a:xfrm>
          <a:prstGeom prst="rightArrow">
            <a:avLst/>
          </a:prstGeom>
          <a:solidFill>
            <a:srgbClr val="A8B0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111496" y="1920240"/>
            <a:ext cx="1554480" cy="685800"/>
          </a:xfrm>
          <a:prstGeom prst="roundRect">
            <a:avLst>
              <a:gd name="adj" fmla="val 20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F3A5F"/>
                </a:solidFill>
                <a:latin typeface="IBM Plex Sans"/>
                <a:ea typeface="IBM Plex Sans"/>
                <a:cs typeface="IBM Plex Sans"/>
              </a:rPr>
              <a:t>h = 2Δh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739128" y="2121408"/>
            <a:ext cx="365760" cy="292608"/>
          </a:xfrm>
          <a:prstGeom prst="rightArrow">
            <a:avLst/>
          </a:prstGeom>
          <a:solidFill>
            <a:srgbClr val="A8B0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168896" y="1920240"/>
            <a:ext cx="1554480" cy="685800"/>
          </a:xfrm>
          <a:prstGeom prst="roundRect">
            <a:avLst>
              <a:gd name="adj" fmla="val 20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F3A5F"/>
                </a:solidFill>
                <a:latin typeface="IBM Plex Sans"/>
                <a:ea typeface="IBM Plex Sans"/>
                <a:cs typeface="IBM Plex Sans"/>
              </a:rPr>
              <a:t>…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96528" y="2121408"/>
            <a:ext cx="365760" cy="292608"/>
          </a:xfrm>
          <a:prstGeom prst="rightArrow">
            <a:avLst/>
          </a:prstGeom>
          <a:solidFill>
            <a:srgbClr val="A8B0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226296" y="1920240"/>
            <a:ext cx="1554480" cy="685800"/>
          </a:xfrm>
          <a:prstGeom prst="roundRect">
            <a:avLst>
              <a:gd name="adj" fmla="val 2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h =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6974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0" i="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flat start is exact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6" y="269748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0" i="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the real grid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" y="3429000"/>
            <a:ext cx="56692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B1F2A"/>
                </a:solidFill>
                <a:latin typeface="IBM Plex Sans"/>
                <a:ea typeface="IBM Plex Sans"/>
                <a:cs typeface="IBM Plex Sans"/>
              </a:rPr>
              <a:t>fictitious shunts absorb the flat-start mismatch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B1F2A"/>
                </a:solidFill>
                <a:latin typeface="IBM Plex Sans"/>
                <a:ea typeface="IBM Plex Sans"/>
                <a:cs typeface="IBM Plex Sans"/>
              </a:rPr>
              <a:t>each stage solved by NR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B1F2A"/>
                </a:solidFill>
                <a:latin typeface="IBM Plex Sans"/>
                <a:ea typeface="IBM Plex Sans"/>
                <a:cs typeface="IBM Plex Sans"/>
              </a:rPr>
              <a:t>rebuilt from the paper's description in words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949440" y="3383280"/>
          <a:ext cx="4114800" cy="16459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Iterations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E9E9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Ours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E9E9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Paper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E9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case18482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case36964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28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27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case27318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B54A3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fail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25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3816" y="713232"/>
            <a:ext cx="1088136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1F3A5F"/>
                </a:solidFill>
                <a:latin typeface="IBM Plex Sans"/>
                <a:ea typeface="IBM Plex Sans"/>
                <a:cs typeface="IBM Plex Sans"/>
              </a:rPr>
              <a:t>Table 7: iterations, reproduced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221741"/>
            <a:ext cx="10566400" cy="2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" y="6236208"/>
            <a:ext cx="78455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Hasbi's part · Lima-Silva &amp; Freitas (2024): reproduction and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36208"/>
            <a:ext cx="13167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 i="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13816" y="1600200"/>
          <a:ext cx="10424160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Grid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E9E9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NR-MAT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E9E9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NR-flat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E9E9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BE(NR)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E9E9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RK2(NR)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E9E9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BE(FDXB)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E9E9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RK2(FDXB)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E9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case18482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6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B54A3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fail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33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29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case27318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B54A3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fail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29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25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case36964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6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B54A3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fail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33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29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case54636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B54A3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fail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29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25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case109272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B54A3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fail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1F3A5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29 (paper 19)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25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3816" y="4572000"/>
            <a:ext cx="10561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F3A5F"/>
                </a:solidFill>
                <a:latin typeface="IBM Plex Sans"/>
                <a:ea typeface="IBM Plex Sans"/>
                <a:cs typeface="IBM Plex Sans"/>
              </a:rPr>
              <a:t>Every cell equals the paper's, except one FDXB count</a:t>
            </a:r>
            <a:r>
              <a:rPr sz="1600" b="0" i="0">
                <a:solidFill>
                  <a:srgbClr val="1B1F2A"/>
                </a:solidFill>
                <a:latin typeface="IBM Plex Sans"/>
                <a:ea typeface="IBM Plex Sans"/>
                <a:cs typeface="IBM Plex Sans"/>
              </a:rPr>
              <a:t> (case109272 and case54636 are copies of one network; both give 29) and GSH-NR on case27318.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3816" y="713232"/>
            <a:ext cx="1088136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1F3A5F"/>
                </a:solidFill>
                <a:latin typeface="IBM Plex Sans"/>
                <a:ea typeface="IBM Plex Sans"/>
                <a:cs typeface="IBM Plex Sans"/>
              </a:rPr>
              <a:t>Table 8: run time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221741"/>
            <a:ext cx="10566400" cy="2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" y="6236208"/>
            <a:ext cx="78455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Hasbi's part · Lima-Silva &amp; Freitas (2024): reproduction and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36208"/>
            <a:ext cx="13167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 i="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pic>
        <p:nvPicPr>
          <p:cNvPr id="6" name="Picture 5" descr="tim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1417320"/>
            <a:ext cx="6400800" cy="31541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23760" y="1828800"/>
            <a:ext cx="4023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 i="0">
                <a:solidFill>
                  <a:srgbClr val="2F8F5B"/>
                </a:solidFill>
                <a:latin typeface="IBM Plex Sans"/>
                <a:ea typeface="IBM Plex Sans"/>
                <a:cs typeface="IBM Plex Sans"/>
              </a:rPr>
              <a:t>66 – 93%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697480"/>
            <a:ext cx="4023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333A48"/>
                </a:solidFill>
                <a:latin typeface="IBM Plex Sans"/>
                <a:ea typeface="IBM Plex Sans"/>
                <a:cs typeface="IBM Plex Sans"/>
              </a:rPr>
              <a:t>BE(FDXB) time, as % of NR-MAT  (paper 57 – 85%)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3429000"/>
            <a:ext cx="4023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 i="0">
                <a:solidFill>
                  <a:srgbClr val="1F3A5F"/>
                </a:solidFill>
                <a:latin typeface="IBM Plex Sans"/>
                <a:ea typeface="IBM Plex Sans"/>
                <a:cs typeface="IBM Plex Sans"/>
              </a:rPr>
              <a:t>102 – 122%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4297680"/>
            <a:ext cx="4023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333A48"/>
                </a:solidFill>
                <a:latin typeface="IBM Plex Sans"/>
                <a:ea typeface="IBM Plex Sans"/>
                <a:cs typeface="IBM Plex Sans"/>
              </a:rPr>
              <a:t>BE(NR) time  (paper 92 – 128%)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3816" y="713232"/>
            <a:ext cx="1088136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1F3A5F"/>
                </a:solidFill>
                <a:latin typeface="IBM Plex Sans"/>
                <a:ea typeface="IBM Plex Sans"/>
                <a:cs typeface="IBM Plex Sans"/>
              </a:rPr>
              <a:t>Improvement: Iwamoto's optimal multiplier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221741"/>
            <a:ext cx="10566400" cy="2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" y="6236208"/>
            <a:ext cx="78455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Hasbi's part · Lima-Silva &amp; Freitas (2024): reproduction and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36208"/>
            <a:ext cx="13167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 i="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pic>
        <p:nvPicPr>
          <p:cNvPr id="6" name="Picture 5" descr="h_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1508760"/>
            <a:ext cx="7019544" cy="4511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3816" y="2286000"/>
            <a:ext cx="10561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333A48"/>
                </a:solidFill>
                <a:latin typeface="IBM Plex Sans"/>
                <a:ea typeface="IBM Plex Sans"/>
                <a:cs typeface="IBM Plex Sans"/>
              </a:rPr>
              <a:t>a = g(x),  c = g(x + Δx);  choose μ minimising ‖·‖²: a cubic.  No extra LU.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310896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 i="0">
                <a:solidFill>
                  <a:srgbClr val="2F8F5B"/>
                </a:solidFill>
                <a:latin typeface="IBM Plex Sans"/>
                <a:ea typeface="IBM Plex Sans"/>
                <a:cs typeface="IBM Plex Sans"/>
              </a:rPr>
              <a:t>−11%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397764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333A48"/>
                </a:solidFill>
                <a:latin typeface="IBM Plex Sans"/>
                <a:ea typeface="IBM Plex Sans"/>
                <a:cs typeface="IBM Plex Sans"/>
              </a:rPr>
              <a:t>LUs: 7.14 per run instead of 8.04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9976" y="310896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 i="0">
                <a:solidFill>
                  <a:srgbClr val="1F3A5F"/>
                </a:solidFill>
                <a:latin typeface="IBM Plex Sans"/>
                <a:ea typeface="IBM Plex Sans"/>
                <a:cs typeface="IBM Plex Sans"/>
              </a:rPr>
              <a:t>143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9976" y="397764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333A48"/>
                </a:solidFill>
                <a:latin typeface="IBM Plex Sans"/>
                <a:ea typeface="IBM Plex Sans"/>
                <a:cs typeface="IBM Plex Sans"/>
              </a:rPr>
              <a:t>of 170 runs solved (paper 127)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46136" y="310896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 i="0">
                <a:solidFill>
                  <a:srgbClr val="1F3A5F"/>
                </a:solidFill>
                <a:latin typeface="IBM Plex Sans"/>
                <a:ea typeface="IBM Plex Sans"/>
                <a:cs typeface="IBM Plex Sans"/>
              </a:rPr>
              <a:t>152 @ 7.57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397764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333A48"/>
                </a:solidFill>
                <a:latin typeface="IBM Plex Sans"/>
                <a:ea typeface="IBM Plex Sans"/>
                <a:cs typeface="IBM Plex Sans"/>
              </a:rPr>
              <a:t>with Apurbo's corrector: the best balance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3816" y="713232"/>
            <a:ext cx="1088136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1F3A5F"/>
                </a:solidFill>
                <a:latin typeface="IBM Plex Sans"/>
                <a:ea typeface="IBM Plex Sans"/>
                <a:cs typeface="IBM Plex Sans"/>
              </a:rPr>
              <a:t>The multiplier in action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221741"/>
            <a:ext cx="10566400" cy="2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" y="6236208"/>
            <a:ext cx="78455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Hasbi's part · Lima-Silva &amp; Freitas (2024): reproduction and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36208"/>
            <a:ext cx="13167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 i="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pic>
        <p:nvPicPr>
          <p:cNvPr id="6" name="Picture 5" descr="rescu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2536" y="1371600"/>
            <a:ext cx="829409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3816" y="713232"/>
            <a:ext cx="1088136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1F3A5F"/>
                </a:solidFill>
                <a:latin typeface="IBM Plex Sans"/>
                <a:ea typeface="IBM Plex Sans"/>
                <a:cs typeface="IBM Plex Sans"/>
              </a:rPr>
              <a:t>Newton homotopy: what if there is no K·I?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221741"/>
            <a:ext cx="10566400" cy="2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" y="6236208"/>
            <a:ext cx="78455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Hasbi's part · Lima-Silva &amp; Freitas (2024): reproduction and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36208"/>
            <a:ext cx="13167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 i="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10</a:t>
            </a:r>
          </a:p>
        </p:txBody>
      </p:sp>
      <p:pic>
        <p:nvPicPr>
          <p:cNvPr id="6" name="Picture 5" descr="h_n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1554480"/>
            <a:ext cx="6888480" cy="432816"/>
          </a:xfrm>
          <a:prstGeom prst="rect">
            <a:avLst/>
          </a:prstGeom>
        </p:spPr>
      </p:pic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88136" y="2331720"/>
          <a:ext cx="566928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223760" y="2743200"/>
            <a:ext cx="41148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spcAft>
                <a:spcPts val="1200"/>
              </a:spcAft>
              <a:buFont typeface="Arial"/>
              <a:buChar char="•"/>
            </a:pPr>
            <a:r>
              <a:rPr sz="1800" b="0" i="0">
                <a:solidFill>
                  <a:srgbClr val="1B1F2A"/>
                </a:solidFill>
                <a:latin typeface="IBM Plex Sans"/>
                <a:ea typeface="IBM Plex Sans"/>
                <a:cs typeface="IBM Plex Sans"/>
              </a:rPr>
              <a:t>no K·I shift, so J stays nearly singular</a:t>
            </a:r>
          </a:p>
          <a:p>
            <a:pPr marL="228600" indent="-228600" algn="l">
              <a:spcAft>
                <a:spcPts val="1200"/>
              </a:spcAft>
              <a:buFont typeface="Arial"/>
              <a:buChar char="•"/>
            </a:pPr>
            <a:r>
              <a:rPr sz="1800" b="1" i="0">
                <a:solidFill>
                  <a:srgbClr val="1F3A5F"/>
                </a:solidFill>
                <a:latin typeface="IBM Plex Sans"/>
                <a:ea typeface="IBM Plex Sans"/>
                <a:cs typeface="IBM Plex Sans"/>
              </a:rPr>
              <a:t>the shift is what makes the paper's method work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3816" y="713232"/>
            <a:ext cx="1088136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1F3A5F"/>
                </a:solidFill>
                <a:latin typeface="IBM Plex Sans"/>
                <a:ea typeface="IBM Plex Sans"/>
                <a:cs typeface="IBM Plex Sans"/>
              </a:rPr>
              <a:t>NR and FDXB with our own LU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221741"/>
            <a:ext cx="10566400" cy="2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" y="6236208"/>
            <a:ext cx="78455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Hasbi's part · Lima-Silva &amp; Freitas (2024): reproduction and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36208"/>
            <a:ext cx="13167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 i="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13816" y="1600200"/>
          <a:ext cx="10241280" cy="2286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Grid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E9E9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Solver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E9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Iterations (SciPy / ours)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E9E9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SciPy LU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E9E9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Our LU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E9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2×2 example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NR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9 / 9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0.002 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0.002 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case500limit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NR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 / 2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0.010 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3.5 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case2000limit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NR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 / 3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0.04 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B54A3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424 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case2000limit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FDXB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22 / 22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1B1F2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0.03 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B54A3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101 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8C8C6"/>
                      </a:solidFill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3816" y="4206240"/>
            <a:ext cx="10561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B1F2A"/>
                </a:solidFill>
                <a:latin typeface="IBM Plex Sans"/>
                <a:ea typeface="IBM Plex Sans"/>
                <a:cs typeface="IBM Plex Sans"/>
              </a:rPr>
              <a:t>same iterations and the same solution to 5×10⁻¹²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B1F2A"/>
                </a:solidFill>
                <a:latin typeface="IBM Plex Sans"/>
                <a:ea typeface="IBM Plex Sans"/>
                <a:cs typeface="IBM Plex Sans"/>
              </a:rPr>
              <a:t>dense LU costs O(n³) and ignores sparsity: fine for learning, not for 100,000 buses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3816" y="713232"/>
            <a:ext cx="1088136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1F3A5F"/>
                </a:solidFill>
                <a:latin typeface="IBM Plex Sans"/>
                <a:ea typeface="IBM Plex Sans"/>
                <a:cs typeface="IBM Plex Sans"/>
              </a:rPr>
              <a:t>Robust and cheap: all configurations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221741"/>
            <a:ext cx="10566400" cy="2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" y="6236208"/>
            <a:ext cx="78455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Hasbi's part · Lima-Silva &amp; Freitas (2024): reproduction and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36208"/>
            <a:ext cx="13167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 i="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12</a:t>
            </a:r>
          </a:p>
        </p:txBody>
      </p:sp>
      <p:pic>
        <p:nvPicPr>
          <p:cNvPr id="6" name="Picture 5" descr="improve_pare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2536" y="1371600"/>
            <a:ext cx="5553433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3816" y="713232"/>
            <a:ext cx="1088136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1F3A5F"/>
                </a:solidFill>
                <a:latin typeface="IBM Plex Sans"/>
                <a:ea typeface="IBM Plex Sans"/>
                <a:cs typeface="IBM Plex Sans"/>
              </a:rPr>
              <a:t>Summary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221741"/>
            <a:ext cx="10566400" cy="2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" y="6236208"/>
            <a:ext cx="78455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Hasbi's part · Lima-Silva &amp; Freitas (2024): reproduction and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36208"/>
            <a:ext cx="13167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 i="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1554480"/>
            <a:ext cx="1056132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spcAft>
                <a:spcPts val="1400"/>
              </a:spcAft>
              <a:buFont typeface="Arial"/>
              <a:buChar char="•"/>
            </a:pPr>
            <a:r>
              <a:rPr sz="1900" b="0" i="0">
                <a:solidFill>
                  <a:srgbClr val="1B1F2A"/>
                </a:solidFill>
                <a:latin typeface="IBM Plex Sans"/>
                <a:ea typeface="IBM Plex Sans"/>
                <a:cs typeface="IBM Plex Sans"/>
              </a:rPr>
              <a:t>NR, FDXB and GSH-NR written from scratch; Table 7 matches except in 2 cells</a:t>
            </a:r>
          </a:p>
          <a:p>
            <a:pPr marL="228600" indent="-228600" algn="l">
              <a:spcAft>
                <a:spcPts val="1400"/>
              </a:spcAft>
              <a:buFont typeface="Arial"/>
              <a:buChar char="•"/>
            </a:pPr>
            <a:r>
              <a:rPr sz="1900" b="0" i="0">
                <a:solidFill>
                  <a:srgbClr val="1B1F2A"/>
                </a:solidFill>
                <a:latin typeface="IBM Plex Sans"/>
                <a:ea typeface="IBM Plex Sans"/>
                <a:cs typeface="IBM Plex Sans"/>
              </a:rPr>
              <a:t>BE + FDXB is faster than a normal NR solve, from the flat start</a:t>
            </a:r>
          </a:p>
          <a:p>
            <a:pPr marL="228600" indent="-228600" algn="l">
              <a:spcAft>
                <a:spcPts val="1400"/>
              </a:spcAft>
              <a:buFont typeface="Arial"/>
              <a:buChar char="•"/>
            </a:pPr>
            <a:r>
              <a:rPr sz="1900" b="0" i="0">
                <a:solidFill>
                  <a:srgbClr val="1B1F2A"/>
                </a:solidFill>
                <a:latin typeface="IBM Plex Sans"/>
                <a:ea typeface="IBM Plex Sans"/>
                <a:cs typeface="IBM Plex Sans"/>
              </a:rPr>
              <a:t>Optimal multiplier: 11% fewer LUs; with the corrector 152 of 170 solved</a:t>
            </a:r>
          </a:p>
          <a:p>
            <a:pPr marL="228600" indent="-228600" algn="l">
              <a:spcAft>
                <a:spcPts val="1400"/>
              </a:spcAft>
              <a:buFont typeface="Arial"/>
              <a:buChar char="•"/>
            </a:pPr>
            <a:r>
              <a:rPr sz="1900" b="0" i="0">
                <a:solidFill>
                  <a:srgbClr val="1B1F2A"/>
                </a:solidFill>
                <a:latin typeface="IBM Plex Sans"/>
                <a:ea typeface="IBM Plex Sans"/>
                <a:cs typeface="IBM Plex Sans"/>
              </a:rPr>
              <a:t>Newton homotopy (75 of 170) shows that the K·I shift is essential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4297680"/>
            <a:ext cx="10561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F3A5F"/>
                </a:solidFill>
                <a:latin typeface="IBM Plex Sans"/>
                <a:ea typeface="IBM Plex Sans"/>
                <a:cs typeface="IBM Plex Sans"/>
              </a:rP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1429</Words>
  <Application>Microsoft Office PowerPoint</Application>
  <PresentationFormat>Widescreen</PresentationFormat>
  <Paragraphs>188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Homotopy Power Flow</dc:title>
  <dc:subject>PptxGenJS Presentation</dc:subject>
  <dc:creator>PptxGenJS</dc:creator>
  <cp:lastModifiedBy>Jonayed Mohiuddin</cp:lastModifiedBy>
  <cp:revision>10</cp:revision>
  <dcterms:created xsi:type="dcterms:W3CDTF">2026-09-28T06:54:17Z</dcterms:created>
  <dcterms:modified xsi:type="dcterms:W3CDTF">2026-09-28T09:28:01Z</dcterms:modified>
</cp:coreProperties>
</file>