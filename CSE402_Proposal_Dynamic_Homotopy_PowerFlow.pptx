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Hook: on a 109,272-bus grid, Newton-Raphson from a flat start does not converge at all. This paper makes it converge in four iterations by walking a differential path to a better starting point first. Everything about how that path is walked was chosen by trial and error. We want to predict it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 Stress the failure column: this is a method whose baseline provably does not work, so any working result is a visible result. Then note that the entire mechanism is Equation 25 — one backward Euler step is algebraically a shifted Jacobian [J + delta·I], with delta = K / delta-t-zero.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the heart of the talk. One sentence to land: the paper found empirically that a small shift on the Jacobian diagonal rescues an ill-conditioned system; we intend to compute the spectrum that shift is fighting, and turn a tuned constant into a predicted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 Do not read the topic list — point at it and say the project touches almost every unit of the course, and that the eigenvalue work is not decoration, it is the explanation. Close on the headline figure: predicted delta plotted against tuned delta across all test cases.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548640" y="411480"/>
            <a:ext cx="8686800" cy="274320"/>
          </a:xfrm>
          <a:prstGeom prst="rect">
            <a:avLst/>
          </a:prstGeom>
          <a:noFill/>
          <a:ln/>
        </p:spPr>
        <p:txBody>
          <a:bodyPr wrap="square" lIns="0" tIns="0" rIns="0" bIns="0" rtlCol="0" anchor="ctr"/>
          <a:lstStyle/>
          <a:p>
            <a:pPr indent="0" marL="0">
              <a:buNone/>
            </a:pPr>
            <a:r>
              <a:rPr lang="en-US" sz="1100" b="1" spc="150" kern="0" dirty="0">
                <a:solidFill>
                  <a:srgbClr val="F5A623"/>
                </a:solidFill>
                <a:latin typeface="Calibri" pitchFamily="34" charset="0"/>
                <a:ea typeface="Calibri" pitchFamily="34" charset="-122"/>
                <a:cs typeface="Calibri" pitchFamily="34" charset="-120"/>
              </a:rPr>
              <a:t>CSE 402  ·  NUMERICAL ANALYSIS &amp; SIMULATION SESSIONAL  ·  PROJECT PROPOSAL</a:t>
            </a:r>
            <a:endParaRPr lang="en-US" sz="1100" dirty="0"/>
          </a:p>
        </p:txBody>
      </p:sp>
      <p:sp>
        <p:nvSpPr>
          <p:cNvPr id="3" name="Text 1"/>
          <p:cNvSpPr/>
          <p:nvPr/>
        </p:nvSpPr>
        <p:spPr>
          <a:xfrm>
            <a:off x="548640" y="868680"/>
            <a:ext cx="7223760" cy="1554480"/>
          </a:xfrm>
          <a:prstGeom prst="rect">
            <a:avLst/>
          </a:prstGeom>
          <a:noFill/>
          <a:ln/>
        </p:spPr>
        <p:txBody>
          <a:bodyPr wrap="square" lIns="0" tIns="0" rIns="0" bIns="0" rtlCol="0" anchor="ctr"/>
          <a:lstStyle/>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From Hand-Tuned</a:t>
            </a:r>
            <a:endParaRPr lang="en-US" sz="3800" dirty="0"/>
          </a:p>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to Predicted</a:t>
            </a:r>
            <a:endParaRPr lang="en-US" sz="3800" dirty="0"/>
          </a:p>
        </p:txBody>
      </p:sp>
      <p:sp>
        <p:nvSpPr>
          <p:cNvPr id="4" name="Text 2"/>
          <p:cNvSpPr/>
          <p:nvPr/>
        </p:nvSpPr>
        <p:spPr>
          <a:xfrm>
            <a:off x="548640" y="2560320"/>
            <a:ext cx="7040880" cy="731520"/>
          </a:xfrm>
          <a:prstGeom prst="rect">
            <a:avLst/>
          </a:prstGeom>
          <a:noFill/>
          <a:ln/>
        </p:spPr>
        <p:txBody>
          <a:bodyPr wrap="square" lIns="0" tIns="0" rIns="0" bIns="0" rtlCol="0" anchor="ctr"/>
          <a:lstStyle/>
          <a:p>
            <a:pPr indent="0" marL="0">
              <a:buNone/>
            </a:pPr>
            <a:r>
              <a:rPr lang="en-US" sz="1450" i="1" dirty="0">
                <a:solidFill>
                  <a:srgbClr val="E8EDF7"/>
                </a:solidFill>
                <a:latin typeface="Calibri" pitchFamily="34" charset="0"/>
                <a:ea typeface="Calibri" pitchFamily="34" charset="-122"/>
                <a:cs typeface="Calibri" pitchFamily="34" charset="-120"/>
              </a:rPr>
              <a:t>A spectral explanation and automatic tuning of the dynamic-homotopy start for ill-conditioned power flow</a:t>
            </a:r>
            <a:endParaRPr lang="en-US" sz="1450" dirty="0"/>
          </a:p>
        </p:txBody>
      </p:sp>
      <p:sp>
        <p:nvSpPr>
          <p:cNvPr id="5" name="Shape 3"/>
          <p:cNvSpPr/>
          <p:nvPr/>
        </p:nvSpPr>
        <p:spPr>
          <a:xfrm>
            <a:off x="548640" y="3520440"/>
            <a:ext cx="7040880" cy="868680"/>
          </a:xfrm>
          <a:prstGeom prst="roundRect">
            <a:avLst>
              <a:gd name="adj" fmla="val 8421"/>
            </a:avLst>
          </a:prstGeom>
          <a:solidFill>
            <a:srgbClr val="23305A"/>
          </a:solidFill>
          <a:ln w="12700">
            <a:solidFill>
              <a:srgbClr val="23305A"/>
            </a:solidFill>
            <a:prstDash val="solid"/>
          </a:ln>
        </p:spPr>
      </p:sp>
      <p:sp>
        <p:nvSpPr>
          <p:cNvPr id="6" name="Text 4"/>
          <p:cNvSpPr/>
          <p:nvPr/>
        </p:nvSpPr>
        <p:spPr>
          <a:xfrm>
            <a:off x="777240" y="3566160"/>
            <a:ext cx="6675120" cy="777240"/>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BASE PAPER   </a:t>
            </a:r>
            <a:pPr indent="0" marL="0">
              <a:buNone/>
            </a:pPr>
            <a:r>
              <a:rPr lang="en-US" sz="1100" dirty="0">
                <a:solidFill>
                  <a:srgbClr val="FFFFFF"/>
                </a:solidFill>
                <a:latin typeface="Calibri" pitchFamily="34" charset="0"/>
                <a:ea typeface="Calibri" pitchFamily="34" charset="-122"/>
                <a:cs typeface="Calibri" pitchFamily="34" charset="-120"/>
              </a:rPr>
              <a:t>A. Lima-Silva &amp; F. D. Freitas, “Exploring a Dynamic Homotopy Technique to Enhance the Convergence of Classical Power Flow Iterative Solvers in Ill-Conditioned Power System Models,” Energies 17(18):4642, 2024 — open access (CC BY), doi:10.3390/en17184642</a:t>
            </a:r>
            <a:endParaRPr lang="en-US" sz="1000" dirty="0"/>
          </a:p>
        </p:txBody>
      </p:sp>
      <p:sp>
        <p:nvSpPr>
          <p:cNvPr id="7" name="Text 5"/>
          <p:cNvSpPr/>
          <p:nvPr/>
        </p:nvSpPr>
        <p:spPr>
          <a:xfrm>
            <a:off x="548640" y="4892040"/>
            <a:ext cx="11064240" cy="274320"/>
          </a:xfrm>
          <a:prstGeom prst="rect">
            <a:avLst/>
          </a:prstGeom>
          <a:noFill/>
          <a:ln/>
        </p:spPr>
        <p:txBody>
          <a:bodyPr wrap="square" lIns="0" tIns="0" rIns="0" bIns="0" rtlCol="0" anchor="ctr"/>
          <a:lstStyle/>
          <a:p>
            <a:pPr indent="0" marL="0">
              <a:buNone/>
            </a:pPr>
            <a:r>
              <a:rPr lang="en-US" sz="1100" b="1" spc="80" kern="0" dirty="0">
                <a:solidFill>
                  <a:srgbClr val="F5A623"/>
                </a:solidFill>
                <a:latin typeface="Calibri" pitchFamily="34" charset="0"/>
                <a:ea typeface="Calibri" pitchFamily="34" charset="-122"/>
                <a:cs typeface="Calibri" pitchFamily="34" charset="-120"/>
              </a:rPr>
              <a:t>GROUP  ____        SECTION  ____        SUBSECTIONS  ____        PRESENTER  ____</a:t>
            </a:r>
            <a:endParaRPr lang="en-US" sz="1100" dirty="0"/>
          </a:p>
        </p:txBody>
      </p:sp>
      <p:sp>
        <p:nvSpPr>
          <p:cNvPr id="8" name="Shape 6"/>
          <p:cNvSpPr/>
          <p:nvPr/>
        </p:nvSpPr>
        <p:spPr>
          <a:xfrm>
            <a:off x="548640" y="5257800"/>
            <a:ext cx="2048256" cy="566928"/>
          </a:xfrm>
          <a:prstGeom prst="roundRect">
            <a:avLst>
              <a:gd name="adj" fmla="val 9677"/>
            </a:avLst>
          </a:prstGeom>
          <a:solidFill>
            <a:srgbClr val="23305A"/>
          </a:solidFill>
          <a:ln w="9525">
            <a:solidFill>
              <a:srgbClr val="4A5878"/>
            </a:solidFill>
            <a:prstDash val="solid"/>
          </a:ln>
        </p:spPr>
      </p:sp>
      <p:sp>
        <p:nvSpPr>
          <p:cNvPr id="9" name="Text 7"/>
          <p:cNvSpPr/>
          <p:nvPr/>
        </p:nvSpPr>
        <p:spPr>
          <a:xfrm>
            <a:off x="640080" y="5257800"/>
            <a:ext cx="1865376" cy="566928"/>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1.  Name — Roll</a:t>
            </a:r>
            <a:endParaRPr lang="en-US" sz="1100" dirty="0"/>
          </a:p>
        </p:txBody>
      </p:sp>
      <p:sp>
        <p:nvSpPr>
          <p:cNvPr id="10" name="Shape 8"/>
          <p:cNvSpPr/>
          <p:nvPr/>
        </p:nvSpPr>
        <p:spPr>
          <a:xfrm>
            <a:off x="2779776" y="5257800"/>
            <a:ext cx="2048256" cy="566928"/>
          </a:xfrm>
          <a:prstGeom prst="roundRect">
            <a:avLst>
              <a:gd name="adj" fmla="val 9677"/>
            </a:avLst>
          </a:prstGeom>
          <a:solidFill>
            <a:srgbClr val="23305A"/>
          </a:solidFill>
          <a:ln w="9525">
            <a:solidFill>
              <a:srgbClr val="4A5878"/>
            </a:solidFill>
            <a:prstDash val="solid"/>
          </a:ln>
        </p:spPr>
      </p:sp>
      <p:sp>
        <p:nvSpPr>
          <p:cNvPr id="11" name="Text 9"/>
          <p:cNvSpPr/>
          <p:nvPr/>
        </p:nvSpPr>
        <p:spPr>
          <a:xfrm>
            <a:off x="2871216" y="5257800"/>
            <a:ext cx="1865376" cy="566928"/>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2.  Name — Roll</a:t>
            </a:r>
            <a:endParaRPr lang="en-US" sz="1100" dirty="0"/>
          </a:p>
        </p:txBody>
      </p:sp>
      <p:sp>
        <p:nvSpPr>
          <p:cNvPr id="12" name="Shape 10"/>
          <p:cNvSpPr/>
          <p:nvPr/>
        </p:nvSpPr>
        <p:spPr>
          <a:xfrm>
            <a:off x="5010912" y="5257800"/>
            <a:ext cx="2048256" cy="566928"/>
          </a:xfrm>
          <a:prstGeom prst="roundRect">
            <a:avLst>
              <a:gd name="adj" fmla="val 9677"/>
            </a:avLst>
          </a:prstGeom>
          <a:solidFill>
            <a:srgbClr val="23305A"/>
          </a:solidFill>
          <a:ln w="9525">
            <a:solidFill>
              <a:srgbClr val="4A5878"/>
            </a:solidFill>
            <a:prstDash val="solid"/>
          </a:ln>
        </p:spPr>
      </p:sp>
      <p:sp>
        <p:nvSpPr>
          <p:cNvPr id="13" name="Text 11"/>
          <p:cNvSpPr/>
          <p:nvPr/>
        </p:nvSpPr>
        <p:spPr>
          <a:xfrm>
            <a:off x="5102352" y="5257800"/>
            <a:ext cx="1865376" cy="566928"/>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3.  Name — Roll</a:t>
            </a:r>
            <a:endParaRPr lang="en-US" sz="1100" dirty="0"/>
          </a:p>
        </p:txBody>
      </p:sp>
      <p:sp>
        <p:nvSpPr>
          <p:cNvPr id="14" name="Shape 12"/>
          <p:cNvSpPr/>
          <p:nvPr/>
        </p:nvSpPr>
        <p:spPr>
          <a:xfrm>
            <a:off x="7242048" y="5257800"/>
            <a:ext cx="2048256" cy="566928"/>
          </a:xfrm>
          <a:prstGeom prst="roundRect">
            <a:avLst>
              <a:gd name="adj" fmla="val 9677"/>
            </a:avLst>
          </a:prstGeom>
          <a:solidFill>
            <a:srgbClr val="23305A"/>
          </a:solidFill>
          <a:ln w="9525">
            <a:solidFill>
              <a:srgbClr val="4A5878"/>
            </a:solidFill>
            <a:prstDash val="solid"/>
          </a:ln>
        </p:spPr>
      </p:sp>
      <p:sp>
        <p:nvSpPr>
          <p:cNvPr id="15" name="Text 13"/>
          <p:cNvSpPr/>
          <p:nvPr/>
        </p:nvSpPr>
        <p:spPr>
          <a:xfrm>
            <a:off x="7333488" y="5257800"/>
            <a:ext cx="1865376" cy="566928"/>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4.  Name — Roll</a:t>
            </a:r>
            <a:endParaRPr lang="en-US" sz="1100" dirty="0"/>
          </a:p>
        </p:txBody>
      </p:sp>
      <p:sp>
        <p:nvSpPr>
          <p:cNvPr id="16" name="Shape 14"/>
          <p:cNvSpPr/>
          <p:nvPr/>
        </p:nvSpPr>
        <p:spPr>
          <a:xfrm>
            <a:off x="9473184" y="5257800"/>
            <a:ext cx="2048256" cy="566928"/>
          </a:xfrm>
          <a:prstGeom prst="roundRect">
            <a:avLst>
              <a:gd name="adj" fmla="val 9677"/>
            </a:avLst>
          </a:prstGeom>
          <a:solidFill>
            <a:srgbClr val="23305A"/>
          </a:solidFill>
          <a:ln w="9525">
            <a:solidFill>
              <a:srgbClr val="4A5878"/>
            </a:solidFill>
            <a:prstDash val="solid"/>
          </a:ln>
        </p:spPr>
      </p:sp>
      <p:sp>
        <p:nvSpPr>
          <p:cNvPr id="17" name="Text 15"/>
          <p:cNvSpPr/>
          <p:nvPr/>
        </p:nvSpPr>
        <p:spPr>
          <a:xfrm>
            <a:off x="9564624" y="5257800"/>
            <a:ext cx="1865376" cy="566928"/>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5.  Name — Roll</a:t>
            </a:r>
            <a:endParaRPr lang="en-US" sz="1100" dirty="0"/>
          </a:p>
        </p:txBody>
      </p:sp>
      <p:sp>
        <p:nvSpPr>
          <p:cNvPr id="18" name="Shape 16"/>
          <p:cNvSpPr/>
          <p:nvPr/>
        </p:nvSpPr>
        <p:spPr>
          <a:xfrm>
            <a:off x="8366760" y="1234440"/>
            <a:ext cx="146304" cy="387251"/>
          </a:xfrm>
          <a:prstGeom prst="line">
            <a:avLst/>
          </a:prstGeom>
          <a:noFill/>
          <a:ln w="25400">
            <a:solidFill>
              <a:srgbClr val="4A5878"/>
            </a:solidFill>
            <a:prstDash val="solid"/>
          </a:ln>
        </p:spPr>
      </p:sp>
      <p:sp>
        <p:nvSpPr>
          <p:cNvPr id="19" name="Shape 17"/>
          <p:cNvSpPr/>
          <p:nvPr/>
        </p:nvSpPr>
        <p:spPr>
          <a:xfrm>
            <a:off x="8513064" y="1621691"/>
            <a:ext cx="146304" cy="179718"/>
          </a:xfrm>
          <a:prstGeom prst="line">
            <a:avLst/>
          </a:prstGeom>
          <a:noFill/>
          <a:ln w="25400">
            <a:solidFill>
              <a:srgbClr val="4A5878"/>
            </a:solidFill>
            <a:prstDash val="solid"/>
          </a:ln>
        </p:spPr>
      </p:sp>
      <p:sp>
        <p:nvSpPr>
          <p:cNvPr id="20" name="Shape 18"/>
          <p:cNvSpPr/>
          <p:nvPr/>
        </p:nvSpPr>
        <p:spPr>
          <a:xfrm>
            <a:off x="8659368" y="1801408"/>
            <a:ext cx="146304" cy="141645"/>
          </a:xfrm>
          <a:prstGeom prst="line">
            <a:avLst/>
          </a:prstGeom>
          <a:noFill/>
          <a:ln w="25400">
            <a:solidFill>
              <a:srgbClr val="4A5878"/>
            </a:solidFill>
            <a:prstDash val="solid"/>
          </a:ln>
        </p:spPr>
      </p:sp>
      <p:sp>
        <p:nvSpPr>
          <p:cNvPr id="21" name="Shape 19"/>
          <p:cNvSpPr/>
          <p:nvPr/>
        </p:nvSpPr>
        <p:spPr>
          <a:xfrm>
            <a:off x="8805672" y="1943053"/>
            <a:ext cx="146304" cy="121477"/>
          </a:xfrm>
          <a:prstGeom prst="line">
            <a:avLst/>
          </a:prstGeom>
          <a:noFill/>
          <a:ln w="25400">
            <a:solidFill>
              <a:srgbClr val="4A5878"/>
            </a:solidFill>
            <a:prstDash val="solid"/>
          </a:ln>
        </p:spPr>
      </p:sp>
      <p:sp>
        <p:nvSpPr>
          <p:cNvPr id="22" name="Shape 20"/>
          <p:cNvSpPr/>
          <p:nvPr/>
        </p:nvSpPr>
        <p:spPr>
          <a:xfrm>
            <a:off x="8951976" y="2064530"/>
            <a:ext cx="146304" cy="108391"/>
          </a:xfrm>
          <a:prstGeom prst="line">
            <a:avLst/>
          </a:prstGeom>
          <a:noFill/>
          <a:ln w="25400">
            <a:solidFill>
              <a:srgbClr val="4A5878"/>
            </a:solidFill>
            <a:prstDash val="solid"/>
          </a:ln>
        </p:spPr>
      </p:sp>
      <p:sp>
        <p:nvSpPr>
          <p:cNvPr id="23" name="Shape 21"/>
          <p:cNvSpPr/>
          <p:nvPr/>
        </p:nvSpPr>
        <p:spPr>
          <a:xfrm>
            <a:off x="9098280" y="2172922"/>
            <a:ext cx="146304" cy="98988"/>
          </a:xfrm>
          <a:prstGeom prst="line">
            <a:avLst/>
          </a:prstGeom>
          <a:noFill/>
          <a:ln w="25400">
            <a:solidFill>
              <a:srgbClr val="4A5878"/>
            </a:solidFill>
            <a:prstDash val="solid"/>
          </a:ln>
        </p:spPr>
      </p:sp>
      <p:sp>
        <p:nvSpPr>
          <p:cNvPr id="24" name="Shape 22"/>
          <p:cNvSpPr/>
          <p:nvPr/>
        </p:nvSpPr>
        <p:spPr>
          <a:xfrm>
            <a:off x="9244584" y="2271910"/>
            <a:ext cx="146304" cy="91796"/>
          </a:xfrm>
          <a:prstGeom prst="line">
            <a:avLst/>
          </a:prstGeom>
          <a:noFill/>
          <a:ln w="25400">
            <a:solidFill>
              <a:srgbClr val="4A5878"/>
            </a:solidFill>
            <a:prstDash val="solid"/>
          </a:ln>
        </p:spPr>
      </p:sp>
      <p:sp>
        <p:nvSpPr>
          <p:cNvPr id="25" name="Shape 23"/>
          <p:cNvSpPr/>
          <p:nvPr/>
        </p:nvSpPr>
        <p:spPr>
          <a:xfrm>
            <a:off x="9390888" y="2363706"/>
            <a:ext cx="146304" cy="86057"/>
          </a:xfrm>
          <a:prstGeom prst="line">
            <a:avLst/>
          </a:prstGeom>
          <a:noFill/>
          <a:ln w="25400">
            <a:solidFill>
              <a:srgbClr val="4A5878"/>
            </a:solidFill>
            <a:prstDash val="solid"/>
          </a:ln>
        </p:spPr>
      </p:sp>
      <p:sp>
        <p:nvSpPr>
          <p:cNvPr id="26" name="Shape 24"/>
          <p:cNvSpPr/>
          <p:nvPr/>
        </p:nvSpPr>
        <p:spPr>
          <a:xfrm>
            <a:off x="9537192" y="2449763"/>
            <a:ext cx="146304" cy="81336"/>
          </a:xfrm>
          <a:prstGeom prst="line">
            <a:avLst/>
          </a:prstGeom>
          <a:noFill/>
          <a:ln w="25400">
            <a:solidFill>
              <a:srgbClr val="4A5878"/>
            </a:solidFill>
            <a:prstDash val="solid"/>
          </a:ln>
        </p:spPr>
      </p:sp>
      <p:sp>
        <p:nvSpPr>
          <p:cNvPr id="27" name="Shape 25"/>
          <p:cNvSpPr/>
          <p:nvPr/>
        </p:nvSpPr>
        <p:spPr>
          <a:xfrm>
            <a:off x="9683496" y="2531099"/>
            <a:ext cx="146304" cy="77359"/>
          </a:xfrm>
          <a:prstGeom prst="line">
            <a:avLst/>
          </a:prstGeom>
          <a:noFill/>
          <a:ln w="25400">
            <a:solidFill>
              <a:srgbClr val="4A5878"/>
            </a:solidFill>
            <a:prstDash val="solid"/>
          </a:ln>
        </p:spPr>
      </p:sp>
      <p:sp>
        <p:nvSpPr>
          <p:cNvPr id="28" name="Shape 26"/>
          <p:cNvSpPr/>
          <p:nvPr/>
        </p:nvSpPr>
        <p:spPr>
          <a:xfrm>
            <a:off x="9829800" y="2608458"/>
            <a:ext cx="146304" cy="73948"/>
          </a:xfrm>
          <a:prstGeom prst="line">
            <a:avLst/>
          </a:prstGeom>
          <a:noFill/>
          <a:ln w="25400">
            <a:solidFill>
              <a:srgbClr val="4A5878"/>
            </a:solidFill>
            <a:prstDash val="solid"/>
          </a:ln>
        </p:spPr>
      </p:sp>
      <p:sp>
        <p:nvSpPr>
          <p:cNvPr id="29" name="Shape 27"/>
          <p:cNvSpPr/>
          <p:nvPr/>
        </p:nvSpPr>
        <p:spPr>
          <a:xfrm>
            <a:off x="9976104" y="2682406"/>
            <a:ext cx="146304" cy="70979"/>
          </a:xfrm>
          <a:prstGeom prst="line">
            <a:avLst/>
          </a:prstGeom>
          <a:noFill/>
          <a:ln w="25400">
            <a:solidFill>
              <a:srgbClr val="4A5878"/>
            </a:solidFill>
            <a:prstDash val="solid"/>
          </a:ln>
        </p:spPr>
      </p:sp>
      <p:sp>
        <p:nvSpPr>
          <p:cNvPr id="30" name="Shape 28"/>
          <p:cNvSpPr/>
          <p:nvPr/>
        </p:nvSpPr>
        <p:spPr>
          <a:xfrm>
            <a:off x="10122408" y="2753385"/>
            <a:ext cx="146304" cy="68363"/>
          </a:xfrm>
          <a:prstGeom prst="line">
            <a:avLst/>
          </a:prstGeom>
          <a:noFill/>
          <a:ln w="25400">
            <a:solidFill>
              <a:srgbClr val="4A5878"/>
            </a:solidFill>
            <a:prstDash val="solid"/>
          </a:ln>
        </p:spPr>
      </p:sp>
      <p:sp>
        <p:nvSpPr>
          <p:cNvPr id="31" name="Shape 29"/>
          <p:cNvSpPr/>
          <p:nvPr/>
        </p:nvSpPr>
        <p:spPr>
          <a:xfrm>
            <a:off x="10268712" y="2821748"/>
            <a:ext cx="146304" cy="66034"/>
          </a:xfrm>
          <a:prstGeom prst="line">
            <a:avLst/>
          </a:prstGeom>
          <a:noFill/>
          <a:ln w="25400">
            <a:solidFill>
              <a:srgbClr val="4A5878"/>
            </a:solidFill>
            <a:prstDash val="solid"/>
          </a:ln>
        </p:spPr>
      </p:sp>
      <p:sp>
        <p:nvSpPr>
          <p:cNvPr id="32" name="Shape 30"/>
          <p:cNvSpPr/>
          <p:nvPr/>
        </p:nvSpPr>
        <p:spPr>
          <a:xfrm>
            <a:off x="10415016" y="2887782"/>
            <a:ext cx="146304" cy="63943"/>
          </a:xfrm>
          <a:prstGeom prst="line">
            <a:avLst/>
          </a:prstGeom>
          <a:noFill/>
          <a:ln w="25400">
            <a:solidFill>
              <a:srgbClr val="4A5878"/>
            </a:solidFill>
            <a:prstDash val="solid"/>
          </a:ln>
        </p:spPr>
      </p:sp>
      <p:sp>
        <p:nvSpPr>
          <p:cNvPr id="33" name="Shape 31"/>
          <p:cNvSpPr/>
          <p:nvPr/>
        </p:nvSpPr>
        <p:spPr>
          <a:xfrm>
            <a:off x="10561320" y="2951726"/>
            <a:ext cx="146304" cy="62052"/>
          </a:xfrm>
          <a:prstGeom prst="line">
            <a:avLst/>
          </a:prstGeom>
          <a:noFill/>
          <a:ln w="25400">
            <a:solidFill>
              <a:srgbClr val="4A5878"/>
            </a:solidFill>
            <a:prstDash val="solid"/>
          </a:ln>
        </p:spPr>
      </p:sp>
      <p:sp>
        <p:nvSpPr>
          <p:cNvPr id="34" name="Shape 32"/>
          <p:cNvSpPr/>
          <p:nvPr/>
        </p:nvSpPr>
        <p:spPr>
          <a:xfrm>
            <a:off x="10707624" y="3013778"/>
            <a:ext cx="146304" cy="60330"/>
          </a:xfrm>
          <a:prstGeom prst="line">
            <a:avLst/>
          </a:prstGeom>
          <a:noFill/>
          <a:ln w="25400">
            <a:solidFill>
              <a:srgbClr val="4A5878"/>
            </a:solidFill>
            <a:prstDash val="solid"/>
          </a:ln>
        </p:spPr>
      </p:sp>
      <p:sp>
        <p:nvSpPr>
          <p:cNvPr id="35" name="Shape 33"/>
          <p:cNvSpPr/>
          <p:nvPr/>
        </p:nvSpPr>
        <p:spPr>
          <a:xfrm>
            <a:off x="10853928" y="3074107"/>
            <a:ext cx="146304" cy="58753"/>
          </a:xfrm>
          <a:prstGeom prst="line">
            <a:avLst/>
          </a:prstGeom>
          <a:noFill/>
          <a:ln w="25400">
            <a:solidFill>
              <a:srgbClr val="4A5878"/>
            </a:solidFill>
            <a:prstDash val="solid"/>
          </a:ln>
        </p:spPr>
      </p:sp>
      <p:sp>
        <p:nvSpPr>
          <p:cNvPr id="36" name="Shape 34"/>
          <p:cNvSpPr/>
          <p:nvPr/>
        </p:nvSpPr>
        <p:spPr>
          <a:xfrm>
            <a:off x="11000232" y="3132860"/>
            <a:ext cx="146304" cy="57301"/>
          </a:xfrm>
          <a:prstGeom prst="line">
            <a:avLst/>
          </a:prstGeom>
          <a:noFill/>
          <a:ln w="25400">
            <a:solidFill>
              <a:srgbClr val="4A5878"/>
            </a:solidFill>
            <a:prstDash val="solid"/>
          </a:ln>
        </p:spPr>
      </p:sp>
      <p:sp>
        <p:nvSpPr>
          <p:cNvPr id="37" name="Shape 35"/>
          <p:cNvSpPr/>
          <p:nvPr/>
        </p:nvSpPr>
        <p:spPr>
          <a:xfrm>
            <a:off x="11146536" y="3190161"/>
            <a:ext cx="146304" cy="55959"/>
          </a:xfrm>
          <a:prstGeom prst="line">
            <a:avLst/>
          </a:prstGeom>
          <a:noFill/>
          <a:ln w="25400">
            <a:solidFill>
              <a:srgbClr val="4A5878"/>
            </a:solidFill>
            <a:prstDash val="solid"/>
          </a:ln>
        </p:spPr>
      </p:sp>
      <p:sp>
        <p:nvSpPr>
          <p:cNvPr id="38" name="Shape 36"/>
          <p:cNvSpPr/>
          <p:nvPr/>
        </p:nvSpPr>
        <p:spPr>
          <a:xfrm>
            <a:off x="8266176" y="1133856"/>
            <a:ext cx="201168" cy="201168"/>
          </a:xfrm>
          <a:prstGeom prst="ellipse">
            <a:avLst/>
          </a:prstGeom>
          <a:solidFill>
            <a:srgbClr val="F5A623"/>
          </a:solidFill>
          <a:ln w="12700">
            <a:solidFill>
              <a:srgbClr val="F5A623"/>
            </a:solidFill>
            <a:prstDash val="solid"/>
          </a:ln>
        </p:spPr>
      </p:sp>
      <p:sp>
        <p:nvSpPr>
          <p:cNvPr id="39" name="Shape 37"/>
          <p:cNvSpPr/>
          <p:nvPr/>
        </p:nvSpPr>
        <p:spPr>
          <a:xfrm>
            <a:off x="11192256" y="3145536"/>
            <a:ext cx="201168" cy="201168"/>
          </a:xfrm>
          <a:prstGeom prst="ellipse">
            <a:avLst/>
          </a:prstGeom>
          <a:solidFill>
            <a:srgbClr val="F5A623"/>
          </a:solidFill>
          <a:ln w="12700">
            <a:solidFill>
              <a:srgbClr val="F5A623"/>
            </a:solidFill>
            <a:prstDash val="solid"/>
          </a:ln>
        </p:spPr>
      </p:sp>
      <p:sp>
        <p:nvSpPr>
          <p:cNvPr id="40" name="Shape 38"/>
          <p:cNvSpPr/>
          <p:nvPr/>
        </p:nvSpPr>
        <p:spPr>
          <a:xfrm>
            <a:off x="8887968" y="2000522"/>
            <a:ext cx="128016" cy="128016"/>
          </a:xfrm>
          <a:prstGeom prst="ellipse">
            <a:avLst/>
          </a:prstGeom>
          <a:solidFill>
            <a:srgbClr val="E8EDF7"/>
          </a:solidFill>
          <a:ln w="12700">
            <a:solidFill>
              <a:srgbClr val="E8EDF7"/>
            </a:solidFill>
            <a:prstDash val="solid"/>
          </a:ln>
        </p:spPr>
      </p:sp>
      <p:sp>
        <p:nvSpPr>
          <p:cNvPr id="41" name="Shape 39"/>
          <p:cNvSpPr/>
          <p:nvPr/>
        </p:nvSpPr>
        <p:spPr>
          <a:xfrm>
            <a:off x="9619488" y="2467091"/>
            <a:ext cx="128016" cy="128016"/>
          </a:xfrm>
          <a:prstGeom prst="ellipse">
            <a:avLst/>
          </a:prstGeom>
          <a:solidFill>
            <a:srgbClr val="E8EDF7"/>
          </a:solidFill>
          <a:ln w="12700">
            <a:solidFill>
              <a:srgbClr val="E8EDF7"/>
            </a:solidFill>
            <a:prstDash val="solid"/>
          </a:ln>
        </p:spPr>
      </p:sp>
      <p:sp>
        <p:nvSpPr>
          <p:cNvPr id="42" name="Shape 40"/>
          <p:cNvSpPr/>
          <p:nvPr/>
        </p:nvSpPr>
        <p:spPr>
          <a:xfrm>
            <a:off x="10351008" y="2823774"/>
            <a:ext cx="128016" cy="128016"/>
          </a:xfrm>
          <a:prstGeom prst="ellipse">
            <a:avLst/>
          </a:prstGeom>
          <a:solidFill>
            <a:srgbClr val="E8EDF7"/>
          </a:solidFill>
          <a:ln w="12700">
            <a:solidFill>
              <a:srgbClr val="E8EDF7"/>
            </a:solidFill>
            <a:prstDash val="solid"/>
          </a:ln>
        </p:spPr>
      </p:sp>
      <p:sp>
        <p:nvSpPr>
          <p:cNvPr id="43" name="Text 41"/>
          <p:cNvSpPr/>
          <p:nvPr/>
        </p:nvSpPr>
        <p:spPr>
          <a:xfrm>
            <a:off x="6858000" y="1115568"/>
            <a:ext cx="1234440" cy="274320"/>
          </a:xfrm>
          <a:prstGeom prst="rect">
            <a:avLst/>
          </a:prstGeom>
          <a:noFill/>
          <a:ln/>
        </p:spPr>
        <p:txBody>
          <a:bodyPr wrap="square" lIns="0" tIns="0" rIns="0" bIns="0" rtlCol="0" anchor="ctr"/>
          <a:lstStyle/>
          <a:p>
            <a:pPr algn="r" indent="0" marL="0">
              <a:buNone/>
            </a:pPr>
            <a:r>
              <a:rPr lang="en-US" sz="1000" dirty="0">
                <a:solidFill>
                  <a:srgbClr val="4A5878"/>
                </a:solidFill>
                <a:latin typeface="Calibri" pitchFamily="34" charset="0"/>
                <a:ea typeface="Calibri" pitchFamily="34" charset="-122"/>
                <a:cs typeface="Calibri" pitchFamily="34" charset="-120"/>
              </a:rPr>
              <a:t>flat start</a:t>
            </a:r>
            <a:endParaRPr lang="en-US" sz="1000" dirty="0"/>
          </a:p>
        </p:txBody>
      </p:sp>
      <p:sp>
        <p:nvSpPr>
          <p:cNvPr id="44" name="Text 42"/>
          <p:cNvSpPr/>
          <p:nvPr/>
        </p:nvSpPr>
        <p:spPr>
          <a:xfrm>
            <a:off x="8229600" y="3429000"/>
            <a:ext cx="3383280" cy="274320"/>
          </a:xfrm>
          <a:prstGeom prst="rect">
            <a:avLst/>
          </a:prstGeom>
          <a:noFill/>
          <a:ln/>
        </p:spPr>
        <p:txBody>
          <a:bodyPr wrap="square" lIns="0" tIns="0" rIns="0" bIns="0" rtlCol="0" anchor="ctr"/>
          <a:lstStyle/>
          <a:p>
            <a:pPr algn="ctr" indent="0" marL="0">
              <a:buNone/>
            </a:pPr>
            <a:r>
              <a:rPr lang="en-US" sz="1000" dirty="0">
                <a:solidFill>
                  <a:srgbClr val="4A5878"/>
                </a:solidFill>
                <a:latin typeface="Calibri" pitchFamily="34" charset="0"/>
                <a:ea typeface="Calibri" pitchFamily="34" charset="-122"/>
                <a:cs typeface="Calibri" pitchFamily="34" charset="-120"/>
              </a:rPr>
              <a:t>hand-off to Newton–Raphson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400" b="1" dirty="0">
                <a:solidFill>
                  <a:srgbClr val="15213B"/>
                </a:solidFill>
                <a:latin typeface="Cambria" pitchFamily="34" charset="0"/>
                <a:ea typeface="Cambria" pitchFamily="34" charset="-122"/>
                <a:cs typeface="Cambria" pitchFamily="34" charset="-120"/>
              </a:rPr>
              <a:t>Base Paper Overview</a:t>
            </a:r>
            <a:endParaRPr lang="en-US" sz="3400" dirty="0"/>
          </a:p>
        </p:txBody>
      </p:sp>
      <p:sp>
        <p:nvSpPr>
          <p:cNvPr id="3" name="Text 1"/>
          <p:cNvSpPr/>
          <p:nvPr/>
        </p:nvSpPr>
        <p:spPr>
          <a:xfrm>
            <a:off x="548640" y="960120"/>
            <a:ext cx="10972800" cy="274320"/>
          </a:xfrm>
          <a:prstGeom prst="rect">
            <a:avLst/>
          </a:prstGeom>
          <a:noFill/>
          <a:ln/>
        </p:spPr>
        <p:txBody>
          <a:bodyPr wrap="square" lIns="0" tIns="0" rIns="0" bIns="0" rtlCol="0" anchor="ctr"/>
          <a:lstStyle/>
          <a:p>
            <a:pPr indent="0" marL="0">
              <a:buNone/>
            </a:pPr>
            <a:r>
              <a:rPr lang="en-US" sz="1300" i="1" dirty="0">
                <a:solidFill>
                  <a:srgbClr val="4A5878"/>
                </a:solidFill>
                <a:latin typeface="Calibri" pitchFamily="34" charset="0"/>
                <a:ea typeface="Calibri" pitchFamily="34" charset="-122"/>
                <a:cs typeface="Calibri" pitchFamily="34" charset="-120"/>
              </a:rPr>
              <a:t>Energies (MDPI), open access  ·  Domain: power system analysis  ·  Method family: root finding + numerical integration</a:t>
            </a:r>
            <a:endParaRPr lang="en-US" sz="1300" dirty="0"/>
          </a:p>
        </p:txBody>
      </p:sp>
      <p:sp>
        <p:nvSpPr>
          <p:cNvPr id="4" name="Shape 2"/>
          <p:cNvSpPr/>
          <p:nvPr/>
        </p:nvSpPr>
        <p:spPr>
          <a:xfrm>
            <a:off x="548640" y="1600200"/>
            <a:ext cx="3657600" cy="4297680"/>
          </a:xfrm>
          <a:prstGeom prst="roundRect">
            <a:avLst>
              <a:gd name="adj" fmla="val 2000"/>
            </a:avLst>
          </a:prstGeom>
          <a:solidFill>
            <a:srgbClr val="E8EDF7"/>
          </a:solidFill>
          <a:ln w="12700">
            <a:solidFill>
              <a:srgbClr val="E8EDF7"/>
            </a:solidFill>
            <a:prstDash val="solid"/>
          </a:ln>
        </p:spPr>
      </p:sp>
      <p:sp>
        <p:nvSpPr>
          <p:cNvPr id="5" name="Text 3"/>
          <p:cNvSpPr/>
          <p:nvPr/>
        </p:nvSpPr>
        <p:spPr>
          <a:xfrm>
            <a:off x="777240" y="1874520"/>
            <a:ext cx="3200400" cy="3840480"/>
          </a:xfrm>
          <a:prstGeom prst="rect">
            <a:avLst/>
          </a:prstGeom>
          <a:noFill/>
          <a:ln/>
        </p:spPr>
        <p:txBody>
          <a:bodyPr wrap="square" lIns="0" tIns="0" rIns="0" bIns="0" rtlCol="0" anchor="ctr"/>
          <a:lstStyle/>
          <a:p>
            <a:pPr indent="0" marL="0">
              <a:lnSpc>
                <a:spcPts val="1800"/>
              </a:lnSpc>
              <a:buNone/>
            </a:pPr>
            <a:r>
              <a:rPr lang="en-US" sz="1500" b="1" dirty="0">
                <a:solidFill>
                  <a:srgbClr val="15213B"/>
                </a:solidFill>
                <a:latin typeface="Cambria" pitchFamily="34" charset="0"/>
                <a:ea typeface="Cambria" pitchFamily="34" charset="-122"/>
                <a:cs typeface="Cambria" pitchFamily="34" charset="-120"/>
              </a:rPr>
              <a:t>The problem it attacks
</a:t>
            </a:r>
            <a:pPr indent="0" marL="0">
              <a:lnSpc>
                <a:spcPts val="1800"/>
              </a:lnSpc>
              <a:buNone/>
            </a:pPr>
            <a:r>
              <a:rPr lang="en-US" sz="1250" dirty="0">
                <a:solidFill>
                  <a:srgbClr val="4A5878"/>
                </a:solidFill>
                <a:latin typeface="Calibri" pitchFamily="34" charset="0"/>
                <a:ea typeface="Calibri" pitchFamily="34" charset="-122"/>
                <a:cs typeface="Calibri" pitchFamily="34" charset="-120"/>
              </a:rPr>
              <a:t>Power flow means finding the roots of
</a:t>
            </a:r>
            <a:pPr indent="0" marL="0">
              <a:lnSpc>
                <a:spcPts val="1800"/>
              </a:lnSpc>
              <a:buNone/>
            </a:pPr>
            <a:r>
              <a:rPr lang="en-US" sz="1600" b="1" dirty="0">
                <a:solidFill>
                  <a:srgbClr val="F5A623"/>
                </a:solidFill>
                <a:latin typeface="Cambria" pitchFamily="34" charset="0"/>
                <a:ea typeface="Cambria" pitchFamily="34" charset="-122"/>
                <a:cs typeface="Cambria" pitchFamily="34" charset="-120"/>
              </a:rPr>
              <a:t>g(x) = 0,   x = [θ  V]
</a:t>
            </a:r>
            <a:pPr indent="0" marL="0">
              <a:lnSpc>
                <a:spcPts val="1800"/>
              </a:lnSpc>
              <a:buNone/>
            </a:pPr>
            <a:r>
              <a:rPr lang="en-US" sz="1250" dirty="0">
                <a:solidFill>
                  <a:srgbClr val="4A5878"/>
                </a:solidFill>
                <a:latin typeface="Calibri" pitchFamily="34" charset="0"/>
                <a:ea typeface="Calibri" pitchFamily="34" charset="-122"/>
                <a:cs typeface="Calibri" pitchFamily="34" charset="-120"/>
              </a:rPr>
              <a:t>for thousands of buses. The paper's working definition of </a:t>
            </a:r>
            <a:pPr indent="0" marL="0">
              <a:lnSpc>
                <a:spcPts val="1800"/>
              </a:lnSpc>
              <a:buNone/>
            </a:pPr>
            <a:r>
              <a:rPr lang="en-US" sz="1250" b="1" dirty="0">
                <a:solidFill>
                  <a:srgbClr val="15213B"/>
                </a:solidFill>
                <a:latin typeface="Calibri" pitchFamily="34" charset="0"/>
                <a:ea typeface="Calibri" pitchFamily="34" charset="-122"/>
                <a:cs typeface="Calibri" pitchFamily="34" charset="-120"/>
              </a:rPr>
              <a:t>ill-conditioned</a:t>
            </a:r>
            <a:pPr indent="0" marL="0">
              <a:lnSpc>
                <a:spcPts val="1800"/>
              </a:lnSpc>
              <a:buNone/>
            </a:pPr>
            <a:r>
              <a:rPr lang="en-US" sz="1250" dirty="0">
                <a:solidFill>
                  <a:srgbClr val="4A5878"/>
                </a:solidFill>
                <a:latin typeface="Calibri" pitchFamily="34" charset="0"/>
                <a:ea typeface="Calibri" pitchFamily="34" charset="-122"/>
                <a:cs typeface="Calibri" pitchFamily="34" charset="-120"/>
              </a:rPr>
              <a:t> is exactly this: a solution exists, but classical Newton–Raphson launched from a flat start cannot reach it.</a:t>
            </a:r>
            <a:endParaRPr lang="en-US" sz="1500" dirty="0"/>
          </a:p>
        </p:txBody>
      </p:sp>
      <p:sp>
        <p:nvSpPr>
          <p:cNvPr id="6" name="Shape 4"/>
          <p:cNvSpPr/>
          <p:nvPr/>
        </p:nvSpPr>
        <p:spPr>
          <a:xfrm>
            <a:off x="4572000" y="1673352"/>
            <a:ext cx="402336" cy="402336"/>
          </a:xfrm>
          <a:prstGeom prst="ellipse">
            <a:avLst/>
          </a:prstGeom>
          <a:solidFill>
            <a:srgbClr val="15213B"/>
          </a:solidFill>
          <a:ln w="12700">
            <a:solidFill>
              <a:srgbClr val="15213B"/>
            </a:solidFill>
            <a:prstDash val="solid"/>
          </a:ln>
        </p:spPr>
      </p:sp>
      <p:sp>
        <p:nvSpPr>
          <p:cNvPr id="7" name="Text 5"/>
          <p:cNvSpPr/>
          <p:nvPr/>
        </p:nvSpPr>
        <p:spPr>
          <a:xfrm>
            <a:off x="4572000" y="1673352"/>
            <a:ext cx="402336" cy="402336"/>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5120640" y="1600200"/>
            <a:ext cx="6492240" cy="960120"/>
          </a:xfrm>
          <a:prstGeom prst="rect">
            <a:avLst/>
          </a:prstGeom>
          <a:noFill/>
          <a:ln/>
        </p:spPr>
        <p:txBody>
          <a:bodyPr wrap="square" lIns="0" tIns="0" rIns="0" bIns="0" rtlCol="0" anchor="ctr"/>
          <a:lstStyle/>
          <a:p>
            <a:pPr indent="0" marL="0">
              <a:lnSpc>
                <a:spcPts val="1700"/>
              </a:lnSpc>
              <a:buNone/>
            </a:pPr>
            <a:r>
              <a:rPr lang="en-US" sz="1400" b="1" dirty="0">
                <a:solidFill>
                  <a:srgbClr val="15213B"/>
                </a:solidFill>
                <a:latin typeface="Cambria" pitchFamily="34" charset="0"/>
                <a:ea typeface="Cambria" pitchFamily="34" charset="-122"/>
                <a:cs typeface="Cambria" pitchFamily="34" charset="-120"/>
              </a:rPr>
              <a:t>Homotopy turned into an ODE
</a:t>
            </a:r>
            <a:pPr indent="0" marL="0">
              <a:lnSpc>
                <a:spcPts val="1700"/>
              </a:lnSpc>
              <a:buNone/>
            </a:pPr>
            <a:r>
              <a:rPr lang="en-US" sz="1250" dirty="0">
                <a:solidFill>
                  <a:srgbClr val="4A5878"/>
                </a:solidFill>
                <a:latin typeface="Calibri" pitchFamily="34" charset="0"/>
                <a:ea typeface="Calibri" pitchFamily="34" charset="-122"/>
                <a:cs typeface="Calibri" pitchFamily="34" charset="-120"/>
              </a:rPr>
              <a:t>G(x,t) = t·g(x) + (1−t)·K(x−x⁰) is differentiated in t, so the path is integrated rather than re-solved at every point.</a:t>
            </a:r>
            <a:endParaRPr lang="en-US" sz="1400" dirty="0"/>
          </a:p>
        </p:txBody>
      </p:sp>
      <p:sp>
        <p:nvSpPr>
          <p:cNvPr id="9" name="Shape 7"/>
          <p:cNvSpPr/>
          <p:nvPr/>
        </p:nvSpPr>
        <p:spPr>
          <a:xfrm>
            <a:off x="4572000" y="2816352"/>
            <a:ext cx="402336" cy="402336"/>
          </a:xfrm>
          <a:prstGeom prst="ellipse">
            <a:avLst/>
          </a:prstGeom>
          <a:solidFill>
            <a:srgbClr val="15213B"/>
          </a:solidFill>
          <a:ln w="12700">
            <a:solidFill>
              <a:srgbClr val="15213B"/>
            </a:solidFill>
            <a:prstDash val="solid"/>
          </a:ln>
        </p:spPr>
      </p:sp>
      <p:sp>
        <p:nvSpPr>
          <p:cNvPr id="10" name="Text 8"/>
          <p:cNvSpPr/>
          <p:nvPr/>
        </p:nvSpPr>
        <p:spPr>
          <a:xfrm>
            <a:off x="4572000" y="2816352"/>
            <a:ext cx="402336" cy="402336"/>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5120640" y="2743200"/>
            <a:ext cx="6492240" cy="960120"/>
          </a:xfrm>
          <a:prstGeom prst="rect">
            <a:avLst/>
          </a:prstGeom>
          <a:noFill/>
          <a:ln/>
        </p:spPr>
        <p:txBody>
          <a:bodyPr wrap="square" lIns="0" tIns="0" rIns="0" bIns="0" rtlCol="0" anchor="ctr"/>
          <a:lstStyle/>
          <a:p>
            <a:pPr indent="0" marL="0">
              <a:lnSpc>
                <a:spcPts val="1700"/>
              </a:lnSpc>
              <a:buNone/>
            </a:pPr>
            <a:r>
              <a:rPr lang="en-US" sz="1400" b="1" dirty="0">
                <a:solidFill>
                  <a:srgbClr val="15213B"/>
                </a:solidFill>
                <a:latin typeface="Cambria" pitchFamily="34" charset="0"/>
                <a:ea typeface="Cambria" pitchFamily="34" charset="-122"/>
                <a:cs typeface="Cambria" pitchFamily="34" charset="-120"/>
              </a:rPr>
              <a:t>Explicit versus implicit
</a:t>
            </a:r>
            <a:pPr indent="0" marL="0">
              <a:lnSpc>
                <a:spcPts val="1700"/>
              </a:lnSpc>
              <a:buNone/>
            </a:pPr>
            <a:r>
              <a:rPr lang="en-US" sz="1250" dirty="0">
                <a:solidFill>
                  <a:srgbClr val="4A5878"/>
                </a:solidFill>
                <a:latin typeface="Calibri" pitchFamily="34" charset="0"/>
                <a:ea typeface="Calibri" pitchFamily="34" charset="-122"/>
                <a:cs typeface="Calibri" pitchFamily="34" charset="-120"/>
              </a:rPr>
              <a:t>Forward Euler, RK2 and backward Euler are compared; backward Euler with a single fixed-point iteration costs one LU factorization per path point.</a:t>
            </a:r>
            <a:endParaRPr lang="en-US" sz="1400" dirty="0"/>
          </a:p>
        </p:txBody>
      </p:sp>
      <p:sp>
        <p:nvSpPr>
          <p:cNvPr id="12" name="Shape 10"/>
          <p:cNvSpPr/>
          <p:nvPr/>
        </p:nvSpPr>
        <p:spPr>
          <a:xfrm>
            <a:off x="4572000" y="3959352"/>
            <a:ext cx="402336" cy="402336"/>
          </a:xfrm>
          <a:prstGeom prst="ellipse">
            <a:avLst/>
          </a:prstGeom>
          <a:solidFill>
            <a:srgbClr val="15213B"/>
          </a:solidFill>
          <a:ln w="12700">
            <a:solidFill>
              <a:srgbClr val="15213B"/>
            </a:solidFill>
            <a:prstDash val="solid"/>
          </a:ln>
        </p:spPr>
      </p:sp>
      <p:sp>
        <p:nvSpPr>
          <p:cNvPr id="13" name="Text 11"/>
          <p:cNvSpPr/>
          <p:nvPr/>
        </p:nvSpPr>
        <p:spPr>
          <a:xfrm>
            <a:off x="4572000" y="3959352"/>
            <a:ext cx="402336" cy="402336"/>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5120640" y="3886200"/>
            <a:ext cx="6492240" cy="960120"/>
          </a:xfrm>
          <a:prstGeom prst="rect">
            <a:avLst/>
          </a:prstGeom>
          <a:noFill/>
          <a:ln/>
        </p:spPr>
        <p:txBody>
          <a:bodyPr wrap="square" lIns="0" tIns="0" rIns="0" bIns="0" rtlCol="0" anchor="ctr"/>
          <a:lstStyle/>
          <a:p>
            <a:pPr indent="0" marL="0">
              <a:lnSpc>
                <a:spcPts val="1700"/>
              </a:lnSpc>
              <a:buNone/>
            </a:pPr>
            <a:r>
              <a:rPr lang="en-US" sz="1400" b="1" dirty="0">
                <a:solidFill>
                  <a:srgbClr val="15213B"/>
                </a:solidFill>
                <a:latin typeface="Cambria" pitchFamily="34" charset="0"/>
                <a:ea typeface="Cambria" pitchFamily="34" charset="-122"/>
                <a:cs typeface="Cambria" pitchFamily="34" charset="-120"/>
              </a:rPr>
              <a:t>Hand-off to a classical solver
</a:t>
            </a:r>
            <a:pPr indent="0" marL="0">
              <a:lnSpc>
                <a:spcPts val="1700"/>
              </a:lnSpc>
              <a:buNone/>
            </a:pPr>
            <a:r>
              <a:rPr lang="en-US" sz="1250" dirty="0">
                <a:solidFill>
                  <a:srgbClr val="4A5878"/>
                </a:solidFill>
                <a:latin typeface="Calibri" pitchFamily="34" charset="0"/>
                <a:ea typeface="Calibri" pitchFamily="34" charset="-122"/>
                <a:cs typeface="Calibri" pitchFamily="34" charset="-120"/>
              </a:rPr>
              <a:t>The low-accuracy state at t = 1 becomes the initial guess for Newton–Raphson or the fast-decoupled FDXB solver.</a:t>
            </a:r>
            <a:endParaRPr lang="en-US" sz="1400" dirty="0"/>
          </a:p>
        </p:txBody>
      </p:sp>
      <p:sp>
        <p:nvSpPr>
          <p:cNvPr id="15" name="Shape 13"/>
          <p:cNvSpPr/>
          <p:nvPr/>
        </p:nvSpPr>
        <p:spPr>
          <a:xfrm>
            <a:off x="4572000" y="4983480"/>
            <a:ext cx="7040880" cy="914400"/>
          </a:xfrm>
          <a:prstGeom prst="roundRect">
            <a:avLst>
              <a:gd name="adj" fmla="val 8000"/>
            </a:avLst>
          </a:prstGeom>
          <a:solidFill>
            <a:srgbClr val="15213B"/>
          </a:solidFill>
          <a:ln w="12700">
            <a:solidFill>
              <a:srgbClr val="15213B"/>
            </a:solidFill>
            <a:prstDash val="solid"/>
          </a:ln>
        </p:spPr>
      </p:sp>
      <p:sp>
        <p:nvSpPr>
          <p:cNvPr id="16" name="Text 14"/>
          <p:cNvSpPr/>
          <p:nvPr/>
        </p:nvSpPr>
        <p:spPr>
          <a:xfrm>
            <a:off x="4800600" y="4983480"/>
            <a:ext cx="6583680" cy="91440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Headline result:  </a:t>
            </a:r>
            <a:pPr indent="0" marL="0">
              <a:buNone/>
            </a:pPr>
            <a:r>
              <a:rPr lang="en-US" sz="1200" dirty="0">
                <a:solidFill>
                  <a:srgbClr val="FFFFFF"/>
                </a:solidFill>
                <a:latin typeface="Calibri" pitchFamily="34" charset="0"/>
                <a:ea typeface="Calibri" pitchFamily="34" charset="-122"/>
                <a:cs typeface="Calibri" pitchFamily="34" charset="-120"/>
              </a:rPr>
              <a:t>on five ill-conditioned grids up to 109,272 buses, flat-start Newton–Raphson fails outright — while backward Euler with only two path points gets it to converge in four iterations, and the FDXB variant runs faster than the reference case.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lIns="0" tIns="0" rIns="0" bIns="0" rtlCol="0" anchor="ctr"/>
          <a:lstStyle/>
          <a:p>
            <a:pPr indent="0" marL="0">
              <a:buNone/>
            </a:pPr>
            <a:r>
              <a:rPr lang="en-US" sz="3400" b="1" dirty="0">
                <a:solidFill>
                  <a:srgbClr val="15213B"/>
                </a:solidFill>
                <a:latin typeface="Cambria" pitchFamily="34" charset="0"/>
                <a:ea typeface="Cambria" pitchFamily="34" charset="-122"/>
                <a:cs typeface="Cambria" pitchFamily="34" charset="-120"/>
              </a:rPr>
              <a:t>Problem Statement &amp; Scope</a:t>
            </a:r>
            <a:endParaRPr lang="en-US" sz="3400" dirty="0"/>
          </a:p>
        </p:txBody>
      </p:sp>
      <p:sp>
        <p:nvSpPr>
          <p:cNvPr id="3" name="Text 1"/>
          <p:cNvSpPr/>
          <p:nvPr/>
        </p:nvSpPr>
        <p:spPr>
          <a:xfrm>
            <a:off x="548640" y="960120"/>
            <a:ext cx="11064240" cy="274320"/>
          </a:xfrm>
          <a:prstGeom prst="rect">
            <a:avLst/>
          </a:prstGeom>
          <a:noFill/>
          <a:ln/>
        </p:spPr>
        <p:txBody>
          <a:bodyPr wrap="square" lIns="0" tIns="0" rIns="0" bIns="0" rtlCol="0" anchor="ctr"/>
          <a:lstStyle/>
          <a:p>
            <a:pPr indent="0" marL="0">
              <a:buNone/>
            </a:pPr>
            <a:r>
              <a:rPr lang="en-US" sz="1350" b="1" i="1" dirty="0">
                <a:solidFill>
                  <a:srgbClr val="F5A623"/>
                </a:solidFill>
                <a:latin typeface="Calibri" pitchFamily="34" charset="0"/>
                <a:ea typeface="Calibri" pitchFamily="34" charset="-122"/>
                <a:cs typeface="Calibri" pitchFamily="34" charset="-120"/>
              </a:rPr>
              <a:t>The method's whole behaviour hides in one number the authors tune by hand:  δ = K ⁄ Δt₀.   Scope: methodological extension + comparative study.</a:t>
            </a:r>
            <a:endParaRPr lang="en-US" sz="1350" dirty="0"/>
          </a:p>
        </p:txBody>
      </p:sp>
      <p:sp>
        <p:nvSpPr>
          <p:cNvPr id="4" name="Shape 2"/>
          <p:cNvSpPr/>
          <p:nvPr/>
        </p:nvSpPr>
        <p:spPr>
          <a:xfrm>
            <a:off x="548640" y="1554480"/>
            <a:ext cx="5257800" cy="3657600"/>
          </a:xfrm>
          <a:prstGeom prst="roundRect">
            <a:avLst>
              <a:gd name="adj" fmla="val 2000"/>
            </a:avLst>
          </a:prstGeom>
          <a:solidFill>
            <a:srgbClr val="E8EDF7"/>
          </a:solidFill>
          <a:ln w="12700">
            <a:solidFill>
              <a:srgbClr val="E8EDF7"/>
            </a:solidFill>
            <a:prstDash val="solid"/>
          </a:ln>
        </p:spPr>
      </p:sp>
      <p:sp>
        <p:nvSpPr>
          <p:cNvPr id="5" name="Text 3"/>
          <p:cNvSpPr/>
          <p:nvPr/>
        </p:nvSpPr>
        <p:spPr>
          <a:xfrm>
            <a:off x="822960" y="1783080"/>
            <a:ext cx="4754880" cy="320040"/>
          </a:xfrm>
          <a:prstGeom prst="rect">
            <a:avLst/>
          </a:prstGeom>
          <a:noFill/>
          <a:ln/>
        </p:spPr>
        <p:txBody>
          <a:bodyPr wrap="square" lIns="0" tIns="0" rIns="0" bIns="0" rtlCol="0" anchor="ctr"/>
          <a:lstStyle/>
          <a:p>
            <a:pPr indent="0" marL="0">
              <a:buNone/>
            </a:pPr>
            <a:r>
              <a:rPr lang="en-US" sz="1800" b="1" dirty="0">
                <a:solidFill>
                  <a:srgbClr val="15213B"/>
                </a:solidFill>
                <a:latin typeface="Cambria" pitchFamily="34" charset="0"/>
                <a:ea typeface="Cambria" pitchFamily="34" charset="-122"/>
                <a:cs typeface="Cambria" pitchFamily="34" charset="-120"/>
              </a:rPr>
              <a:t>Gaps we target</a:t>
            </a:r>
            <a:endParaRPr lang="en-US" sz="1800" dirty="0"/>
          </a:p>
        </p:txBody>
      </p:sp>
      <p:sp>
        <p:nvSpPr>
          <p:cNvPr id="6" name="Text 4"/>
          <p:cNvSpPr/>
          <p:nvPr/>
        </p:nvSpPr>
        <p:spPr>
          <a:xfrm>
            <a:off x="822960" y="2286000"/>
            <a:ext cx="4754880" cy="274320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4A5878"/>
                </a:solidFill>
                <a:latin typeface="Calibri" pitchFamily="34" charset="0"/>
                <a:ea typeface="Calibri" pitchFamily="34" charset="-122"/>
                <a:cs typeface="Calibri" pitchFamily="34" charset="-120"/>
              </a:rPr>
              <a:t>The first step is algebraically a shifted Jacobian [J + δI] — yet no eigenvalue or condition number is computed anywhere in the paper.</a:t>
            </a:r>
            <a:endParaRPr lang="en-US" sz="1200" dirty="0"/>
          </a:p>
          <a:p>
            <a:pPr marL="342900" indent="-342900">
              <a:spcAft>
                <a:spcPts val="1000"/>
              </a:spcAft>
              <a:buSzPct val="100000"/>
              <a:buChar char="•"/>
            </a:pPr>
            <a:r>
              <a:rPr lang="en-US" sz="1200" dirty="0">
                <a:solidFill>
                  <a:srgbClr val="4A5878"/>
                </a:solidFill>
                <a:latin typeface="Calibri" pitchFamily="34" charset="0"/>
                <a:ea typeface="Calibri" pitchFamily="34" charset="-122"/>
                <a:cs typeface="Calibri" pitchFamily="34" charset="-120"/>
              </a:rPr>
              <a:t>K, Δt₀ and the path points come from trial and error; the authors report that holding δ fixed still fails once Δt₀ grows, and leave it unexplained.</a:t>
            </a:r>
            <a:endParaRPr lang="en-US" sz="1200" dirty="0"/>
          </a:p>
          <a:p>
            <a:pPr marL="342900" indent="-342900">
              <a:spcAft>
                <a:spcPts val="1000"/>
              </a:spcAft>
              <a:buSzPct val="100000"/>
              <a:buChar char="•"/>
            </a:pPr>
            <a:r>
              <a:rPr lang="en-US" sz="1200" dirty="0">
                <a:solidFill>
                  <a:srgbClr val="4A5878"/>
                </a:solidFill>
                <a:latin typeface="Calibri" pitchFamily="34" charset="0"/>
                <a:ea typeface="Calibri" pitchFamily="34" charset="-122"/>
                <a:cs typeface="Calibri" pitchFamily="34" charset="-120"/>
              </a:rPr>
              <a:t>Only first- and second-order integrators are tried, with no adaptive step control.</a:t>
            </a:r>
            <a:endParaRPr lang="en-US" sz="1200" dirty="0"/>
          </a:p>
          <a:p>
            <a:pPr marL="342900" indent="-342900">
              <a:spcAft>
                <a:spcPts val="1000"/>
              </a:spcAft>
              <a:buSzPct val="100000"/>
              <a:buChar char="•"/>
            </a:pPr>
            <a:r>
              <a:rPr lang="en-US" sz="1200" dirty="0">
                <a:solidFill>
                  <a:srgbClr val="4A5878"/>
                </a:solidFill>
                <a:latin typeface="Calibri" pitchFamily="34" charset="0"/>
                <a:ea typeface="Calibri" pitchFamily="34" charset="-122"/>
                <a:cs typeface="Calibri" pitchFamily="34" charset="-120"/>
              </a:rPr>
              <a:t>Cost is reported as CPU seconds on one laptop rather than as factorization count.</a:t>
            </a:r>
            <a:endParaRPr lang="en-US" sz="1200" dirty="0"/>
          </a:p>
        </p:txBody>
      </p:sp>
      <p:sp>
        <p:nvSpPr>
          <p:cNvPr id="7" name="Shape 5"/>
          <p:cNvSpPr/>
          <p:nvPr/>
        </p:nvSpPr>
        <p:spPr>
          <a:xfrm>
            <a:off x="6355080" y="1554480"/>
            <a:ext cx="5257800" cy="3657600"/>
          </a:xfrm>
          <a:prstGeom prst="roundRect">
            <a:avLst>
              <a:gd name="adj" fmla="val 2000"/>
            </a:avLst>
          </a:prstGeom>
          <a:solidFill>
            <a:srgbClr val="15213B"/>
          </a:solidFill>
          <a:ln w="12700">
            <a:solidFill>
              <a:srgbClr val="15213B"/>
            </a:solidFill>
            <a:prstDash val="solid"/>
          </a:ln>
        </p:spPr>
      </p:sp>
      <p:sp>
        <p:nvSpPr>
          <p:cNvPr id="8" name="Text 6"/>
          <p:cNvSpPr/>
          <p:nvPr/>
        </p:nvSpPr>
        <p:spPr>
          <a:xfrm>
            <a:off x="6629400" y="1783080"/>
            <a:ext cx="4754880" cy="320040"/>
          </a:xfrm>
          <a:prstGeom prst="rect">
            <a:avLst/>
          </a:prstGeom>
          <a:noFill/>
          <a:ln/>
        </p:spPr>
        <p:txBody>
          <a:bodyPr wrap="square" lIns="0" tIns="0" rIns="0" bIns="0" rtlCol="0" anchor="ctr"/>
          <a:lstStyle/>
          <a:p>
            <a:pPr indent="0" marL="0">
              <a:buNone/>
            </a:pPr>
            <a:r>
              <a:rPr lang="en-US" sz="1800" b="1" dirty="0">
                <a:solidFill>
                  <a:srgbClr val="F5A623"/>
                </a:solidFill>
                <a:latin typeface="Cambria" pitchFamily="34" charset="0"/>
                <a:ea typeface="Cambria" pitchFamily="34" charset="-122"/>
                <a:cs typeface="Cambria" pitchFamily="34" charset="-120"/>
              </a:rPr>
              <a:t>Our contribution</a:t>
            </a:r>
            <a:endParaRPr lang="en-US" sz="1800" dirty="0"/>
          </a:p>
        </p:txBody>
      </p:sp>
      <p:sp>
        <p:nvSpPr>
          <p:cNvPr id="9" name="Text 7"/>
          <p:cNvSpPr/>
          <p:nvPr/>
        </p:nvSpPr>
        <p:spPr>
          <a:xfrm>
            <a:off x="6629400" y="2286000"/>
            <a:ext cx="4754880" cy="274320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E8EDF7"/>
                </a:solidFill>
                <a:latin typeface="Calibri" pitchFamily="34" charset="0"/>
                <a:ea typeface="Calibri" pitchFamily="34" charset="-122"/>
                <a:cs typeface="Calibri" pitchFamily="34" charset="-120"/>
              </a:rPr>
              <a:t>Recover the spectrum of J at the flat start with the power method and shifted inverse iteration, and predict the δ the authors search for.</a:t>
            </a:r>
            <a:endParaRPr lang="en-US" sz="1200" dirty="0"/>
          </a:p>
          <a:p>
            <a:pPr marL="342900" indent="-342900">
              <a:spcAft>
                <a:spcPts val="1000"/>
              </a:spcAft>
              <a:buSzPct val="100000"/>
              <a:buChar char="•"/>
            </a:pPr>
            <a:r>
              <a:rPr lang="en-US" sz="1200" dirty="0">
                <a:solidFill>
                  <a:srgbClr val="E8EDF7"/>
                </a:solidFill>
                <a:latin typeface="Calibri" pitchFamily="34" charset="0"/>
                <a:ea typeface="Calibri" pitchFamily="34" charset="-122"/>
                <a:cs typeface="Calibri" pitchFamily="34" charset="-120"/>
              </a:rPr>
              <a:t>Map the feasible region in the (K, Δt₀) plane and locate the failure boundary the paper reports but does not explain.</a:t>
            </a:r>
            <a:endParaRPr lang="en-US" sz="1200" dirty="0"/>
          </a:p>
          <a:p>
            <a:pPr marL="342900" indent="-342900">
              <a:spcAft>
                <a:spcPts val="1000"/>
              </a:spcAft>
              <a:buSzPct val="100000"/>
              <a:buChar char="•"/>
            </a:pPr>
            <a:r>
              <a:rPr lang="en-US" sz="1200" dirty="0">
                <a:solidFill>
                  <a:srgbClr val="E8EDF7"/>
                </a:solidFill>
                <a:latin typeface="Calibri" pitchFamily="34" charset="0"/>
                <a:ea typeface="Calibri" pitchFamily="34" charset="-122"/>
                <a:cs typeface="Calibri" pitchFamily="34" charset="-120"/>
              </a:rPr>
              <a:t>Replace hand tuning with a golden-section search that minimizes total LU factorizations.</a:t>
            </a:r>
            <a:endParaRPr lang="en-US" sz="1200" dirty="0"/>
          </a:p>
          <a:p>
            <a:pPr marL="342900" indent="-342900">
              <a:spcAft>
                <a:spcPts val="1000"/>
              </a:spcAft>
              <a:buSzPct val="100000"/>
              <a:buChar char="•"/>
            </a:pPr>
            <a:r>
              <a:rPr lang="en-US" sz="1200" dirty="0">
                <a:solidFill>
                  <a:srgbClr val="E8EDF7"/>
                </a:solidFill>
                <a:latin typeface="Calibri" pitchFamily="34" charset="0"/>
                <a:ea typeface="Calibri" pitchFamily="34" charset="-122"/>
                <a:cs typeface="Calibri" pitchFamily="34" charset="-120"/>
              </a:rPr>
              <a:t>Add RK4 and an embedded adaptive step with Richardson error estimates, and re-test the claim that backward Euler dominates.</a:t>
            </a:r>
            <a:endParaRPr lang="en-US" sz="1200" dirty="0"/>
          </a:p>
        </p:txBody>
      </p:sp>
      <p:sp>
        <p:nvSpPr>
          <p:cNvPr id="10" name="Text 8"/>
          <p:cNvSpPr/>
          <p:nvPr/>
        </p:nvSpPr>
        <p:spPr>
          <a:xfrm>
            <a:off x="548640" y="5532120"/>
            <a:ext cx="11064240" cy="640080"/>
          </a:xfrm>
          <a:prstGeom prst="rect">
            <a:avLst/>
          </a:prstGeom>
          <a:noFill/>
          <a:ln/>
        </p:spPr>
        <p:txBody>
          <a:bodyPr wrap="square" lIns="0" tIns="0" rIns="0" bIns="0" rtlCol="0" anchor="ctr"/>
          <a:lstStyle/>
          <a:p>
            <a:pPr indent="0" marL="0">
              <a:buNone/>
            </a:pPr>
            <a:r>
              <a:rPr lang="en-US" sz="1250" b="1" dirty="0">
                <a:solidFill>
                  <a:srgbClr val="15213B"/>
                </a:solidFill>
                <a:latin typeface="Calibri" pitchFamily="34" charset="0"/>
                <a:ea typeface="Calibri" pitchFamily="34" charset="-122"/>
                <a:cs typeface="Calibri" pitchFamily="34" charset="-120"/>
              </a:rPr>
              <a:t>Validation:  </a:t>
            </a:r>
            <a:pPr indent="0" marL="0">
              <a:buNone/>
            </a:pPr>
            <a:r>
              <a:rPr lang="en-US" sz="1250" dirty="0">
                <a:solidFill>
                  <a:srgbClr val="4A5878"/>
                </a:solidFill>
                <a:latin typeface="Calibri" pitchFamily="34" charset="0"/>
                <a:ea typeface="Calibri" pitchFamily="34" charset="-122"/>
                <a:cs typeface="Calibri" pitchFamily="34" charset="-120"/>
              </a:rPr>
              <a:t>we first reproduce the paper's own 2×2 tutorial and its convergence figures exactly, then move to the published MATPOWER and ill-conditioned test sets — flat-start Newton–Raphson must fail before any of our claims count.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548640"/>
          </a:xfrm>
          <a:prstGeom prst="rect">
            <a:avLst/>
          </a:prstGeom>
          <a:noFill/>
          <a:ln/>
        </p:spPr>
        <p:txBody>
          <a:bodyPr wrap="square" lIns="0" tIns="0" rIns="0" bIns="0" rtlCol="0" anchor="ctr"/>
          <a:lstStyle/>
          <a:p>
            <a:pPr indent="0" marL="0">
              <a:buNone/>
            </a:pPr>
            <a:r>
              <a:rPr lang="en-US" sz="3400" b="1" dirty="0">
                <a:solidFill>
                  <a:srgbClr val="15213B"/>
                </a:solidFill>
                <a:latin typeface="Cambria" pitchFamily="34" charset="0"/>
                <a:ea typeface="Cambria" pitchFamily="34" charset="-122"/>
                <a:cs typeface="Cambria" pitchFamily="34" charset="-120"/>
              </a:rPr>
              <a:t>Expected Methodology</a:t>
            </a:r>
            <a:endParaRPr lang="en-US" sz="3400" dirty="0"/>
          </a:p>
        </p:txBody>
      </p:sp>
      <p:sp>
        <p:nvSpPr>
          <p:cNvPr id="3" name="Shape 1"/>
          <p:cNvSpPr/>
          <p:nvPr/>
        </p:nvSpPr>
        <p:spPr>
          <a:xfrm>
            <a:off x="548640" y="1234440"/>
            <a:ext cx="457200" cy="457200"/>
          </a:xfrm>
          <a:prstGeom prst="ellipse">
            <a:avLst/>
          </a:prstGeom>
          <a:solidFill>
            <a:srgbClr val="15213B"/>
          </a:solidFill>
          <a:ln w="12700">
            <a:solidFill>
              <a:srgbClr val="15213B"/>
            </a:solidFill>
            <a:prstDash val="solid"/>
          </a:ln>
        </p:spPr>
      </p:sp>
      <p:sp>
        <p:nvSpPr>
          <p:cNvPr id="4" name="Text 2"/>
          <p:cNvSpPr/>
          <p:nvPr/>
        </p:nvSpPr>
        <p:spPr>
          <a:xfrm>
            <a:off x="548640" y="1234440"/>
            <a:ext cx="457200" cy="457200"/>
          </a:xfrm>
          <a:prstGeom prst="rect">
            <a:avLst/>
          </a:prstGeom>
          <a:noFill/>
          <a:ln/>
        </p:spPr>
        <p:txBody>
          <a:bodyPr wrap="square" lIns="0" tIns="0" rIns="0" bIns="0" rtlCol="0" anchor="ctr"/>
          <a:lstStyle/>
          <a:p>
            <a:pPr algn="ctr" indent="0" marL="0">
              <a:buNone/>
            </a:pPr>
            <a:r>
              <a:rPr lang="en-US" sz="1300" b="1" dirty="0">
                <a:solidFill>
                  <a:srgbClr val="F5A623"/>
                </a:solidFill>
                <a:latin typeface="Cambria" pitchFamily="34" charset="0"/>
                <a:ea typeface="Cambria" pitchFamily="34" charset="-122"/>
                <a:cs typeface="Cambria" pitchFamily="34" charset="-120"/>
              </a:rPr>
              <a:t>01</a:t>
            </a:r>
            <a:endParaRPr lang="en-US" sz="1300" dirty="0"/>
          </a:p>
        </p:txBody>
      </p:sp>
      <p:sp>
        <p:nvSpPr>
          <p:cNvPr id="5" name="Text 3"/>
          <p:cNvSpPr/>
          <p:nvPr/>
        </p:nvSpPr>
        <p:spPr>
          <a:xfrm>
            <a:off x="1188720" y="1188720"/>
            <a:ext cx="2103120" cy="548640"/>
          </a:xfrm>
          <a:prstGeom prst="rect">
            <a:avLst/>
          </a:prstGeom>
          <a:noFill/>
          <a:ln/>
        </p:spPr>
        <p:txBody>
          <a:bodyPr wrap="square" lIns="0" tIns="0" rIns="0" bIns="0" rtlCol="0" anchor="ctr"/>
          <a:lstStyle/>
          <a:p>
            <a:pPr indent="0" marL="0">
              <a:buNone/>
            </a:pPr>
            <a:r>
              <a:rPr lang="en-US" sz="1400" b="1" dirty="0">
                <a:solidFill>
                  <a:srgbClr val="15213B"/>
                </a:solidFill>
                <a:latin typeface="Cambria" pitchFamily="34" charset="0"/>
                <a:ea typeface="Cambria" pitchFamily="34" charset="-122"/>
                <a:cs typeface="Cambria" pitchFamily="34" charset="-120"/>
              </a:rPr>
              <a:t>Models &amp; data</a:t>
            </a:r>
            <a:endParaRPr lang="en-US" sz="1400" dirty="0"/>
          </a:p>
        </p:txBody>
      </p:sp>
      <p:sp>
        <p:nvSpPr>
          <p:cNvPr id="6" name="Text 4"/>
          <p:cNvSpPr/>
          <p:nvPr/>
        </p:nvSpPr>
        <p:spPr>
          <a:xfrm>
            <a:off x="3291840" y="1170432"/>
            <a:ext cx="8321040" cy="621792"/>
          </a:xfrm>
          <a:prstGeom prst="rect">
            <a:avLst/>
          </a:prstGeom>
          <a:noFill/>
          <a:ln/>
        </p:spPr>
        <p:txBody>
          <a:bodyPr wrap="square" lIns="0" tIns="0" rIns="0" bIns="0" rtlCol="0" anchor="ctr"/>
          <a:lstStyle/>
          <a:p>
            <a:pPr indent="0" marL="0">
              <a:lnSpc>
                <a:spcPts val="1450"/>
              </a:lnSpc>
              <a:buNone/>
            </a:pPr>
            <a:r>
              <a:rPr lang="en-US" sz="1150" dirty="0">
                <a:solidFill>
                  <a:srgbClr val="4A5878"/>
                </a:solidFill>
                <a:latin typeface="Calibri" pitchFamily="34" charset="0"/>
                <a:ea typeface="Calibri" pitchFamily="34" charset="-122"/>
                <a:cs typeface="Calibri" pitchFamily="34" charset="-120"/>
              </a:rPr>
              <a:t>Y-bus and power mismatch equations; the paper's own 2×2 tutorial problem first, then MATPOWER IEEE cases and the published ill-conditioned and stressed-loading sets.</a:t>
            </a:r>
            <a:endParaRPr lang="en-US" sz="1150" dirty="0"/>
          </a:p>
        </p:txBody>
      </p:sp>
      <p:sp>
        <p:nvSpPr>
          <p:cNvPr id="7" name="Shape 5"/>
          <p:cNvSpPr/>
          <p:nvPr/>
        </p:nvSpPr>
        <p:spPr>
          <a:xfrm>
            <a:off x="548640" y="2103120"/>
            <a:ext cx="457200" cy="457200"/>
          </a:xfrm>
          <a:prstGeom prst="ellipse">
            <a:avLst/>
          </a:prstGeom>
          <a:solidFill>
            <a:srgbClr val="23305A"/>
          </a:solidFill>
          <a:ln w="12700">
            <a:solidFill>
              <a:srgbClr val="15213B"/>
            </a:solidFill>
            <a:prstDash val="solid"/>
          </a:ln>
        </p:spPr>
      </p:sp>
      <p:sp>
        <p:nvSpPr>
          <p:cNvPr id="8" name="Text 6"/>
          <p:cNvSpPr/>
          <p:nvPr/>
        </p:nvSpPr>
        <p:spPr>
          <a:xfrm>
            <a:off x="548640" y="2103120"/>
            <a:ext cx="457200" cy="457200"/>
          </a:xfrm>
          <a:prstGeom prst="rect">
            <a:avLst/>
          </a:prstGeom>
          <a:noFill/>
          <a:ln/>
        </p:spPr>
        <p:txBody>
          <a:bodyPr wrap="square" lIns="0" tIns="0" rIns="0" bIns="0" rtlCol="0" anchor="ctr"/>
          <a:lstStyle/>
          <a:p>
            <a:pPr algn="ctr" indent="0" marL="0">
              <a:buNone/>
            </a:pPr>
            <a:r>
              <a:rPr lang="en-US" sz="1300" b="1" dirty="0">
                <a:solidFill>
                  <a:srgbClr val="F5A623"/>
                </a:solidFill>
                <a:latin typeface="Cambria" pitchFamily="34" charset="0"/>
                <a:ea typeface="Cambria" pitchFamily="34" charset="-122"/>
                <a:cs typeface="Cambria" pitchFamily="34" charset="-120"/>
              </a:rPr>
              <a:t>02</a:t>
            </a:r>
            <a:endParaRPr lang="en-US" sz="1300" dirty="0"/>
          </a:p>
        </p:txBody>
      </p:sp>
      <p:sp>
        <p:nvSpPr>
          <p:cNvPr id="9" name="Text 7"/>
          <p:cNvSpPr/>
          <p:nvPr/>
        </p:nvSpPr>
        <p:spPr>
          <a:xfrm>
            <a:off x="1188720" y="2057400"/>
            <a:ext cx="2103120" cy="548640"/>
          </a:xfrm>
          <a:prstGeom prst="rect">
            <a:avLst/>
          </a:prstGeom>
          <a:noFill/>
          <a:ln/>
        </p:spPr>
        <p:txBody>
          <a:bodyPr wrap="square" lIns="0" tIns="0" rIns="0" bIns="0" rtlCol="0" anchor="ctr"/>
          <a:lstStyle/>
          <a:p>
            <a:pPr indent="0" marL="0">
              <a:buNone/>
            </a:pPr>
            <a:r>
              <a:rPr lang="en-US" sz="1400" b="1" dirty="0">
                <a:solidFill>
                  <a:srgbClr val="15213B"/>
                </a:solidFill>
                <a:latin typeface="Cambria" pitchFamily="34" charset="0"/>
                <a:ea typeface="Cambria" pitchFamily="34" charset="-122"/>
                <a:cs typeface="Cambria" pitchFamily="34" charset="-120"/>
              </a:rPr>
              <a:t>Core solver</a:t>
            </a:r>
            <a:endParaRPr lang="en-US" sz="1400" dirty="0"/>
          </a:p>
        </p:txBody>
      </p:sp>
      <p:sp>
        <p:nvSpPr>
          <p:cNvPr id="10" name="Text 8"/>
          <p:cNvSpPr/>
          <p:nvPr/>
        </p:nvSpPr>
        <p:spPr>
          <a:xfrm>
            <a:off x="3291840" y="2039112"/>
            <a:ext cx="8321040" cy="621792"/>
          </a:xfrm>
          <a:prstGeom prst="rect">
            <a:avLst/>
          </a:prstGeom>
          <a:noFill/>
          <a:ln/>
        </p:spPr>
        <p:txBody>
          <a:bodyPr wrap="square" lIns="0" tIns="0" rIns="0" bIns="0" rtlCol="0" anchor="ctr"/>
          <a:lstStyle/>
          <a:p>
            <a:pPr indent="0" marL="0">
              <a:lnSpc>
                <a:spcPts val="1450"/>
              </a:lnSpc>
              <a:buNone/>
            </a:pPr>
            <a:r>
              <a:rPr lang="en-US" sz="1150" dirty="0">
                <a:solidFill>
                  <a:srgbClr val="4A5878"/>
                </a:solidFill>
                <a:latin typeface="Calibri" pitchFamily="34" charset="0"/>
                <a:ea typeface="Calibri" pitchFamily="34" charset="-122"/>
                <a:cs typeface="Calibri" pitchFamily="34" charset="-120"/>
              </a:rPr>
              <a:t>Newton–Raphson and FDXB written from scratch; every step solves a linear system by Gauss elimination and LU with partial pivoting, and factorizations are counted as the cost metric.</a:t>
            </a:r>
            <a:endParaRPr lang="en-US" sz="1150" dirty="0"/>
          </a:p>
        </p:txBody>
      </p:sp>
      <p:sp>
        <p:nvSpPr>
          <p:cNvPr id="11" name="Shape 9"/>
          <p:cNvSpPr/>
          <p:nvPr/>
        </p:nvSpPr>
        <p:spPr>
          <a:xfrm>
            <a:off x="548640" y="2971800"/>
            <a:ext cx="457200" cy="457200"/>
          </a:xfrm>
          <a:prstGeom prst="ellipse">
            <a:avLst/>
          </a:prstGeom>
          <a:solidFill>
            <a:srgbClr val="15213B"/>
          </a:solidFill>
          <a:ln w="12700">
            <a:solidFill>
              <a:srgbClr val="15213B"/>
            </a:solidFill>
            <a:prstDash val="solid"/>
          </a:ln>
        </p:spPr>
      </p:sp>
      <p:sp>
        <p:nvSpPr>
          <p:cNvPr id="12" name="Text 10"/>
          <p:cNvSpPr/>
          <p:nvPr/>
        </p:nvSpPr>
        <p:spPr>
          <a:xfrm>
            <a:off x="548640" y="2971800"/>
            <a:ext cx="457200" cy="457200"/>
          </a:xfrm>
          <a:prstGeom prst="rect">
            <a:avLst/>
          </a:prstGeom>
          <a:noFill/>
          <a:ln/>
        </p:spPr>
        <p:txBody>
          <a:bodyPr wrap="square" lIns="0" tIns="0" rIns="0" bIns="0" rtlCol="0" anchor="ctr"/>
          <a:lstStyle/>
          <a:p>
            <a:pPr algn="ctr" indent="0" marL="0">
              <a:buNone/>
            </a:pPr>
            <a:r>
              <a:rPr lang="en-US" sz="1300" b="1" dirty="0">
                <a:solidFill>
                  <a:srgbClr val="F5A623"/>
                </a:solidFill>
                <a:latin typeface="Cambria" pitchFamily="34" charset="0"/>
                <a:ea typeface="Cambria" pitchFamily="34" charset="-122"/>
                <a:cs typeface="Cambria" pitchFamily="34" charset="-120"/>
              </a:rPr>
              <a:t>03</a:t>
            </a:r>
            <a:endParaRPr lang="en-US" sz="1300" dirty="0"/>
          </a:p>
        </p:txBody>
      </p:sp>
      <p:sp>
        <p:nvSpPr>
          <p:cNvPr id="13" name="Text 11"/>
          <p:cNvSpPr/>
          <p:nvPr/>
        </p:nvSpPr>
        <p:spPr>
          <a:xfrm>
            <a:off x="1188720" y="2926080"/>
            <a:ext cx="2103120" cy="548640"/>
          </a:xfrm>
          <a:prstGeom prst="rect">
            <a:avLst/>
          </a:prstGeom>
          <a:noFill/>
          <a:ln/>
        </p:spPr>
        <p:txBody>
          <a:bodyPr wrap="square" lIns="0" tIns="0" rIns="0" bIns="0" rtlCol="0" anchor="ctr"/>
          <a:lstStyle/>
          <a:p>
            <a:pPr indent="0" marL="0">
              <a:buNone/>
            </a:pPr>
            <a:r>
              <a:rPr lang="en-US" sz="1400" b="1" dirty="0">
                <a:solidFill>
                  <a:srgbClr val="15213B"/>
                </a:solidFill>
                <a:latin typeface="Cambria" pitchFamily="34" charset="0"/>
                <a:ea typeface="Cambria" pitchFamily="34" charset="-122"/>
                <a:cs typeface="Cambria" pitchFamily="34" charset="-120"/>
              </a:rPr>
              <a:t>Homotopy path</a:t>
            </a:r>
            <a:endParaRPr lang="en-US" sz="1400" dirty="0"/>
          </a:p>
        </p:txBody>
      </p:sp>
      <p:sp>
        <p:nvSpPr>
          <p:cNvPr id="14" name="Text 12"/>
          <p:cNvSpPr/>
          <p:nvPr/>
        </p:nvSpPr>
        <p:spPr>
          <a:xfrm>
            <a:off x="3291840" y="2907792"/>
            <a:ext cx="8321040" cy="621792"/>
          </a:xfrm>
          <a:prstGeom prst="rect">
            <a:avLst/>
          </a:prstGeom>
          <a:noFill/>
          <a:ln/>
        </p:spPr>
        <p:txBody>
          <a:bodyPr wrap="square" lIns="0" tIns="0" rIns="0" bIns="0" rtlCol="0" anchor="ctr"/>
          <a:lstStyle/>
          <a:p>
            <a:pPr indent="0" marL="0">
              <a:lnSpc>
                <a:spcPts val="1450"/>
              </a:lnSpc>
              <a:buNone/>
            </a:pPr>
            <a:r>
              <a:rPr lang="en-US" sz="1150" dirty="0">
                <a:solidFill>
                  <a:srgbClr val="4A5878"/>
                </a:solidFill>
                <a:latin typeface="Calibri" pitchFamily="34" charset="0"/>
                <a:ea typeface="Calibri" pitchFamily="34" charset="-122"/>
                <a:cs typeface="Calibri" pitchFamily="34" charset="-120"/>
              </a:rPr>
              <a:t>Reproduce forward Euler, RK2 and backward Euler with one fixed-point iteration; then add RK4 and an embedded adaptive controller with Richardson extrapolation.</a:t>
            </a:r>
            <a:endParaRPr lang="en-US" sz="1150" dirty="0"/>
          </a:p>
        </p:txBody>
      </p:sp>
      <p:sp>
        <p:nvSpPr>
          <p:cNvPr id="15" name="Shape 13"/>
          <p:cNvSpPr/>
          <p:nvPr/>
        </p:nvSpPr>
        <p:spPr>
          <a:xfrm>
            <a:off x="548640" y="3840480"/>
            <a:ext cx="457200" cy="457200"/>
          </a:xfrm>
          <a:prstGeom prst="ellipse">
            <a:avLst/>
          </a:prstGeom>
          <a:solidFill>
            <a:srgbClr val="23305A"/>
          </a:solidFill>
          <a:ln w="12700">
            <a:solidFill>
              <a:srgbClr val="15213B"/>
            </a:solidFill>
            <a:prstDash val="solid"/>
          </a:ln>
        </p:spPr>
      </p:sp>
      <p:sp>
        <p:nvSpPr>
          <p:cNvPr id="16" name="Text 14"/>
          <p:cNvSpPr/>
          <p:nvPr/>
        </p:nvSpPr>
        <p:spPr>
          <a:xfrm>
            <a:off x="548640" y="3840480"/>
            <a:ext cx="457200" cy="457200"/>
          </a:xfrm>
          <a:prstGeom prst="rect">
            <a:avLst/>
          </a:prstGeom>
          <a:noFill/>
          <a:ln/>
        </p:spPr>
        <p:txBody>
          <a:bodyPr wrap="square" lIns="0" tIns="0" rIns="0" bIns="0" rtlCol="0" anchor="ctr"/>
          <a:lstStyle/>
          <a:p>
            <a:pPr algn="ctr" indent="0" marL="0">
              <a:buNone/>
            </a:pPr>
            <a:r>
              <a:rPr lang="en-US" sz="1300" b="1" dirty="0">
                <a:solidFill>
                  <a:srgbClr val="F5A623"/>
                </a:solidFill>
                <a:latin typeface="Cambria" pitchFamily="34" charset="0"/>
                <a:ea typeface="Cambria" pitchFamily="34" charset="-122"/>
                <a:cs typeface="Cambria" pitchFamily="34" charset="-120"/>
              </a:rPr>
              <a:t>04</a:t>
            </a:r>
            <a:endParaRPr lang="en-US" sz="1300" dirty="0"/>
          </a:p>
        </p:txBody>
      </p:sp>
      <p:sp>
        <p:nvSpPr>
          <p:cNvPr id="17" name="Text 15"/>
          <p:cNvSpPr/>
          <p:nvPr/>
        </p:nvSpPr>
        <p:spPr>
          <a:xfrm>
            <a:off x="1188720" y="3794760"/>
            <a:ext cx="2103120" cy="548640"/>
          </a:xfrm>
          <a:prstGeom prst="rect">
            <a:avLst/>
          </a:prstGeom>
          <a:noFill/>
          <a:ln/>
        </p:spPr>
        <p:txBody>
          <a:bodyPr wrap="square" lIns="0" tIns="0" rIns="0" bIns="0" rtlCol="0" anchor="ctr"/>
          <a:lstStyle/>
          <a:p>
            <a:pPr indent="0" marL="0">
              <a:buNone/>
            </a:pPr>
            <a:r>
              <a:rPr lang="en-US" sz="1400" b="1" dirty="0">
                <a:solidFill>
                  <a:srgbClr val="15213B"/>
                </a:solidFill>
                <a:latin typeface="Cambria" pitchFamily="34" charset="0"/>
                <a:ea typeface="Cambria" pitchFamily="34" charset="-122"/>
                <a:cs typeface="Cambria" pitchFamily="34" charset="-120"/>
              </a:rPr>
              <a:t>Spectral study</a:t>
            </a:r>
            <a:endParaRPr lang="en-US" sz="1400" dirty="0"/>
          </a:p>
        </p:txBody>
      </p:sp>
      <p:sp>
        <p:nvSpPr>
          <p:cNvPr id="18" name="Text 16"/>
          <p:cNvSpPr/>
          <p:nvPr/>
        </p:nvSpPr>
        <p:spPr>
          <a:xfrm>
            <a:off x="3291840" y="3776472"/>
            <a:ext cx="8321040" cy="621792"/>
          </a:xfrm>
          <a:prstGeom prst="rect">
            <a:avLst/>
          </a:prstGeom>
          <a:noFill/>
          <a:ln/>
        </p:spPr>
        <p:txBody>
          <a:bodyPr wrap="square" lIns="0" tIns="0" rIns="0" bIns="0" rtlCol="0" anchor="ctr"/>
          <a:lstStyle/>
          <a:p>
            <a:pPr indent="0" marL="0">
              <a:lnSpc>
                <a:spcPts val="1450"/>
              </a:lnSpc>
              <a:buNone/>
            </a:pPr>
            <a:r>
              <a:rPr lang="en-US" sz="1150" dirty="0">
                <a:solidFill>
                  <a:srgbClr val="4A5878"/>
                </a:solidFill>
                <a:latin typeface="Calibri" pitchFamily="34" charset="0"/>
                <a:ea typeface="Calibri" pitchFamily="34" charset="-122"/>
                <a:cs typeface="Calibri" pitchFamily="34" charset="-120"/>
              </a:rPr>
              <a:t>Dominant and smallest eigenvalues of J and of the shifted J + δI by power method and shifted inverse iteration; predicted δ versus the value the paper tunes.</a:t>
            </a:r>
            <a:endParaRPr lang="en-US" sz="1150" dirty="0"/>
          </a:p>
        </p:txBody>
      </p:sp>
      <p:sp>
        <p:nvSpPr>
          <p:cNvPr id="19" name="Shape 17"/>
          <p:cNvSpPr/>
          <p:nvPr/>
        </p:nvSpPr>
        <p:spPr>
          <a:xfrm>
            <a:off x="548640" y="4709160"/>
            <a:ext cx="457200" cy="457200"/>
          </a:xfrm>
          <a:prstGeom prst="ellipse">
            <a:avLst/>
          </a:prstGeom>
          <a:solidFill>
            <a:srgbClr val="15213B"/>
          </a:solidFill>
          <a:ln w="12700">
            <a:solidFill>
              <a:srgbClr val="15213B"/>
            </a:solidFill>
            <a:prstDash val="solid"/>
          </a:ln>
        </p:spPr>
      </p:sp>
      <p:sp>
        <p:nvSpPr>
          <p:cNvPr id="20" name="Text 18"/>
          <p:cNvSpPr/>
          <p:nvPr/>
        </p:nvSpPr>
        <p:spPr>
          <a:xfrm>
            <a:off x="548640" y="4709160"/>
            <a:ext cx="457200" cy="457200"/>
          </a:xfrm>
          <a:prstGeom prst="rect">
            <a:avLst/>
          </a:prstGeom>
          <a:noFill/>
          <a:ln/>
        </p:spPr>
        <p:txBody>
          <a:bodyPr wrap="square" lIns="0" tIns="0" rIns="0" bIns="0" rtlCol="0" anchor="ctr"/>
          <a:lstStyle/>
          <a:p>
            <a:pPr algn="ctr" indent="0" marL="0">
              <a:buNone/>
            </a:pPr>
            <a:r>
              <a:rPr lang="en-US" sz="1300" b="1" dirty="0">
                <a:solidFill>
                  <a:srgbClr val="F5A623"/>
                </a:solidFill>
                <a:latin typeface="Cambria" pitchFamily="34" charset="0"/>
                <a:ea typeface="Cambria" pitchFamily="34" charset="-122"/>
                <a:cs typeface="Cambria" pitchFamily="34" charset="-120"/>
              </a:rPr>
              <a:t>05</a:t>
            </a:r>
            <a:endParaRPr lang="en-US" sz="1300" dirty="0"/>
          </a:p>
        </p:txBody>
      </p:sp>
      <p:sp>
        <p:nvSpPr>
          <p:cNvPr id="21" name="Text 19"/>
          <p:cNvSpPr/>
          <p:nvPr/>
        </p:nvSpPr>
        <p:spPr>
          <a:xfrm>
            <a:off x="1188720" y="4663440"/>
            <a:ext cx="2103120" cy="548640"/>
          </a:xfrm>
          <a:prstGeom prst="rect">
            <a:avLst/>
          </a:prstGeom>
          <a:noFill/>
          <a:ln/>
        </p:spPr>
        <p:txBody>
          <a:bodyPr wrap="square" lIns="0" tIns="0" rIns="0" bIns="0" rtlCol="0" anchor="ctr"/>
          <a:lstStyle/>
          <a:p>
            <a:pPr indent="0" marL="0">
              <a:buNone/>
            </a:pPr>
            <a:r>
              <a:rPr lang="en-US" sz="1400" b="1" dirty="0">
                <a:solidFill>
                  <a:srgbClr val="15213B"/>
                </a:solidFill>
                <a:latin typeface="Cambria" pitchFamily="34" charset="0"/>
                <a:ea typeface="Cambria" pitchFamily="34" charset="-122"/>
                <a:cs typeface="Cambria" pitchFamily="34" charset="-120"/>
              </a:rPr>
              <a:t>Tuning &amp; cost</a:t>
            </a:r>
            <a:endParaRPr lang="en-US" sz="1400" dirty="0"/>
          </a:p>
        </p:txBody>
      </p:sp>
      <p:sp>
        <p:nvSpPr>
          <p:cNvPr id="22" name="Text 20"/>
          <p:cNvSpPr/>
          <p:nvPr/>
        </p:nvSpPr>
        <p:spPr>
          <a:xfrm>
            <a:off x="3291840" y="4645152"/>
            <a:ext cx="8321040" cy="621792"/>
          </a:xfrm>
          <a:prstGeom prst="rect">
            <a:avLst/>
          </a:prstGeom>
          <a:noFill/>
          <a:ln/>
        </p:spPr>
        <p:txBody>
          <a:bodyPr wrap="square" lIns="0" tIns="0" rIns="0" bIns="0" rtlCol="0" anchor="ctr"/>
          <a:lstStyle/>
          <a:p>
            <a:pPr indent="0" marL="0">
              <a:lnSpc>
                <a:spcPts val="1450"/>
              </a:lnSpc>
              <a:buNone/>
            </a:pPr>
            <a:r>
              <a:rPr lang="en-US" sz="1150" dirty="0">
                <a:solidFill>
                  <a:srgbClr val="4A5878"/>
                </a:solidFill>
                <a:latin typeface="Calibri" pitchFamily="34" charset="0"/>
                <a:ea typeface="Calibri" pitchFamily="34" charset="-122"/>
                <a:cs typeface="Calibri" pitchFamily="34" charset="-120"/>
              </a:rPr>
              <a:t>Golden-section search over the shift and the step schedule to minimize total factorizations; feasible-region maps in the (K, Δt₀) plane.</a:t>
            </a:r>
            <a:endParaRPr lang="en-US" sz="1150" dirty="0"/>
          </a:p>
        </p:txBody>
      </p:sp>
      <p:sp>
        <p:nvSpPr>
          <p:cNvPr id="23" name="Shape 21"/>
          <p:cNvSpPr/>
          <p:nvPr/>
        </p:nvSpPr>
        <p:spPr>
          <a:xfrm>
            <a:off x="548640" y="5623560"/>
            <a:ext cx="11064240" cy="868680"/>
          </a:xfrm>
          <a:prstGeom prst="roundRect">
            <a:avLst>
              <a:gd name="adj" fmla="val 8421"/>
            </a:avLst>
          </a:prstGeom>
          <a:solidFill>
            <a:srgbClr val="E8EDF7"/>
          </a:solidFill>
          <a:ln w="12700">
            <a:solidFill>
              <a:srgbClr val="E8EDF7"/>
            </a:solidFill>
            <a:prstDash val="solid"/>
          </a:ln>
        </p:spPr>
      </p:sp>
      <p:sp>
        <p:nvSpPr>
          <p:cNvPr id="24" name="Text 22"/>
          <p:cNvSpPr/>
          <p:nvPr/>
        </p:nvSpPr>
        <p:spPr>
          <a:xfrm>
            <a:off x="777240" y="5623560"/>
            <a:ext cx="10607040" cy="868680"/>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COURSE TOPICS USED   </a:t>
            </a:r>
            <a:pPr indent="0" marL="0">
              <a:buNone/>
            </a:pPr>
            <a:r>
              <a:rPr lang="en-US" sz="1200" dirty="0">
                <a:solidFill>
                  <a:srgbClr val="15213B"/>
                </a:solidFill>
                <a:latin typeface="Calibri" pitchFamily="34" charset="0"/>
                <a:ea typeface="Calibri" pitchFamily="34" charset="-122"/>
                <a:cs typeface="Calibri" pitchFamily="34" charset="-120"/>
              </a:rPr>
              <a:t>Root finding (Newton–Raphson)  ·  Gauss elimination, Gauss–Jordan, LU with pivoting  ·  Power method and eigenvalue decomposition  ·  Numerical integration (Euler, RK2, RK4, backward Euler)  ·  Richardson extrapolation  ·  Golden-section optimization  ·  Conditioning, round-off and truncation error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2026-08-17T14:29:34Z</dcterms:created>
  <dcterms:modified xsi:type="dcterms:W3CDTF">2026-08-17T14:29:34Z</dcterms:modified>
</cp:coreProperties>
</file>